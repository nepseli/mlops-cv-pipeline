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Inference latency (s)</a:t>
            </a:r>
          </a:p>
        </c:rich>
      </c:tx>
      <c:layout/>
      <c:overlay val="0"/>
    </c:title>
    <c:autoTitleDeleted val="0"/>
    <c:plotArea>
      <c:layout/>
      <c:lineChart>
        <c:varyColors val="0"/>
        <c:ser>
          <c:idx val="0"/>
          <c:order val="0"/>
          <c:tx>
            <c:strRef>
              <c:f>Sheet1!$B$1</c:f>
              <c:strCache>
                <c:ptCount val="1"/>
                <c:pt idx="0">
                  <c:v>p50</c:v>
                </c:pt>
              </c:strCache>
            </c:strRef>
          </c:tx>
          <c:spPr>
            <a:solidFill>
              <a:srgbClr val="1C7293"/>
            </a:solidFill>
            <a:ln w="31750" cap="flat">
              <a:solidFill>
                <a:srgbClr val="1C729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C7293"/>
              </a:solidFill>
              <a:ln w="9525" cap="flat">
                <a:solidFill>
                  <a:srgbClr val="1C7293"/>
                </a:solidFill>
                <a:prstDash val="solid"/>
                <a:round/>
              </a:ln>
              <a:effectLst/>
            </c:spPr>
          </c:marker>
          <c:cat>
            <c:multiLvlStrRef>
              <c:f>Sheet1!$A$2:$A$7</c:f>
              <c:multiLvlStrCache>
                <c:ptCount val="6"/>
                <c:lvl>
                  <c:pt idx="0">
                    <c:v>16:05</c:v>
                  </c:pt>
                  <c:pt idx="1">
                    <c:v>16:10</c:v>
                  </c:pt>
                  <c:pt idx="2">
                    <c:v>16:15</c:v>
                  </c:pt>
                  <c:pt idx="3">
                    <c:v>16:20</c:v>
                  </c:pt>
                  <c:pt idx="4">
                    <c:v>16:25</c:v>
                  </c:pt>
                  <c:pt idx="5">
                    <c:v>16:30</c:v>
                  </c:pt>
                </c:lvl>
              </c:multiLvlStrCache>
            </c:multiLvlStrRef>
          </c:cat>
          <c:val>
            <c:numRef>
              <c:f>Sheet1!$B$2:$B$7</c:f>
              <c:numCache>
                <c:formatCode>General</c:formatCode>
                <c:ptCount val="6"/>
                <c:pt idx="0">
                  <c:v>0.181</c:v>
                </c:pt>
                <c:pt idx="1">
                  <c:v>0.183</c:v>
                </c:pt>
                <c:pt idx="2">
                  <c:v>0.185</c:v>
                </c:pt>
                <c:pt idx="3">
                  <c:v>0.184</c:v>
                </c:pt>
                <c:pt idx="4">
                  <c:v>0.186</c:v>
                </c:pt>
                <c:pt idx="5">
                  <c:v>0.185</c:v>
                </c:pt>
              </c:numCache>
            </c:numRef>
          </c:val>
          <c:smooth val="1"/>
        </c:ser>
        <c:ser>
          <c:idx val="1"/>
          <c:order val="1"/>
          <c:tx>
            <c:strRef>
              <c:f>Sheet1!$C$1</c:f>
              <c:strCache>
                <c:ptCount val="1"/>
                <c:pt idx="0">
                  <c:v>p95</c:v>
                </c:pt>
              </c:strCache>
            </c:strRef>
          </c:tx>
          <c:spPr>
            <a:solidFill>
              <a:srgbClr val="E8590C"/>
            </a:solidFill>
            <a:ln w="31750" cap="flat">
              <a:solidFill>
                <a:srgbClr val="E8590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8590C"/>
              </a:solidFill>
              <a:ln w="9525" cap="flat">
                <a:solidFill>
                  <a:srgbClr val="E8590C"/>
                </a:solidFill>
                <a:prstDash val="solid"/>
                <a:round/>
              </a:ln>
              <a:effectLst/>
            </c:spPr>
          </c:marker>
          <c:cat>
            <c:multiLvlStrRef>
              <c:f>Sheet1!$A$2:$A$7</c:f>
              <c:multiLvlStrCache>
                <c:ptCount val="6"/>
                <c:lvl>
                  <c:pt idx="0">
                    <c:v>16:05</c:v>
                  </c:pt>
                  <c:pt idx="1">
                    <c:v>16:10</c:v>
                  </c:pt>
                  <c:pt idx="2">
                    <c:v>16:15</c:v>
                  </c:pt>
                  <c:pt idx="3">
                    <c:v>16:20</c:v>
                  </c:pt>
                  <c:pt idx="4">
                    <c:v>16:25</c:v>
                  </c:pt>
                  <c:pt idx="5">
                    <c:v>16:30</c:v>
                  </c:pt>
                </c:lvl>
              </c:multiLvlStrCache>
            </c:multiLvlStrRef>
          </c:cat>
          <c:val>
            <c:numRef>
              <c:f>Sheet1!$C$2:$C$7</c:f>
              <c:numCache>
                <c:formatCode>General</c:formatCode>
                <c:ptCount val="6"/>
                <c:pt idx="0">
                  <c:v>0.239</c:v>
                </c:pt>
                <c:pt idx="1">
                  <c:v>0.242</c:v>
                </c:pt>
                <c:pt idx="2">
                  <c:v>0.246</c:v>
                </c:pt>
                <c:pt idx="3">
                  <c:v>0.241</c:v>
                </c:pt>
                <c:pt idx="4">
                  <c:v>0.244</c:v>
                </c:pt>
                <c:pt idx="5">
                  <c:v>0.243</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3708A"/>
                </a:solidFill>
                <a:latin typeface="Arial"/>
              </a:defRPr>
            </a:pPr>
            <a:endParaRPr lang="en-US"/>
          </a:p>
        </c:txPr>
        <c:crossAx val="2094734552"/>
        <c:crosses val="autoZero"/>
        <c:auto val="1"/>
        <c:lblAlgn val="ctr"/>
        <c:noMultiLvlLbl val="1"/>
      </c:catAx>
      <c:valAx>
        <c:axId val="2094734552"/>
        <c:scaling>
          <c:orientation val="minMax"/>
          <c:max val="0.27"/>
          <c:min val="0.15"/>
        </c:scaling>
        <c:delete val="0"/>
        <c:axPos val="l"/>
        <c:majorGridlines>
          <c:spPr>
            <a:ln w="6350" cap="flat">
              <a:solidFill>
                <a:srgbClr val="E8ED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3708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00000"/>
                </a:solidFill>
                <a:latin typeface="Arial"/>
              </a:defRPr>
            </a:pPr>
            <a:r>
              <a:rPr sz="1200" b="0" i="0" u="none" strike="noStrike">
                <a:solidFill>
                  <a:srgbClr val="000000"/>
                </a:solidFill>
                <a:latin typeface="Arial"/>
              </a:rPr>
              <a:t>Detections by class (per min, under load)</a:t>
            </a:r>
          </a:p>
        </c:rich>
      </c:tx>
      <c:layout/>
      <c:overlay val="0"/>
    </c:title>
    <c:autoTitleDeleted val="0"/>
    <c:plotArea>
      <c:layout/>
      <c:barChart>
        <c:barDir val="col"/>
        <c:grouping val="clustered"/>
        <c:varyColors val="0"/>
        <c:ser>
          <c:idx val="0"/>
          <c:order val="0"/>
          <c:tx>
            <c:strRef>
              <c:f>Sheet1!$B$1</c:f>
              <c:strCache>
                <c:ptCount val="1"/>
                <c:pt idx="0">
                  <c:v>detections/min</c:v>
                </c:pt>
              </c:strCache>
            </c:strRef>
          </c:tx>
          <c:spPr>
            <a:solidFill>
              <a:srgbClr val="31407A"/>
            </a:solidFill>
            <a:effectLst/>
          </c:spPr>
          <c:invertIfNegative val="0"/>
          <c:dLbls>
            <c:numFmt formatCode="#,##0" sourceLinked="0"/>
            <c:txPr>
              <a:bodyPr/>
              <a:lstStyle/>
              <a:p>
                <a:pPr>
                  <a:defRPr b="0" i="0" strike="noStrike" sz="900" u="none">
                    <a:solidFill>
                      <a:srgbClr val="63708A"/>
                    </a:solidFill>
                    <a:latin typeface="Arial"/>
                  </a:defRPr>
                </a:pPr>
              </a:p>
            </c:txPr>
            <c:showLegendKey val="0"/>
            <c:showVal val="1"/>
            <c:showCatName val="0"/>
            <c:showSerName val="0"/>
            <c:showPercent val="0"/>
            <c:showBubbleSize val="0"/>
            <c:showLeaderLines val="0"/>
          </c:dLbls>
          <c:cat>
            <c:multiLvlStrRef>
              <c:f>Sheet1!$A$2:$A$5</c:f>
              <c:multiLvlStrCache>
                <c:ptCount val="4"/>
                <c:lvl>
                  <c:pt idx="0">
                    <c:v>person</c:v>
                  </c:pt>
                  <c:pt idx="1">
                    <c:v>airplane</c:v>
                  </c:pt>
                  <c:pt idx="2">
                    <c:v>umbrella</c:v>
                  </c:pt>
                  <c:pt idx="3">
                    <c:v>bus</c:v>
                  </c:pt>
                </c:lvl>
              </c:multiLvlStrCache>
            </c:multiLvlStrRef>
          </c:cat>
          <c:val>
            <c:numRef>
              <c:f>Sheet1!$B$2:$B$5</c:f>
              <c:numCache>
                <c:formatCode>General</c:formatCode>
                <c:ptCount val="4"/>
                <c:pt idx="0">
                  <c:v>124</c:v>
                </c:pt>
                <c:pt idx="1">
                  <c:v>31</c:v>
                </c:pt>
                <c:pt idx="2">
                  <c:v>18</c:v>
                </c:pt>
                <c:pt idx="3">
                  <c:v>12</c:v>
                </c:pt>
              </c:numCache>
            </c:numRef>
          </c:val>
        </c:ser>
        <c:dLbls>
          <c:numFmt formatCode="#,##0" sourceLinked="0"/>
          <c:txPr>
            <a:bodyPr/>
            <a:lstStyle/>
            <a:p>
              <a:pPr>
                <a:defRPr b="0" i="0" strike="noStrike" sz="900" u="none">
                  <a:solidFill>
                    <a:srgbClr val="63708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3708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8EDF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3708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1.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8.png"/><Relationship Id="rId1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1.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1051560"/>
            <a:ext cx="10515600" cy="320040"/>
          </a:xfrm>
          <a:prstGeom prst="rect">
            <a:avLst/>
          </a:prstGeom>
          <a:noFill/>
          <a:ln/>
        </p:spPr>
        <p:txBody>
          <a:bodyPr wrap="square" lIns="0" tIns="0" rIns="0" bIns="0"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HANDS-ON PROJECT REPORT</a:t>
            </a:r>
            <a:endParaRPr lang="en-US" sz="1300" dirty="0"/>
          </a:p>
        </p:txBody>
      </p:sp>
      <p:sp>
        <p:nvSpPr>
          <p:cNvPr id="3" name="Text 1"/>
          <p:cNvSpPr/>
          <p:nvPr/>
        </p:nvSpPr>
        <p:spPr>
          <a:xfrm>
            <a:off x="822960" y="1463040"/>
            <a:ext cx="10515600" cy="7772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Half-Day MLOps:</a:t>
            </a:r>
            <a:endParaRPr lang="en-US" sz="4800" dirty="0"/>
          </a:p>
        </p:txBody>
      </p:sp>
      <p:sp>
        <p:nvSpPr>
          <p:cNvPr id="4" name="Text 2"/>
          <p:cNvSpPr/>
          <p:nvPr/>
        </p:nvSpPr>
        <p:spPr>
          <a:xfrm>
            <a:off x="822960" y="2286000"/>
            <a:ext cx="10515600" cy="548640"/>
          </a:xfrm>
          <a:prstGeom prst="rect">
            <a:avLst/>
          </a:prstGeom>
          <a:noFill/>
          <a:ln/>
        </p:spPr>
        <p:txBody>
          <a:bodyPr wrap="square" lIns="0" tIns="0" rIns="0" bIns="0" rtlCol="0" anchor="ctr"/>
          <a:lstStyle/>
          <a:p>
            <a:pPr indent="0" marL="0">
              <a:buNone/>
            </a:pPr>
            <a:r>
              <a:rPr lang="en-US" sz="2600" dirty="0">
                <a:solidFill>
                  <a:srgbClr val="CADCFC"/>
                </a:solidFill>
                <a:latin typeface="Cambria" pitchFamily="34" charset="0"/>
                <a:ea typeface="Cambria" pitchFamily="34" charset="-122"/>
                <a:cs typeface="Cambria" pitchFamily="34" charset="-120"/>
              </a:rPr>
              <a:t>A Production-Pattern Computer-Vision Pipeline on AWS EKS</a:t>
            </a:r>
            <a:endParaRPr lang="en-US" sz="2600" dirty="0"/>
          </a:p>
        </p:txBody>
      </p:sp>
      <p:sp>
        <p:nvSpPr>
          <p:cNvPr id="5" name="Text 3"/>
          <p:cNvSpPr/>
          <p:nvPr/>
        </p:nvSpPr>
        <p:spPr>
          <a:xfrm>
            <a:off x="822960" y="3063240"/>
            <a:ext cx="9875520" cy="731520"/>
          </a:xfrm>
          <a:prstGeom prst="rect">
            <a:avLst/>
          </a:prstGeom>
          <a:noFill/>
          <a:ln/>
        </p:spPr>
        <p:txBody>
          <a:bodyPr wrap="square" lIns="0" tIns="0" rIns="0" bIns="0" rtlCol="0" anchor="ctr"/>
          <a:lstStyle/>
          <a:p>
            <a:pPr indent="0" marL="0">
              <a:buNone/>
            </a:pPr>
            <a:r>
              <a:rPr lang="en-US" sz="1450" dirty="0">
                <a:solidFill>
                  <a:srgbClr val="AFC2E8"/>
                </a:solidFill>
                <a:latin typeface="Calibri" pitchFamily="34" charset="0"/>
                <a:ea typeface="Calibri" pitchFamily="34" charset="-122"/>
                <a:cs typeface="Calibri" pitchFamily="34" charset="-120"/>
              </a:rPr>
              <a:t>Object detection with YOLOv8 — develop &amp; verify, deploy, monitor, and maintain (drift-triggered retraining). A reproducible reference implementation you can stand up yourself in half a day.</a:t>
            </a:r>
            <a:endParaRPr lang="en-US" sz="1450" dirty="0"/>
          </a:p>
        </p:txBody>
      </p:sp>
      <p:sp>
        <p:nvSpPr>
          <p:cNvPr id="6" name="Shape 4"/>
          <p:cNvSpPr/>
          <p:nvPr/>
        </p:nvSpPr>
        <p:spPr>
          <a:xfrm>
            <a:off x="822960" y="4251960"/>
            <a:ext cx="603504" cy="603504"/>
          </a:xfrm>
          <a:prstGeom prst="ellipse">
            <a:avLst/>
          </a:prstGeom>
          <a:solidFill>
            <a:srgbClr val="FFFFFF"/>
          </a:solidFill>
          <a:ln w="9525">
            <a:solidFill>
              <a:srgbClr val="3A4A8C"/>
            </a:solidFill>
            <a:prstDash val="solid"/>
          </a:ln>
        </p:spPr>
      </p:sp>
      <p:pic>
        <p:nvPicPr>
          <p:cNvPr id="7" name="Image 0" descr="deck-assets/python.png">    </p:cNvPr>
          <p:cNvPicPr>
            <a:picLocks noChangeAspect="1"/>
          </p:cNvPicPr>
          <p:nvPr/>
        </p:nvPicPr>
        <p:blipFill>
          <a:blip r:embed="rId1"/>
          <a:stretch>
            <a:fillRect/>
          </a:stretch>
        </p:blipFill>
        <p:spPr>
          <a:xfrm>
            <a:off x="950976" y="4379976"/>
            <a:ext cx="347472" cy="347472"/>
          </a:xfrm>
          <a:prstGeom prst="rect">
            <a:avLst/>
          </a:prstGeom>
        </p:spPr>
      </p:pic>
      <p:sp>
        <p:nvSpPr>
          <p:cNvPr id="8" name="Shape 5"/>
          <p:cNvSpPr/>
          <p:nvPr/>
        </p:nvSpPr>
        <p:spPr>
          <a:xfrm>
            <a:off x="1572768" y="4251960"/>
            <a:ext cx="603504" cy="603504"/>
          </a:xfrm>
          <a:prstGeom prst="ellipse">
            <a:avLst/>
          </a:prstGeom>
          <a:solidFill>
            <a:srgbClr val="FFFFFF"/>
          </a:solidFill>
          <a:ln w="9525">
            <a:solidFill>
              <a:srgbClr val="3A4A8C"/>
            </a:solidFill>
            <a:prstDash val="solid"/>
          </a:ln>
        </p:spPr>
      </p:sp>
      <p:pic>
        <p:nvPicPr>
          <p:cNvPr id="9" name="Image 1" descr="deck-assets/pytorch.png">    </p:cNvPr>
          <p:cNvPicPr>
            <a:picLocks noChangeAspect="1"/>
          </p:cNvPicPr>
          <p:nvPr/>
        </p:nvPicPr>
        <p:blipFill>
          <a:blip r:embed="rId2"/>
          <a:stretch>
            <a:fillRect/>
          </a:stretch>
        </p:blipFill>
        <p:spPr>
          <a:xfrm>
            <a:off x="1700784" y="4379976"/>
            <a:ext cx="347472" cy="347472"/>
          </a:xfrm>
          <a:prstGeom prst="rect">
            <a:avLst/>
          </a:prstGeom>
        </p:spPr>
      </p:pic>
      <p:sp>
        <p:nvSpPr>
          <p:cNvPr id="10" name="Shape 6"/>
          <p:cNvSpPr/>
          <p:nvPr/>
        </p:nvSpPr>
        <p:spPr>
          <a:xfrm>
            <a:off x="2322576" y="4251960"/>
            <a:ext cx="603504" cy="603504"/>
          </a:xfrm>
          <a:prstGeom prst="ellipse">
            <a:avLst/>
          </a:prstGeom>
          <a:solidFill>
            <a:srgbClr val="FFFFFF"/>
          </a:solidFill>
          <a:ln w="9525">
            <a:solidFill>
              <a:srgbClr val="3A4A8C"/>
            </a:solidFill>
            <a:prstDash val="solid"/>
          </a:ln>
        </p:spPr>
      </p:sp>
      <p:pic>
        <p:nvPicPr>
          <p:cNvPr id="11" name="Image 2" descr="deck-assets/ultralytics.png">    </p:cNvPr>
          <p:cNvPicPr>
            <a:picLocks noChangeAspect="1"/>
          </p:cNvPicPr>
          <p:nvPr/>
        </p:nvPicPr>
        <p:blipFill>
          <a:blip r:embed="rId3"/>
          <a:stretch>
            <a:fillRect/>
          </a:stretch>
        </p:blipFill>
        <p:spPr>
          <a:xfrm>
            <a:off x="2450592" y="4379976"/>
            <a:ext cx="347472" cy="347472"/>
          </a:xfrm>
          <a:prstGeom prst="rect">
            <a:avLst/>
          </a:prstGeom>
        </p:spPr>
      </p:pic>
      <p:sp>
        <p:nvSpPr>
          <p:cNvPr id="12" name="Shape 7"/>
          <p:cNvSpPr/>
          <p:nvPr/>
        </p:nvSpPr>
        <p:spPr>
          <a:xfrm>
            <a:off x="3072384" y="4251960"/>
            <a:ext cx="603504" cy="603504"/>
          </a:xfrm>
          <a:prstGeom prst="ellipse">
            <a:avLst/>
          </a:prstGeom>
          <a:solidFill>
            <a:srgbClr val="FFFFFF"/>
          </a:solidFill>
          <a:ln w="9525">
            <a:solidFill>
              <a:srgbClr val="3A4A8C"/>
            </a:solidFill>
            <a:prstDash val="solid"/>
          </a:ln>
        </p:spPr>
      </p:sp>
      <p:pic>
        <p:nvPicPr>
          <p:cNvPr id="13" name="Image 3" descr="deck-assets/mlflow.png">    </p:cNvPr>
          <p:cNvPicPr>
            <a:picLocks noChangeAspect="1"/>
          </p:cNvPicPr>
          <p:nvPr/>
        </p:nvPicPr>
        <p:blipFill>
          <a:blip r:embed="rId4"/>
          <a:stretch>
            <a:fillRect/>
          </a:stretch>
        </p:blipFill>
        <p:spPr>
          <a:xfrm>
            <a:off x="3200400" y="4379976"/>
            <a:ext cx="347472" cy="347472"/>
          </a:xfrm>
          <a:prstGeom prst="rect">
            <a:avLst/>
          </a:prstGeom>
        </p:spPr>
      </p:pic>
      <p:sp>
        <p:nvSpPr>
          <p:cNvPr id="14" name="Shape 8"/>
          <p:cNvSpPr/>
          <p:nvPr/>
        </p:nvSpPr>
        <p:spPr>
          <a:xfrm>
            <a:off x="3822192" y="4251960"/>
            <a:ext cx="603504" cy="603504"/>
          </a:xfrm>
          <a:prstGeom prst="ellipse">
            <a:avLst/>
          </a:prstGeom>
          <a:solidFill>
            <a:srgbClr val="FFFFFF"/>
          </a:solidFill>
          <a:ln w="9525">
            <a:solidFill>
              <a:srgbClr val="3A4A8C"/>
            </a:solidFill>
            <a:prstDash val="solid"/>
          </a:ln>
        </p:spPr>
      </p:sp>
      <p:pic>
        <p:nvPicPr>
          <p:cNvPr id="15" name="Image 4" descr="deck-assets/dvc.png">    </p:cNvPr>
          <p:cNvPicPr>
            <a:picLocks noChangeAspect="1"/>
          </p:cNvPicPr>
          <p:nvPr/>
        </p:nvPicPr>
        <p:blipFill>
          <a:blip r:embed="rId5"/>
          <a:stretch>
            <a:fillRect/>
          </a:stretch>
        </p:blipFill>
        <p:spPr>
          <a:xfrm>
            <a:off x="3950208" y="4379976"/>
            <a:ext cx="347472" cy="347472"/>
          </a:xfrm>
          <a:prstGeom prst="rect">
            <a:avLst/>
          </a:prstGeom>
        </p:spPr>
      </p:pic>
      <p:sp>
        <p:nvSpPr>
          <p:cNvPr id="16" name="Shape 9"/>
          <p:cNvSpPr/>
          <p:nvPr/>
        </p:nvSpPr>
        <p:spPr>
          <a:xfrm>
            <a:off x="4572000" y="4251960"/>
            <a:ext cx="603504" cy="603504"/>
          </a:xfrm>
          <a:prstGeom prst="ellipse">
            <a:avLst/>
          </a:prstGeom>
          <a:solidFill>
            <a:srgbClr val="FFFFFF"/>
          </a:solidFill>
          <a:ln w="9525">
            <a:solidFill>
              <a:srgbClr val="3A4A8C"/>
            </a:solidFill>
            <a:prstDash val="solid"/>
          </a:ln>
        </p:spPr>
      </p:sp>
      <p:pic>
        <p:nvPicPr>
          <p:cNvPr id="17" name="Image 5" descr="deck-assets/onnx.png">    </p:cNvPr>
          <p:cNvPicPr>
            <a:picLocks noChangeAspect="1"/>
          </p:cNvPicPr>
          <p:nvPr/>
        </p:nvPicPr>
        <p:blipFill>
          <a:blip r:embed="rId6"/>
          <a:stretch>
            <a:fillRect/>
          </a:stretch>
        </p:blipFill>
        <p:spPr>
          <a:xfrm>
            <a:off x="4700016" y="4379976"/>
            <a:ext cx="347472" cy="347472"/>
          </a:xfrm>
          <a:prstGeom prst="rect">
            <a:avLst/>
          </a:prstGeom>
        </p:spPr>
      </p:pic>
      <p:sp>
        <p:nvSpPr>
          <p:cNvPr id="18" name="Shape 10"/>
          <p:cNvSpPr/>
          <p:nvPr/>
        </p:nvSpPr>
        <p:spPr>
          <a:xfrm>
            <a:off x="5321808" y="4251960"/>
            <a:ext cx="603504" cy="603504"/>
          </a:xfrm>
          <a:prstGeom prst="ellipse">
            <a:avLst/>
          </a:prstGeom>
          <a:solidFill>
            <a:srgbClr val="FFFFFF"/>
          </a:solidFill>
          <a:ln w="9525">
            <a:solidFill>
              <a:srgbClr val="3A4A8C"/>
            </a:solidFill>
            <a:prstDash val="solid"/>
          </a:ln>
        </p:spPr>
      </p:sp>
      <p:pic>
        <p:nvPicPr>
          <p:cNvPr id="19" name="Image 6" descr="deck-assets/docker.png">    </p:cNvPr>
          <p:cNvPicPr>
            <a:picLocks noChangeAspect="1"/>
          </p:cNvPicPr>
          <p:nvPr/>
        </p:nvPicPr>
        <p:blipFill>
          <a:blip r:embed="rId7"/>
          <a:stretch>
            <a:fillRect/>
          </a:stretch>
        </p:blipFill>
        <p:spPr>
          <a:xfrm>
            <a:off x="5449824" y="4379976"/>
            <a:ext cx="347472" cy="347472"/>
          </a:xfrm>
          <a:prstGeom prst="rect">
            <a:avLst/>
          </a:prstGeom>
        </p:spPr>
      </p:pic>
      <p:sp>
        <p:nvSpPr>
          <p:cNvPr id="20" name="Shape 11"/>
          <p:cNvSpPr/>
          <p:nvPr/>
        </p:nvSpPr>
        <p:spPr>
          <a:xfrm>
            <a:off x="6071616" y="4251960"/>
            <a:ext cx="603504" cy="603504"/>
          </a:xfrm>
          <a:prstGeom prst="ellipse">
            <a:avLst/>
          </a:prstGeom>
          <a:solidFill>
            <a:srgbClr val="FFFFFF"/>
          </a:solidFill>
          <a:ln w="9525">
            <a:solidFill>
              <a:srgbClr val="3A4A8C"/>
            </a:solidFill>
            <a:prstDash val="solid"/>
          </a:ln>
        </p:spPr>
      </p:sp>
      <p:pic>
        <p:nvPicPr>
          <p:cNvPr id="21" name="Image 7" descr="deck-assets/aws.png">    </p:cNvPr>
          <p:cNvPicPr>
            <a:picLocks noChangeAspect="1"/>
          </p:cNvPicPr>
          <p:nvPr/>
        </p:nvPicPr>
        <p:blipFill>
          <a:blip r:embed="rId8"/>
          <a:stretch>
            <a:fillRect/>
          </a:stretch>
        </p:blipFill>
        <p:spPr>
          <a:xfrm>
            <a:off x="6199632" y="4379976"/>
            <a:ext cx="347472" cy="347472"/>
          </a:xfrm>
          <a:prstGeom prst="rect">
            <a:avLst/>
          </a:prstGeom>
        </p:spPr>
      </p:pic>
      <p:sp>
        <p:nvSpPr>
          <p:cNvPr id="22" name="Shape 12"/>
          <p:cNvSpPr/>
          <p:nvPr/>
        </p:nvSpPr>
        <p:spPr>
          <a:xfrm>
            <a:off x="6821424" y="4251960"/>
            <a:ext cx="603504" cy="603504"/>
          </a:xfrm>
          <a:prstGeom prst="ellipse">
            <a:avLst/>
          </a:prstGeom>
          <a:solidFill>
            <a:srgbClr val="FFFFFF"/>
          </a:solidFill>
          <a:ln w="9525">
            <a:solidFill>
              <a:srgbClr val="3A4A8C"/>
            </a:solidFill>
            <a:prstDash val="solid"/>
          </a:ln>
        </p:spPr>
      </p:sp>
      <p:pic>
        <p:nvPicPr>
          <p:cNvPr id="23" name="Image 8" descr="deck-assets/kubernetes.png">    </p:cNvPr>
          <p:cNvPicPr>
            <a:picLocks noChangeAspect="1"/>
          </p:cNvPicPr>
          <p:nvPr/>
        </p:nvPicPr>
        <p:blipFill>
          <a:blip r:embed="rId9"/>
          <a:stretch>
            <a:fillRect/>
          </a:stretch>
        </p:blipFill>
        <p:spPr>
          <a:xfrm>
            <a:off x="6949440" y="4379976"/>
            <a:ext cx="347472" cy="347472"/>
          </a:xfrm>
          <a:prstGeom prst="rect">
            <a:avLst/>
          </a:prstGeom>
        </p:spPr>
      </p:pic>
      <p:sp>
        <p:nvSpPr>
          <p:cNvPr id="24" name="Shape 13"/>
          <p:cNvSpPr/>
          <p:nvPr/>
        </p:nvSpPr>
        <p:spPr>
          <a:xfrm>
            <a:off x="7571232" y="4251960"/>
            <a:ext cx="603504" cy="603504"/>
          </a:xfrm>
          <a:prstGeom prst="ellipse">
            <a:avLst/>
          </a:prstGeom>
          <a:solidFill>
            <a:srgbClr val="FFFFFF"/>
          </a:solidFill>
          <a:ln w="9525">
            <a:solidFill>
              <a:srgbClr val="3A4A8C"/>
            </a:solidFill>
            <a:prstDash val="solid"/>
          </a:ln>
        </p:spPr>
      </p:sp>
      <p:pic>
        <p:nvPicPr>
          <p:cNvPr id="25" name="Image 9" descr="deck-assets/helm.png">    </p:cNvPr>
          <p:cNvPicPr>
            <a:picLocks noChangeAspect="1"/>
          </p:cNvPicPr>
          <p:nvPr/>
        </p:nvPicPr>
        <p:blipFill>
          <a:blip r:embed="rId10"/>
          <a:stretch>
            <a:fillRect/>
          </a:stretch>
        </p:blipFill>
        <p:spPr>
          <a:xfrm>
            <a:off x="7699248" y="4379976"/>
            <a:ext cx="347472" cy="347472"/>
          </a:xfrm>
          <a:prstGeom prst="rect">
            <a:avLst/>
          </a:prstGeom>
        </p:spPr>
      </p:pic>
      <p:sp>
        <p:nvSpPr>
          <p:cNvPr id="26" name="Shape 14"/>
          <p:cNvSpPr/>
          <p:nvPr/>
        </p:nvSpPr>
        <p:spPr>
          <a:xfrm>
            <a:off x="8321040" y="4251960"/>
            <a:ext cx="603504" cy="603504"/>
          </a:xfrm>
          <a:prstGeom prst="ellipse">
            <a:avLst/>
          </a:prstGeom>
          <a:solidFill>
            <a:srgbClr val="FFFFFF"/>
          </a:solidFill>
          <a:ln w="9525">
            <a:solidFill>
              <a:srgbClr val="3A4A8C"/>
            </a:solidFill>
            <a:prstDash val="solid"/>
          </a:ln>
        </p:spPr>
      </p:sp>
      <p:pic>
        <p:nvPicPr>
          <p:cNvPr id="27" name="Image 10" descr="deck-assets/fastapi.png">    </p:cNvPr>
          <p:cNvPicPr>
            <a:picLocks noChangeAspect="1"/>
          </p:cNvPicPr>
          <p:nvPr/>
        </p:nvPicPr>
        <p:blipFill>
          <a:blip r:embed="rId11"/>
          <a:stretch>
            <a:fillRect/>
          </a:stretch>
        </p:blipFill>
        <p:spPr>
          <a:xfrm>
            <a:off x="8449056" y="4379976"/>
            <a:ext cx="347472" cy="347472"/>
          </a:xfrm>
          <a:prstGeom prst="rect">
            <a:avLst/>
          </a:prstGeom>
        </p:spPr>
      </p:pic>
      <p:sp>
        <p:nvSpPr>
          <p:cNvPr id="28" name="Shape 15"/>
          <p:cNvSpPr/>
          <p:nvPr/>
        </p:nvSpPr>
        <p:spPr>
          <a:xfrm>
            <a:off x="9070848" y="4251960"/>
            <a:ext cx="603504" cy="603504"/>
          </a:xfrm>
          <a:prstGeom prst="ellipse">
            <a:avLst/>
          </a:prstGeom>
          <a:solidFill>
            <a:srgbClr val="FFFFFF"/>
          </a:solidFill>
          <a:ln w="9525">
            <a:solidFill>
              <a:srgbClr val="3A4A8C"/>
            </a:solidFill>
            <a:prstDash val="solid"/>
          </a:ln>
        </p:spPr>
      </p:sp>
      <p:pic>
        <p:nvPicPr>
          <p:cNvPr id="29" name="Image 11" descr="deck-assets/prometheus.png">    </p:cNvPr>
          <p:cNvPicPr>
            <a:picLocks noChangeAspect="1"/>
          </p:cNvPicPr>
          <p:nvPr/>
        </p:nvPicPr>
        <p:blipFill>
          <a:blip r:embed="rId12"/>
          <a:stretch>
            <a:fillRect/>
          </a:stretch>
        </p:blipFill>
        <p:spPr>
          <a:xfrm>
            <a:off x="9198864" y="4379976"/>
            <a:ext cx="347472" cy="347472"/>
          </a:xfrm>
          <a:prstGeom prst="rect">
            <a:avLst/>
          </a:prstGeom>
        </p:spPr>
      </p:pic>
      <p:sp>
        <p:nvSpPr>
          <p:cNvPr id="30" name="Shape 16"/>
          <p:cNvSpPr/>
          <p:nvPr/>
        </p:nvSpPr>
        <p:spPr>
          <a:xfrm>
            <a:off x="9820656" y="4251960"/>
            <a:ext cx="603504" cy="603504"/>
          </a:xfrm>
          <a:prstGeom prst="ellipse">
            <a:avLst/>
          </a:prstGeom>
          <a:solidFill>
            <a:srgbClr val="FFFFFF"/>
          </a:solidFill>
          <a:ln w="9525">
            <a:solidFill>
              <a:srgbClr val="3A4A8C"/>
            </a:solidFill>
            <a:prstDash val="solid"/>
          </a:ln>
        </p:spPr>
      </p:sp>
      <p:pic>
        <p:nvPicPr>
          <p:cNvPr id="31" name="Image 12" descr="deck-assets/grafana.png">    </p:cNvPr>
          <p:cNvPicPr>
            <a:picLocks noChangeAspect="1"/>
          </p:cNvPicPr>
          <p:nvPr/>
        </p:nvPicPr>
        <p:blipFill>
          <a:blip r:embed="rId13"/>
          <a:stretch>
            <a:fillRect/>
          </a:stretch>
        </p:blipFill>
        <p:spPr>
          <a:xfrm>
            <a:off x="9948672" y="4379976"/>
            <a:ext cx="347472" cy="347472"/>
          </a:xfrm>
          <a:prstGeom prst="rect">
            <a:avLst/>
          </a:prstGeom>
        </p:spPr>
      </p:pic>
      <p:sp>
        <p:nvSpPr>
          <p:cNvPr id="32" name="Shape 17"/>
          <p:cNvSpPr/>
          <p:nvPr/>
        </p:nvSpPr>
        <p:spPr>
          <a:xfrm>
            <a:off x="10570464" y="4251960"/>
            <a:ext cx="603504" cy="603504"/>
          </a:xfrm>
          <a:prstGeom prst="ellipse">
            <a:avLst/>
          </a:prstGeom>
          <a:solidFill>
            <a:srgbClr val="FFFFFF"/>
          </a:solidFill>
          <a:ln w="9525">
            <a:solidFill>
              <a:srgbClr val="3A4A8C"/>
            </a:solidFill>
            <a:prstDash val="solid"/>
          </a:ln>
        </p:spPr>
      </p:sp>
      <p:pic>
        <p:nvPicPr>
          <p:cNvPr id="33" name="Image 13" descr="deck-assets/githubactions.png">    </p:cNvPr>
          <p:cNvPicPr>
            <a:picLocks noChangeAspect="1"/>
          </p:cNvPicPr>
          <p:nvPr/>
        </p:nvPicPr>
        <p:blipFill>
          <a:blip r:embed="rId14"/>
          <a:stretch>
            <a:fillRect/>
          </a:stretch>
        </p:blipFill>
        <p:spPr>
          <a:xfrm>
            <a:off x="10698480" y="4379976"/>
            <a:ext cx="347472" cy="347472"/>
          </a:xfrm>
          <a:prstGeom prst="rect">
            <a:avLst/>
          </a:prstGeom>
        </p:spPr>
      </p:pic>
      <p:sp>
        <p:nvSpPr>
          <p:cNvPr id="34" name="Text 18"/>
          <p:cNvSpPr/>
          <p:nvPr/>
        </p:nvSpPr>
        <p:spPr>
          <a:xfrm>
            <a:off x="822960" y="5760720"/>
            <a:ext cx="10058400" cy="365760"/>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github.com/nepseli/mlops-cv-pipeline</a:t>
            </a:r>
            <a:endParaRPr lang="en-US" sz="1400" dirty="0"/>
          </a:p>
        </p:txBody>
      </p:sp>
      <p:sp>
        <p:nvSpPr>
          <p:cNvPr id="35" name="Text 19"/>
          <p:cNvSpPr/>
          <p:nvPr/>
        </p:nvSpPr>
        <p:spPr>
          <a:xfrm>
            <a:off x="822960" y="6108192"/>
            <a:ext cx="10058400" cy="320040"/>
          </a:xfrm>
          <a:prstGeom prst="rect">
            <a:avLst/>
          </a:prstGeom>
          <a:noFill/>
          <a:ln/>
        </p:spPr>
        <p:txBody>
          <a:bodyPr wrap="square" lIns="0" tIns="0" rIns="0" bIns="0" rtlCol="0" anchor="ctr"/>
          <a:lstStyle/>
          <a:p>
            <a:pPr indent="0" marL="0">
              <a:buNone/>
            </a:pPr>
            <a:r>
              <a:rPr lang="en-US" sz="1150" dirty="0">
                <a:solidFill>
                  <a:srgbClr val="8FA3D0"/>
                </a:solidFill>
                <a:latin typeface="Calibri" pitchFamily="34" charset="0"/>
                <a:ea typeface="Calibri" pitchFamily="34" charset="-122"/>
                <a:cs typeface="Calibri" pitchFamily="34" charset="-120"/>
              </a:rPr>
              <a:t>Open-source reference implementation  ·  MIT licensed</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EXECUTIVE SUMMARY</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What was built, and what it proved</a:t>
            </a:r>
            <a:endParaRPr lang="en-US" sz="2700" dirty="0"/>
          </a:p>
        </p:txBody>
      </p:sp>
      <p:sp>
        <p:nvSpPr>
          <p:cNvPr id="4" name="Text 2"/>
          <p:cNvSpPr/>
          <p:nvPr/>
        </p:nvSpPr>
        <p:spPr>
          <a:xfrm>
            <a:off x="502920" y="1325880"/>
            <a:ext cx="5852160" cy="2148840"/>
          </a:xfrm>
          <a:prstGeom prst="rect">
            <a:avLst/>
          </a:prstGeom>
          <a:noFill/>
          <a:ln/>
        </p:spPr>
        <p:txBody>
          <a:bodyPr wrap="square" lIns="0" tIns="0" rIns="0" bIns="0" rtlCol="0" anchor="t"/>
          <a:lstStyle/>
          <a:p>
            <a:pPr indent="0" marL="0">
              <a:buNone/>
            </a:pPr>
            <a:r>
              <a:rPr lang="en-US" sz="1350" b="1" dirty="0">
                <a:solidFill>
                  <a:srgbClr val="273044"/>
                </a:solidFill>
                <a:latin typeface="Calibri" pitchFamily="34" charset="0"/>
                <a:ea typeface="Calibri" pitchFamily="34" charset="-122"/>
                <a:cs typeface="Calibri" pitchFamily="34" charset="-120"/>
              </a:rPr>
              <a:t>The project: </a:t>
            </a:r>
            <a:pPr indent="0" marL="0">
              <a:buNone/>
            </a:pPr>
            <a:r>
              <a:rPr lang="en-US" sz="1350" dirty="0">
                <a:solidFill>
                  <a:srgbClr val="273044"/>
                </a:solidFill>
                <a:latin typeface="Calibri" pitchFamily="34" charset="0"/>
                <a:ea typeface="Calibri" pitchFamily="34" charset="-122"/>
                <a:cs typeface="Calibri" pitchFamily="34" charset="-120"/>
              </a:rPr>
              <a:t>a complete MLOps loop for a YOLOv8 object detector, running on a real EKS cluster — not a notebook demo. A pretrained model is fine-tuned, quality-gated on validation mAP, registered in MLflow, exported to ONNX, served behind FastAPI on Kubernetes, observed with Prometheus and Grafana, and watched for data drift by an hourly Evidently job that pushes metrics into the same alerting stack.</a:t>
            </a:r>
            <a:endParaRPr lang="en-US" sz="1350" dirty="0"/>
          </a:p>
        </p:txBody>
      </p:sp>
      <p:sp>
        <p:nvSpPr>
          <p:cNvPr id="5" name="Text 3"/>
          <p:cNvSpPr/>
          <p:nvPr/>
        </p:nvSpPr>
        <p:spPr>
          <a:xfrm>
            <a:off x="502920" y="3520440"/>
            <a:ext cx="5852160" cy="1554480"/>
          </a:xfrm>
          <a:prstGeom prst="rect">
            <a:avLst/>
          </a:prstGeom>
          <a:noFill/>
          <a:ln/>
        </p:spPr>
        <p:txBody>
          <a:bodyPr wrap="square" lIns="0" tIns="0" rIns="0" bIns="0" rtlCol="0" anchor="t"/>
          <a:lstStyle/>
          <a:p>
            <a:pPr indent="0" marL="0">
              <a:buNone/>
            </a:pPr>
            <a:r>
              <a:rPr lang="en-US" sz="1350" b="1" dirty="0">
                <a:solidFill>
                  <a:srgbClr val="273044"/>
                </a:solidFill>
                <a:latin typeface="Calibri" pitchFamily="34" charset="0"/>
                <a:ea typeface="Calibri" pitchFamily="34" charset="-122"/>
                <a:cs typeface="Calibri" pitchFamily="34" charset="-120"/>
              </a:rPr>
              <a:t>The proof: </a:t>
            </a:r>
            <a:pPr indent="0" marL="0">
              <a:buNone/>
            </a:pPr>
            <a:r>
              <a:rPr lang="en-US" sz="1350" dirty="0">
                <a:solidFill>
                  <a:srgbClr val="273044"/>
                </a:solidFill>
                <a:latin typeface="Calibri" pitchFamily="34" charset="0"/>
                <a:ea typeface="Calibri" pitchFamily="34" charset="-122"/>
                <a:cs typeface="Calibri" pitchFamily="34" charset="-120"/>
              </a:rPr>
              <a:t>when deliberately corrupted images (darkened 4×, Gaussian-blurred) were sent through the live endpoint, the drift detector flagged 80% of monitored features as drifted and Alertmanager fired both drift alerts — the detect → alert → retrain loop works end to end.</a:t>
            </a:r>
            <a:endParaRPr lang="en-US" sz="1350" dirty="0"/>
          </a:p>
        </p:txBody>
      </p:sp>
      <p:sp>
        <p:nvSpPr>
          <p:cNvPr id="6" name="Shape 4"/>
          <p:cNvSpPr/>
          <p:nvPr/>
        </p:nvSpPr>
        <p:spPr>
          <a:xfrm>
            <a:off x="6720840" y="1371600"/>
            <a:ext cx="2423160" cy="1417320"/>
          </a:xfrm>
          <a:prstGeom prst="roundRect">
            <a:avLst>
              <a:gd name="adj" fmla="val 4516"/>
            </a:avLst>
          </a:prstGeom>
          <a:solidFill>
            <a:srgbClr val="F0F4FB"/>
          </a:solidFill>
          <a:ln w="9525">
            <a:solidFill>
              <a:srgbClr val="DCE4F2"/>
            </a:solidFill>
            <a:prstDash val="solid"/>
          </a:ln>
        </p:spPr>
      </p:sp>
      <p:sp>
        <p:nvSpPr>
          <p:cNvPr id="7" name="Text 5"/>
          <p:cNvSpPr/>
          <p:nvPr/>
        </p:nvSpPr>
        <p:spPr>
          <a:xfrm>
            <a:off x="6858000" y="1517904"/>
            <a:ext cx="2148840" cy="658368"/>
          </a:xfrm>
          <a:prstGeom prst="rect">
            <a:avLst/>
          </a:prstGeom>
          <a:noFill/>
          <a:ln/>
        </p:spPr>
        <p:txBody>
          <a:bodyPr wrap="square" lIns="0" tIns="0" rIns="0" bIns="0" rtlCol="0" anchor="ctr"/>
          <a:lstStyle/>
          <a:p>
            <a:pPr indent="0" marL="0">
              <a:buNone/>
            </a:pPr>
            <a:r>
              <a:rPr lang="en-US" sz="3400" b="1" dirty="0">
                <a:solidFill>
                  <a:srgbClr val="2C7A3D"/>
                </a:solidFill>
                <a:latin typeface="Cambria" pitchFamily="34" charset="0"/>
                <a:ea typeface="Cambria" pitchFamily="34" charset="-122"/>
                <a:cs typeface="Cambria" pitchFamily="34" charset="-120"/>
              </a:rPr>
              <a:t>0.703</a:t>
            </a:r>
            <a:endParaRPr lang="en-US" sz="3400" dirty="0"/>
          </a:p>
        </p:txBody>
      </p:sp>
      <p:sp>
        <p:nvSpPr>
          <p:cNvPr id="8" name="Text 6"/>
          <p:cNvSpPr/>
          <p:nvPr/>
        </p:nvSpPr>
        <p:spPr>
          <a:xfrm>
            <a:off x="6858000" y="2212848"/>
            <a:ext cx="2148840" cy="502920"/>
          </a:xfrm>
          <a:prstGeom prst="rect">
            <a:avLst/>
          </a:prstGeom>
          <a:noFill/>
          <a:ln/>
        </p:spPr>
        <p:txBody>
          <a:bodyPr wrap="square" lIns="0" tIns="0" rIns="0" bIns="0" rtlCol="0" anchor="ctr"/>
          <a:lstStyle/>
          <a:p>
            <a:pPr indent="0" marL="0">
              <a:buNone/>
            </a:pPr>
            <a:r>
              <a:rPr lang="en-US" sz="1050" dirty="0">
                <a:solidFill>
                  <a:srgbClr val="63708A"/>
                </a:solidFill>
                <a:latin typeface="Calibri" pitchFamily="34" charset="0"/>
                <a:ea typeface="Calibri" pitchFamily="34" charset="-122"/>
                <a:cs typeface="Calibri" pitchFamily="34" charset="-120"/>
              </a:rPr>
              <a:t>validation mAP@50 (gate: ≥ 0.45)</a:t>
            </a:r>
            <a:endParaRPr lang="en-US" sz="1050" dirty="0"/>
          </a:p>
        </p:txBody>
      </p:sp>
      <p:sp>
        <p:nvSpPr>
          <p:cNvPr id="9" name="Shape 7"/>
          <p:cNvSpPr/>
          <p:nvPr/>
        </p:nvSpPr>
        <p:spPr>
          <a:xfrm>
            <a:off x="9326880" y="1371600"/>
            <a:ext cx="2423160" cy="1417320"/>
          </a:xfrm>
          <a:prstGeom prst="roundRect">
            <a:avLst>
              <a:gd name="adj" fmla="val 4516"/>
            </a:avLst>
          </a:prstGeom>
          <a:solidFill>
            <a:srgbClr val="F0F4FB"/>
          </a:solidFill>
          <a:ln w="9525">
            <a:solidFill>
              <a:srgbClr val="DCE4F2"/>
            </a:solidFill>
            <a:prstDash val="solid"/>
          </a:ln>
        </p:spPr>
      </p:sp>
      <p:sp>
        <p:nvSpPr>
          <p:cNvPr id="10" name="Text 8"/>
          <p:cNvSpPr/>
          <p:nvPr/>
        </p:nvSpPr>
        <p:spPr>
          <a:xfrm>
            <a:off x="9464040" y="1517904"/>
            <a:ext cx="2148840" cy="658368"/>
          </a:xfrm>
          <a:prstGeom prst="rect">
            <a:avLst/>
          </a:prstGeom>
          <a:noFill/>
          <a:ln/>
        </p:spPr>
        <p:txBody>
          <a:bodyPr wrap="square" lIns="0" tIns="0" rIns="0" bIns="0" rtlCol="0" anchor="ctr"/>
          <a:lstStyle/>
          <a:p>
            <a:pPr indent="0" marL="0">
              <a:buNone/>
            </a:pPr>
            <a:r>
              <a:rPr lang="en-US" sz="3400" b="1" dirty="0">
                <a:solidFill>
                  <a:srgbClr val="31407A"/>
                </a:solidFill>
                <a:latin typeface="Cambria" pitchFamily="34" charset="0"/>
                <a:ea typeface="Cambria" pitchFamily="34" charset="-122"/>
                <a:cs typeface="Cambria" pitchFamily="34" charset="-120"/>
              </a:rPr>
              <a:t>185 ms</a:t>
            </a:r>
            <a:endParaRPr lang="en-US" sz="3400" dirty="0"/>
          </a:p>
        </p:txBody>
      </p:sp>
      <p:sp>
        <p:nvSpPr>
          <p:cNvPr id="11" name="Text 9"/>
          <p:cNvSpPr/>
          <p:nvPr/>
        </p:nvSpPr>
        <p:spPr>
          <a:xfrm>
            <a:off x="9464040" y="2212848"/>
            <a:ext cx="2148840" cy="502920"/>
          </a:xfrm>
          <a:prstGeom prst="rect">
            <a:avLst/>
          </a:prstGeom>
          <a:noFill/>
          <a:ln/>
        </p:spPr>
        <p:txBody>
          <a:bodyPr wrap="square" lIns="0" tIns="0" rIns="0" bIns="0" rtlCol="0" anchor="ctr"/>
          <a:lstStyle/>
          <a:p>
            <a:pPr indent="0" marL="0">
              <a:buNone/>
            </a:pPr>
            <a:r>
              <a:rPr lang="en-US" sz="1050" dirty="0">
                <a:solidFill>
                  <a:srgbClr val="63708A"/>
                </a:solidFill>
                <a:latin typeface="Calibri" pitchFamily="34" charset="0"/>
                <a:ea typeface="Calibri" pitchFamily="34" charset="-122"/>
                <a:cs typeface="Calibri" pitchFamily="34" charset="-120"/>
              </a:rPr>
              <a:t>median inference latency (CPU pod)</a:t>
            </a:r>
            <a:endParaRPr lang="en-US" sz="1050" dirty="0"/>
          </a:p>
        </p:txBody>
      </p:sp>
      <p:sp>
        <p:nvSpPr>
          <p:cNvPr id="12" name="Shape 10"/>
          <p:cNvSpPr/>
          <p:nvPr/>
        </p:nvSpPr>
        <p:spPr>
          <a:xfrm>
            <a:off x="6720840" y="2971800"/>
            <a:ext cx="2423160" cy="1417320"/>
          </a:xfrm>
          <a:prstGeom prst="roundRect">
            <a:avLst>
              <a:gd name="adj" fmla="val 4516"/>
            </a:avLst>
          </a:prstGeom>
          <a:solidFill>
            <a:srgbClr val="F0F4FB"/>
          </a:solidFill>
          <a:ln w="9525">
            <a:solidFill>
              <a:srgbClr val="DCE4F2"/>
            </a:solidFill>
            <a:prstDash val="solid"/>
          </a:ln>
        </p:spPr>
      </p:sp>
      <p:sp>
        <p:nvSpPr>
          <p:cNvPr id="13" name="Text 11"/>
          <p:cNvSpPr/>
          <p:nvPr/>
        </p:nvSpPr>
        <p:spPr>
          <a:xfrm>
            <a:off x="6858000" y="3118104"/>
            <a:ext cx="2148840" cy="658368"/>
          </a:xfrm>
          <a:prstGeom prst="rect">
            <a:avLst/>
          </a:prstGeom>
          <a:noFill/>
          <a:ln/>
        </p:spPr>
        <p:txBody>
          <a:bodyPr wrap="square" lIns="0" tIns="0" rIns="0" bIns="0" rtlCol="0" anchor="ctr"/>
          <a:lstStyle/>
          <a:p>
            <a:pPr indent="0" marL="0">
              <a:buNone/>
            </a:pPr>
            <a:r>
              <a:rPr lang="en-US" sz="3400" b="1" dirty="0">
                <a:solidFill>
                  <a:srgbClr val="E8590C"/>
                </a:solidFill>
                <a:latin typeface="Cambria" pitchFamily="34" charset="0"/>
                <a:ea typeface="Cambria" pitchFamily="34" charset="-122"/>
                <a:cs typeface="Cambria" pitchFamily="34" charset="-120"/>
              </a:rPr>
              <a:t>0.800</a:t>
            </a:r>
            <a:endParaRPr lang="en-US" sz="3400" dirty="0"/>
          </a:p>
        </p:txBody>
      </p:sp>
      <p:sp>
        <p:nvSpPr>
          <p:cNvPr id="14" name="Text 12"/>
          <p:cNvSpPr/>
          <p:nvPr/>
        </p:nvSpPr>
        <p:spPr>
          <a:xfrm>
            <a:off x="6858000" y="3813048"/>
            <a:ext cx="2148840" cy="502920"/>
          </a:xfrm>
          <a:prstGeom prst="rect">
            <a:avLst/>
          </a:prstGeom>
          <a:noFill/>
          <a:ln/>
        </p:spPr>
        <p:txBody>
          <a:bodyPr wrap="square" lIns="0" tIns="0" rIns="0" bIns="0" rtlCol="0" anchor="ctr"/>
          <a:lstStyle/>
          <a:p>
            <a:pPr indent="0" marL="0">
              <a:buNone/>
            </a:pPr>
            <a:r>
              <a:rPr lang="en-US" sz="1050" dirty="0">
                <a:solidFill>
                  <a:srgbClr val="63708A"/>
                </a:solidFill>
                <a:latin typeface="Calibri" pitchFamily="34" charset="0"/>
                <a:ea typeface="Calibri" pitchFamily="34" charset="-122"/>
                <a:cs typeface="Calibri" pitchFamily="34" charset="-120"/>
              </a:rPr>
              <a:t>drift share under corrupted traffic</a:t>
            </a:r>
            <a:endParaRPr lang="en-US" sz="1050" dirty="0"/>
          </a:p>
        </p:txBody>
      </p:sp>
      <p:sp>
        <p:nvSpPr>
          <p:cNvPr id="15" name="Shape 13"/>
          <p:cNvSpPr/>
          <p:nvPr/>
        </p:nvSpPr>
        <p:spPr>
          <a:xfrm>
            <a:off x="9326880" y="2971800"/>
            <a:ext cx="2423160" cy="1417320"/>
          </a:xfrm>
          <a:prstGeom prst="roundRect">
            <a:avLst>
              <a:gd name="adj" fmla="val 4516"/>
            </a:avLst>
          </a:prstGeom>
          <a:solidFill>
            <a:srgbClr val="F0F4FB"/>
          </a:solidFill>
          <a:ln w="9525">
            <a:solidFill>
              <a:srgbClr val="DCE4F2"/>
            </a:solidFill>
            <a:prstDash val="solid"/>
          </a:ln>
        </p:spPr>
      </p:sp>
      <p:sp>
        <p:nvSpPr>
          <p:cNvPr id="16" name="Text 14"/>
          <p:cNvSpPr/>
          <p:nvPr/>
        </p:nvSpPr>
        <p:spPr>
          <a:xfrm>
            <a:off x="9464040" y="3118104"/>
            <a:ext cx="2148840" cy="658368"/>
          </a:xfrm>
          <a:prstGeom prst="rect">
            <a:avLst/>
          </a:prstGeom>
          <a:noFill/>
          <a:ln/>
        </p:spPr>
        <p:txBody>
          <a:bodyPr wrap="square" lIns="0" tIns="0" rIns="0" bIns="0" rtlCol="0" anchor="ctr"/>
          <a:lstStyle/>
          <a:p>
            <a:pPr indent="0" marL="0">
              <a:buNone/>
            </a:pPr>
            <a:r>
              <a:rPr lang="en-US" sz="3400" b="1" dirty="0">
                <a:solidFill>
                  <a:srgbClr val="31407A"/>
                </a:solidFill>
                <a:latin typeface="Cambria" pitchFamily="34" charset="0"/>
                <a:ea typeface="Cambria" pitchFamily="34" charset="-122"/>
                <a:cs typeface="Cambria" pitchFamily="34" charset="-120"/>
              </a:rPr>
              <a:t>~4 h</a:t>
            </a:r>
            <a:endParaRPr lang="en-US" sz="3400" dirty="0"/>
          </a:p>
        </p:txBody>
      </p:sp>
      <p:sp>
        <p:nvSpPr>
          <p:cNvPr id="17" name="Text 15"/>
          <p:cNvSpPr/>
          <p:nvPr/>
        </p:nvSpPr>
        <p:spPr>
          <a:xfrm>
            <a:off x="9464040" y="3813048"/>
            <a:ext cx="2148840" cy="502920"/>
          </a:xfrm>
          <a:prstGeom prst="rect">
            <a:avLst/>
          </a:prstGeom>
          <a:noFill/>
          <a:ln/>
        </p:spPr>
        <p:txBody>
          <a:bodyPr wrap="square" lIns="0" tIns="0" rIns="0" bIns="0" rtlCol="0" anchor="ctr"/>
          <a:lstStyle/>
          <a:p>
            <a:pPr indent="0" marL="0">
              <a:buNone/>
            </a:pPr>
            <a:r>
              <a:rPr lang="en-US" sz="1050" dirty="0">
                <a:solidFill>
                  <a:srgbClr val="63708A"/>
                </a:solidFill>
                <a:latin typeface="Calibri" pitchFamily="34" charset="0"/>
                <a:ea typeface="Calibri" pitchFamily="34" charset="-122"/>
                <a:cs typeface="Calibri" pitchFamily="34" charset="-120"/>
              </a:rPr>
              <a:t>wall clock, incl. real debugging</a:t>
            </a:r>
            <a:endParaRPr lang="en-US" sz="1050" dirty="0"/>
          </a:p>
        </p:txBody>
      </p:sp>
      <p:sp>
        <p:nvSpPr>
          <p:cNvPr id="18" name="Shape 16"/>
          <p:cNvSpPr/>
          <p:nvPr/>
        </p:nvSpPr>
        <p:spPr>
          <a:xfrm>
            <a:off x="6720840" y="4663440"/>
            <a:ext cx="5029200" cy="1417320"/>
          </a:xfrm>
          <a:prstGeom prst="roundRect">
            <a:avLst>
              <a:gd name="adj" fmla="val 4516"/>
            </a:avLst>
          </a:prstGeom>
          <a:solidFill>
            <a:srgbClr val="FFFFFF"/>
          </a:solidFill>
          <a:ln w="9525">
            <a:solidFill>
              <a:srgbClr val="DCE4F2"/>
            </a:solidFill>
            <a:prstDash val="solid"/>
          </a:ln>
        </p:spPr>
      </p:sp>
      <p:sp>
        <p:nvSpPr>
          <p:cNvPr id="19" name="Text 17"/>
          <p:cNvSpPr/>
          <p:nvPr/>
        </p:nvSpPr>
        <p:spPr>
          <a:xfrm>
            <a:off x="6903720" y="4800600"/>
            <a:ext cx="4663440" cy="1143000"/>
          </a:xfrm>
          <a:prstGeom prst="rect">
            <a:avLst/>
          </a:prstGeom>
          <a:noFill/>
          <a:ln/>
        </p:spPr>
        <p:txBody>
          <a:bodyPr wrap="square" lIns="0" tIns="0" rIns="0" bIns="0" rtlCol="0" anchor="t"/>
          <a:lstStyle/>
          <a:p>
            <a:pPr indent="0" marL="0">
              <a:buNone/>
            </a:pPr>
            <a:r>
              <a:rPr lang="en-US" sz="1200" i="1" dirty="0">
                <a:solidFill>
                  <a:srgbClr val="31407A"/>
                </a:solidFill>
                <a:latin typeface="Calibri" pitchFamily="34" charset="0"/>
                <a:ea typeface="Calibri" pitchFamily="34" charset="-122"/>
                <a:cs typeface="Calibri" pitchFamily="34" charset="-120"/>
              </a:rPr>
              <a:t>Deliberate hybrid: buy the pretrained weights, managed AWS infra, and GitHub's CI runners — build the serving, monitoring, and drift layers where the learning (and control) lives.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CONTEXT</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MLOps in one picture: a loop, not a pipeline</a:t>
            </a:r>
            <a:endParaRPr lang="en-US" sz="2700" dirty="0"/>
          </a:p>
        </p:txBody>
      </p:sp>
      <p:sp>
        <p:nvSpPr>
          <p:cNvPr id="4" name="Shape 2"/>
          <p:cNvSpPr/>
          <p:nvPr/>
        </p:nvSpPr>
        <p:spPr>
          <a:xfrm>
            <a:off x="640080" y="1920240"/>
            <a:ext cx="1920240" cy="1371600"/>
          </a:xfrm>
          <a:prstGeom prst="roundRect">
            <a:avLst>
              <a:gd name="adj" fmla="val 4667"/>
            </a:avLst>
          </a:prstGeom>
          <a:solidFill>
            <a:srgbClr val="FFFFFF"/>
          </a:solidFill>
          <a:ln w="9525">
            <a:solidFill>
              <a:srgbClr val="DCE4F2"/>
            </a:solidFill>
            <a:prstDash val="solid"/>
          </a:ln>
        </p:spPr>
      </p:sp>
      <p:pic>
        <p:nvPicPr>
          <p:cNvPr id="5" name="Image 0" descr="deck-assets/pytorch.png">    </p:cNvPr>
          <p:cNvPicPr>
            <a:picLocks noChangeAspect="1"/>
          </p:cNvPicPr>
          <p:nvPr/>
        </p:nvPicPr>
        <p:blipFill>
          <a:blip r:embed="rId1"/>
          <a:stretch>
            <a:fillRect/>
          </a:stretch>
        </p:blipFill>
        <p:spPr>
          <a:xfrm>
            <a:off x="1408176" y="2029968"/>
            <a:ext cx="384048" cy="384048"/>
          </a:xfrm>
          <a:prstGeom prst="rect">
            <a:avLst/>
          </a:prstGeom>
        </p:spPr>
      </p:pic>
      <p:sp>
        <p:nvSpPr>
          <p:cNvPr id="6" name="Text 3"/>
          <p:cNvSpPr/>
          <p:nvPr/>
        </p:nvSpPr>
        <p:spPr>
          <a:xfrm>
            <a:off x="676656" y="24323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1 · Develop</a:t>
            </a:r>
            <a:endParaRPr lang="en-US" sz="1100" dirty="0"/>
          </a:p>
        </p:txBody>
      </p:sp>
      <p:sp>
        <p:nvSpPr>
          <p:cNvPr id="7" name="Text 4"/>
          <p:cNvSpPr/>
          <p:nvPr/>
        </p:nvSpPr>
        <p:spPr>
          <a:xfrm>
            <a:off x="676656" y="27066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fine-tune on task data</a:t>
            </a:r>
            <a:endParaRPr lang="en-US" sz="850" dirty="0"/>
          </a:p>
        </p:txBody>
      </p:sp>
      <p:sp>
        <p:nvSpPr>
          <p:cNvPr id="8" name="Shape 5"/>
          <p:cNvSpPr/>
          <p:nvPr/>
        </p:nvSpPr>
        <p:spPr>
          <a:xfrm>
            <a:off x="2560320" y="2606040"/>
            <a:ext cx="384048" cy="0"/>
          </a:xfrm>
          <a:prstGeom prst="line">
            <a:avLst/>
          </a:prstGeom>
          <a:noFill/>
          <a:ln w="22225">
            <a:solidFill>
              <a:srgbClr val="63708A"/>
            </a:solidFill>
            <a:prstDash val="solid"/>
            <a:tailEnd type="triangle"/>
          </a:ln>
        </p:spPr>
      </p:sp>
      <p:sp>
        <p:nvSpPr>
          <p:cNvPr id="9" name="Shape 6"/>
          <p:cNvSpPr/>
          <p:nvPr/>
        </p:nvSpPr>
        <p:spPr>
          <a:xfrm>
            <a:off x="2944368" y="1920240"/>
            <a:ext cx="1920240" cy="1371600"/>
          </a:xfrm>
          <a:prstGeom prst="roundRect">
            <a:avLst>
              <a:gd name="adj" fmla="val 4667"/>
            </a:avLst>
          </a:prstGeom>
          <a:solidFill>
            <a:srgbClr val="FFFFFF"/>
          </a:solidFill>
          <a:ln w="9525">
            <a:solidFill>
              <a:srgbClr val="DCE4F2"/>
            </a:solidFill>
            <a:prstDash val="solid"/>
          </a:ln>
        </p:spPr>
      </p:sp>
      <p:pic>
        <p:nvPicPr>
          <p:cNvPr id="10" name="Image 1" descr="deck-assets/python.png">    </p:cNvPr>
          <p:cNvPicPr>
            <a:picLocks noChangeAspect="1"/>
          </p:cNvPicPr>
          <p:nvPr/>
        </p:nvPicPr>
        <p:blipFill>
          <a:blip r:embed="rId2"/>
          <a:stretch>
            <a:fillRect/>
          </a:stretch>
        </p:blipFill>
        <p:spPr>
          <a:xfrm>
            <a:off x="3712464" y="2029968"/>
            <a:ext cx="384048" cy="384048"/>
          </a:xfrm>
          <a:prstGeom prst="rect">
            <a:avLst/>
          </a:prstGeom>
        </p:spPr>
      </p:pic>
      <p:sp>
        <p:nvSpPr>
          <p:cNvPr id="11" name="Text 7"/>
          <p:cNvSpPr/>
          <p:nvPr/>
        </p:nvSpPr>
        <p:spPr>
          <a:xfrm>
            <a:off x="2980944" y="24323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2 · Verify</a:t>
            </a:r>
            <a:endParaRPr lang="en-US" sz="1100" dirty="0"/>
          </a:p>
        </p:txBody>
      </p:sp>
      <p:sp>
        <p:nvSpPr>
          <p:cNvPr id="12" name="Text 8"/>
          <p:cNvSpPr/>
          <p:nvPr/>
        </p:nvSpPr>
        <p:spPr>
          <a:xfrm>
            <a:off x="2980944" y="27066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metric quality gates</a:t>
            </a:r>
            <a:endParaRPr lang="en-US" sz="850" dirty="0"/>
          </a:p>
        </p:txBody>
      </p:sp>
      <p:sp>
        <p:nvSpPr>
          <p:cNvPr id="13" name="Shape 9"/>
          <p:cNvSpPr/>
          <p:nvPr/>
        </p:nvSpPr>
        <p:spPr>
          <a:xfrm>
            <a:off x="4864608" y="2606040"/>
            <a:ext cx="384048" cy="0"/>
          </a:xfrm>
          <a:prstGeom prst="line">
            <a:avLst/>
          </a:prstGeom>
          <a:noFill/>
          <a:ln w="22225">
            <a:solidFill>
              <a:srgbClr val="63708A"/>
            </a:solidFill>
            <a:prstDash val="solid"/>
            <a:tailEnd type="triangle"/>
          </a:ln>
        </p:spPr>
      </p:sp>
      <p:sp>
        <p:nvSpPr>
          <p:cNvPr id="14" name="Shape 10"/>
          <p:cNvSpPr/>
          <p:nvPr/>
        </p:nvSpPr>
        <p:spPr>
          <a:xfrm>
            <a:off x="5248656" y="1920240"/>
            <a:ext cx="1920240" cy="1371600"/>
          </a:xfrm>
          <a:prstGeom prst="roundRect">
            <a:avLst>
              <a:gd name="adj" fmla="val 4667"/>
            </a:avLst>
          </a:prstGeom>
          <a:solidFill>
            <a:srgbClr val="FFFFFF"/>
          </a:solidFill>
          <a:ln w="9525">
            <a:solidFill>
              <a:srgbClr val="DCE4F2"/>
            </a:solidFill>
            <a:prstDash val="solid"/>
          </a:ln>
        </p:spPr>
      </p:sp>
      <p:pic>
        <p:nvPicPr>
          <p:cNvPr id="15" name="Image 2" descr="deck-assets/docker.png">    </p:cNvPr>
          <p:cNvPicPr>
            <a:picLocks noChangeAspect="1"/>
          </p:cNvPicPr>
          <p:nvPr/>
        </p:nvPicPr>
        <p:blipFill>
          <a:blip r:embed="rId3"/>
          <a:stretch>
            <a:fillRect/>
          </a:stretch>
        </p:blipFill>
        <p:spPr>
          <a:xfrm>
            <a:off x="6016752" y="2029968"/>
            <a:ext cx="384048" cy="384048"/>
          </a:xfrm>
          <a:prstGeom prst="rect">
            <a:avLst/>
          </a:prstGeom>
        </p:spPr>
      </p:pic>
      <p:sp>
        <p:nvSpPr>
          <p:cNvPr id="16" name="Text 11"/>
          <p:cNvSpPr/>
          <p:nvPr/>
        </p:nvSpPr>
        <p:spPr>
          <a:xfrm>
            <a:off x="5285232" y="24323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3 · Deploy</a:t>
            </a:r>
            <a:endParaRPr lang="en-US" sz="1100" dirty="0"/>
          </a:p>
        </p:txBody>
      </p:sp>
      <p:sp>
        <p:nvSpPr>
          <p:cNvPr id="17" name="Text 12"/>
          <p:cNvSpPr/>
          <p:nvPr/>
        </p:nvSpPr>
        <p:spPr>
          <a:xfrm>
            <a:off x="5285232" y="27066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containerized serving</a:t>
            </a:r>
            <a:endParaRPr lang="en-US" sz="850" dirty="0"/>
          </a:p>
        </p:txBody>
      </p:sp>
      <p:sp>
        <p:nvSpPr>
          <p:cNvPr id="18" name="Shape 13"/>
          <p:cNvSpPr/>
          <p:nvPr/>
        </p:nvSpPr>
        <p:spPr>
          <a:xfrm>
            <a:off x="7168896" y="2606040"/>
            <a:ext cx="384048" cy="0"/>
          </a:xfrm>
          <a:prstGeom prst="line">
            <a:avLst/>
          </a:prstGeom>
          <a:noFill/>
          <a:ln w="22225">
            <a:solidFill>
              <a:srgbClr val="63708A"/>
            </a:solidFill>
            <a:prstDash val="solid"/>
            <a:tailEnd type="triangle"/>
          </a:ln>
        </p:spPr>
      </p:sp>
      <p:sp>
        <p:nvSpPr>
          <p:cNvPr id="19" name="Shape 14"/>
          <p:cNvSpPr/>
          <p:nvPr/>
        </p:nvSpPr>
        <p:spPr>
          <a:xfrm>
            <a:off x="7552944" y="1920240"/>
            <a:ext cx="1920240" cy="1371600"/>
          </a:xfrm>
          <a:prstGeom prst="roundRect">
            <a:avLst>
              <a:gd name="adj" fmla="val 4667"/>
            </a:avLst>
          </a:prstGeom>
          <a:solidFill>
            <a:srgbClr val="FFFFFF"/>
          </a:solidFill>
          <a:ln w="9525">
            <a:solidFill>
              <a:srgbClr val="DCE4F2"/>
            </a:solidFill>
            <a:prstDash val="solid"/>
          </a:ln>
        </p:spPr>
      </p:sp>
      <p:pic>
        <p:nvPicPr>
          <p:cNvPr id="20" name="Image 3" descr="deck-assets/grafana.png">    </p:cNvPr>
          <p:cNvPicPr>
            <a:picLocks noChangeAspect="1"/>
          </p:cNvPicPr>
          <p:nvPr/>
        </p:nvPicPr>
        <p:blipFill>
          <a:blip r:embed="rId4"/>
          <a:stretch>
            <a:fillRect/>
          </a:stretch>
        </p:blipFill>
        <p:spPr>
          <a:xfrm>
            <a:off x="8321040" y="2029968"/>
            <a:ext cx="384048" cy="384048"/>
          </a:xfrm>
          <a:prstGeom prst="rect">
            <a:avLst/>
          </a:prstGeom>
        </p:spPr>
      </p:pic>
      <p:sp>
        <p:nvSpPr>
          <p:cNvPr id="21" name="Text 15"/>
          <p:cNvSpPr/>
          <p:nvPr/>
        </p:nvSpPr>
        <p:spPr>
          <a:xfrm>
            <a:off x="7589520" y="24323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4 · Monitor</a:t>
            </a:r>
            <a:endParaRPr lang="en-US" sz="1100" dirty="0"/>
          </a:p>
        </p:txBody>
      </p:sp>
      <p:sp>
        <p:nvSpPr>
          <p:cNvPr id="22" name="Text 16"/>
          <p:cNvSpPr/>
          <p:nvPr/>
        </p:nvSpPr>
        <p:spPr>
          <a:xfrm>
            <a:off x="7589520" y="27066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system + model metrics</a:t>
            </a:r>
            <a:endParaRPr lang="en-US" sz="850" dirty="0"/>
          </a:p>
        </p:txBody>
      </p:sp>
      <p:sp>
        <p:nvSpPr>
          <p:cNvPr id="23" name="Shape 17"/>
          <p:cNvSpPr/>
          <p:nvPr/>
        </p:nvSpPr>
        <p:spPr>
          <a:xfrm>
            <a:off x="9473184" y="2606040"/>
            <a:ext cx="384048" cy="0"/>
          </a:xfrm>
          <a:prstGeom prst="line">
            <a:avLst/>
          </a:prstGeom>
          <a:noFill/>
          <a:ln w="22225">
            <a:solidFill>
              <a:srgbClr val="63708A"/>
            </a:solidFill>
            <a:prstDash val="solid"/>
            <a:tailEnd type="triangle"/>
          </a:ln>
        </p:spPr>
      </p:sp>
      <p:sp>
        <p:nvSpPr>
          <p:cNvPr id="24" name="Shape 18"/>
          <p:cNvSpPr/>
          <p:nvPr/>
        </p:nvSpPr>
        <p:spPr>
          <a:xfrm>
            <a:off x="9857232" y="1920240"/>
            <a:ext cx="1920240" cy="1371600"/>
          </a:xfrm>
          <a:prstGeom prst="roundRect">
            <a:avLst>
              <a:gd name="adj" fmla="val 4667"/>
            </a:avLst>
          </a:prstGeom>
          <a:solidFill>
            <a:srgbClr val="FFFFFF"/>
          </a:solidFill>
          <a:ln w="9525">
            <a:solidFill>
              <a:srgbClr val="DCE4F2"/>
            </a:solidFill>
            <a:prstDash val="solid"/>
          </a:ln>
        </p:spPr>
      </p:sp>
      <p:pic>
        <p:nvPicPr>
          <p:cNvPr id="25" name="Image 4" descr="deck-assets/alert.png">    </p:cNvPr>
          <p:cNvPicPr>
            <a:picLocks noChangeAspect="1"/>
          </p:cNvPicPr>
          <p:nvPr/>
        </p:nvPicPr>
        <p:blipFill>
          <a:blip r:embed="rId5"/>
          <a:stretch>
            <a:fillRect/>
          </a:stretch>
        </p:blipFill>
        <p:spPr>
          <a:xfrm>
            <a:off x="10625328" y="2029968"/>
            <a:ext cx="384048" cy="384048"/>
          </a:xfrm>
          <a:prstGeom prst="rect">
            <a:avLst/>
          </a:prstGeom>
        </p:spPr>
      </p:pic>
      <p:sp>
        <p:nvSpPr>
          <p:cNvPr id="26" name="Text 19"/>
          <p:cNvSpPr/>
          <p:nvPr/>
        </p:nvSpPr>
        <p:spPr>
          <a:xfrm>
            <a:off x="9893808" y="24323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5 · Maintain</a:t>
            </a:r>
            <a:endParaRPr lang="en-US" sz="1100" dirty="0"/>
          </a:p>
        </p:txBody>
      </p:sp>
      <p:sp>
        <p:nvSpPr>
          <p:cNvPr id="27" name="Text 20"/>
          <p:cNvSpPr/>
          <p:nvPr/>
        </p:nvSpPr>
        <p:spPr>
          <a:xfrm>
            <a:off x="9893808" y="27066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drift detection → retrain</a:t>
            </a:r>
            <a:endParaRPr lang="en-US" sz="850" dirty="0"/>
          </a:p>
        </p:txBody>
      </p:sp>
      <p:sp>
        <p:nvSpPr>
          <p:cNvPr id="28" name="Shape 21"/>
          <p:cNvSpPr/>
          <p:nvPr/>
        </p:nvSpPr>
        <p:spPr>
          <a:xfrm>
            <a:off x="10835640" y="3291840"/>
            <a:ext cx="0" cy="1005840"/>
          </a:xfrm>
          <a:prstGeom prst="line">
            <a:avLst/>
          </a:prstGeom>
          <a:noFill/>
          <a:ln w="25400">
            <a:solidFill>
              <a:srgbClr val="E8590C"/>
            </a:solidFill>
            <a:prstDash val="solid"/>
          </a:ln>
        </p:spPr>
      </p:sp>
      <p:sp>
        <p:nvSpPr>
          <p:cNvPr id="29" name="Shape 22"/>
          <p:cNvSpPr/>
          <p:nvPr/>
        </p:nvSpPr>
        <p:spPr>
          <a:xfrm>
            <a:off x="1600200" y="4297680"/>
            <a:ext cx="9235440" cy="0"/>
          </a:xfrm>
          <a:prstGeom prst="line">
            <a:avLst/>
          </a:prstGeom>
          <a:noFill/>
          <a:ln w="25400">
            <a:solidFill>
              <a:srgbClr val="E8590C"/>
            </a:solidFill>
            <a:prstDash val="solid"/>
          </a:ln>
        </p:spPr>
      </p:sp>
      <p:sp>
        <p:nvSpPr>
          <p:cNvPr id="30" name="Shape 23"/>
          <p:cNvSpPr/>
          <p:nvPr/>
        </p:nvSpPr>
        <p:spPr>
          <a:xfrm>
            <a:off x="1600200" y="3291840"/>
            <a:ext cx="0" cy="1005840"/>
          </a:xfrm>
          <a:prstGeom prst="line">
            <a:avLst/>
          </a:prstGeom>
          <a:noFill/>
          <a:ln w="25400">
            <a:solidFill>
              <a:srgbClr val="E8590C"/>
            </a:solidFill>
            <a:prstDash val="solid"/>
            <a:headEnd type="triangle"/>
          </a:ln>
        </p:spPr>
      </p:sp>
      <p:sp>
        <p:nvSpPr>
          <p:cNvPr id="31" name="Text 24"/>
          <p:cNvSpPr/>
          <p:nvPr/>
        </p:nvSpPr>
        <p:spPr>
          <a:xfrm>
            <a:off x="4023360" y="4370832"/>
            <a:ext cx="4389120" cy="292608"/>
          </a:xfrm>
          <a:prstGeom prst="rect">
            <a:avLst/>
          </a:prstGeom>
          <a:noFill/>
          <a:ln/>
        </p:spPr>
        <p:txBody>
          <a:bodyPr wrap="square" lIns="0" tIns="0" rIns="0" bIns="0" rtlCol="0" anchor="ctr"/>
          <a:lstStyle/>
          <a:p>
            <a:pPr algn="ctr" indent="0" marL="0">
              <a:buNone/>
            </a:pPr>
            <a:r>
              <a:rPr lang="en-US" sz="1150" b="1" i="1" dirty="0">
                <a:solidFill>
                  <a:srgbClr val="E8590C"/>
                </a:solidFill>
                <a:latin typeface="Calibri" pitchFamily="34" charset="0"/>
                <a:ea typeface="Calibri" pitchFamily="34" charset="-122"/>
                <a:cs typeface="Calibri" pitchFamily="34" charset="-120"/>
              </a:rPr>
              <a:t>drift alert triggers retraining — the loop closes</a:t>
            </a:r>
            <a:endParaRPr lang="en-US" sz="1150" dirty="0"/>
          </a:p>
        </p:txBody>
      </p:sp>
      <p:sp>
        <p:nvSpPr>
          <p:cNvPr id="32" name="Shape 25"/>
          <p:cNvSpPr/>
          <p:nvPr/>
        </p:nvSpPr>
        <p:spPr>
          <a:xfrm>
            <a:off x="640080" y="5120640"/>
            <a:ext cx="10972800" cy="1234440"/>
          </a:xfrm>
          <a:prstGeom prst="roundRect">
            <a:avLst>
              <a:gd name="adj" fmla="val 5185"/>
            </a:avLst>
          </a:prstGeom>
          <a:solidFill>
            <a:srgbClr val="F0F4FB"/>
          </a:solidFill>
          <a:ln w="9525">
            <a:solidFill>
              <a:srgbClr val="DCE4F2"/>
            </a:solidFill>
            <a:prstDash val="solid"/>
          </a:ln>
        </p:spPr>
      </p:sp>
      <p:sp>
        <p:nvSpPr>
          <p:cNvPr id="33" name="Text 26"/>
          <p:cNvSpPr/>
          <p:nvPr/>
        </p:nvSpPr>
        <p:spPr>
          <a:xfrm>
            <a:off x="868680" y="5285232"/>
            <a:ext cx="10515600" cy="914400"/>
          </a:xfrm>
          <a:prstGeom prst="rect">
            <a:avLst/>
          </a:prstGeom>
          <a:noFill/>
          <a:ln/>
        </p:spPr>
        <p:txBody>
          <a:bodyPr wrap="square" lIns="0" tIns="0" rIns="0" bIns="0" rtlCol="0" anchor="t"/>
          <a:lstStyle/>
          <a:p>
            <a:pPr indent="0" marL="0">
              <a:buNone/>
            </a:pPr>
            <a:r>
              <a:rPr lang="en-US" sz="1250" b="1" dirty="0">
                <a:solidFill>
                  <a:srgbClr val="273044"/>
                </a:solidFill>
                <a:latin typeface="Calibri" pitchFamily="34" charset="0"/>
                <a:ea typeface="Calibri" pitchFamily="34" charset="-122"/>
                <a:cs typeface="Calibri" pitchFamily="34" charset="-120"/>
              </a:rPr>
              <a:t>Why this matters: </a:t>
            </a:r>
            <a:pPr indent="0" marL="0">
              <a:buNone/>
            </a:pPr>
            <a:r>
              <a:rPr lang="en-US" sz="1250" dirty="0">
                <a:solidFill>
                  <a:srgbClr val="273044"/>
                </a:solidFill>
                <a:latin typeface="Calibri" pitchFamily="34" charset="0"/>
                <a:ea typeface="Calibri" pitchFamily="34" charset="-122"/>
                <a:cs typeface="Calibri" pitchFamily="34" charset="-120"/>
              </a:rPr>
              <a:t>a model is a perishable asset. Data changes (cameras, lighting, user behavior), and accuracy decays silently unless the production system itself measures inputs and predictions and raises its hand. This project implements every box above with real tools — no simulated steps.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SCOPE</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Goals, constraints, and success criteria</a:t>
            </a:r>
            <a:endParaRPr lang="en-US" sz="2700" dirty="0"/>
          </a:p>
        </p:txBody>
      </p:sp>
      <p:sp>
        <p:nvSpPr>
          <p:cNvPr id="4" name="Shape 2"/>
          <p:cNvSpPr/>
          <p:nvPr/>
        </p:nvSpPr>
        <p:spPr>
          <a:xfrm>
            <a:off x="566928" y="1426464"/>
            <a:ext cx="548640" cy="548640"/>
          </a:xfrm>
          <a:prstGeom prst="ellipse">
            <a:avLst/>
          </a:prstGeom>
          <a:solidFill>
            <a:srgbClr val="FFFFFF"/>
          </a:solidFill>
          <a:ln w="9525">
            <a:solidFill>
              <a:srgbClr val="DCE4F2"/>
            </a:solidFill>
            <a:prstDash val="solid"/>
          </a:ln>
        </p:spPr>
      </p:sp>
      <p:pic>
        <p:nvPicPr>
          <p:cNvPr id="5" name="Image 0" descr="deck-assets/gear.png">    </p:cNvPr>
          <p:cNvPicPr>
            <a:picLocks noChangeAspect="1"/>
          </p:cNvPicPr>
          <p:nvPr/>
        </p:nvPicPr>
        <p:blipFill>
          <a:blip r:embed="rId1"/>
          <a:stretch>
            <a:fillRect/>
          </a:stretch>
        </p:blipFill>
        <p:spPr>
          <a:xfrm>
            <a:off x="671170" y="1530706"/>
            <a:ext cx="340157" cy="340157"/>
          </a:xfrm>
          <a:prstGeom prst="rect">
            <a:avLst/>
          </a:prstGeom>
        </p:spPr>
      </p:pic>
      <p:sp>
        <p:nvSpPr>
          <p:cNvPr id="6" name="Text 3"/>
          <p:cNvSpPr/>
          <p:nvPr/>
        </p:nvSpPr>
        <p:spPr>
          <a:xfrm>
            <a:off x="1325880" y="1371600"/>
            <a:ext cx="640080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Stand up the complete loop in half a day</a:t>
            </a:r>
            <a:endParaRPr lang="en-US" sz="1500" dirty="0"/>
          </a:p>
        </p:txBody>
      </p:sp>
      <p:sp>
        <p:nvSpPr>
          <p:cNvPr id="7" name="Text 4"/>
          <p:cNvSpPr/>
          <p:nvPr/>
        </p:nvSpPr>
        <p:spPr>
          <a:xfrm>
            <a:off x="1325880" y="1700784"/>
            <a:ext cx="6400800" cy="731520"/>
          </a:xfrm>
          <a:prstGeom prst="rect">
            <a:avLst/>
          </a:prstGeom>
          <a:noFill/>
          <a:ln/>
        </p:spPr>
        <p:txBody>
          <a:bodyPr wrap="square" lIns="0" tIns="0" rIns="0" bIns="0" rtlCol="0" anchor="t"/>
          <a:lstStyle/>
          <a:p>
            <a:pPr indent="0" marL="0">
              <a:buNone/>
            </a:pPr>
            <a:r>
              <a:rPr lang="en-US" sz="1150" dirty="0">
                <a:solidFill>
                  <a:srgbClr val="63708A"/>
                </a:solidFill>
                <a:latin typeface="Calibri" pitchFamily="34" charset="0"/>
                <a:ea typeface="Calibri" pitchFamily="34" charset="-122"/>
                <a:cs typeface="Calibri" pitchFamily="34" charset="-120"/>
              </a:rPr>
              <a:t>Every stage scripted as a make target; the 20-minute EKS build runs in parallel with local training.</a:t>
            </a:r>
            <a:endParaRPr lang="en-US" sz="1150" dirty="0"/>
          </a:p>
        </p:txBody>
      </p:sp>
      <p:sp>
        <p:nvSpPr>
          <p:cNvPr id="8" name="Shape 5"/>
          <p:cNvSpPr/>
          <p:nvPr/>
        </p:nvSpPr>
        <p:spPr>
          <a:xfrm>
            <a:off x="566928" y="2633472"/>
            <a:ext cx="548640" cy="548640"/>
          </a:xfrm>
          <a:prstGeom prst="ellipse">
            <a:avLst/>
          </a:prstGeom>
          <a:solidFill>
            <a:srgbClr val="FFFFFF"/>
          </a:solidFill>
          <a:ln w="9525">
            <a:solidFill>
              <a:srgbClr val="DCE4F2"/>
            </a:solidFill>
            <a:prstDash val="solid"/>
          </a:ln>
        </p:spPr>
      </p:sp>
      <p:pic>
        <p:nvPicPr>
          <p:cNvPr id="9" name="Image 1" descr="deck-assets/python.png">    </p:cNvPr>
          <p:cNvPicPr>
            <a:picLocks noChangeAspect="1"/>
          </p:cNvPicPr>
          <p:nvPr/>
        </p:nvPicPr>
        <p:blipFill>
          <a:blip r:embed="rId2"/>
          <a:stretch>
            <a:fillRect/>
          </a:stretch>
        </p:blipFill>
        <p:spPr>
          <a:xfrm>
            <a:off x="671170" y="2737714"/>
            <a:ext cx="340157" cy="340157"/>
          </a:xfrm>
          <a:prstGeom prst="rect">
            <a:avLst/>
          </a:prstGeom>
        </p:spPr>
      </p:pic>
      <p:sp>
        <p:nvSpPr>
          <p:cNvPr id="10" name="Text 6"/>
          <p:cNvSpPr/>
          <p:nvPr/>
        </p:nvSpPr>
        <p:spPr>
          <a:xfrm>
            <a:off x="1325880" y="2578608"/>
            <a:ext cx="640080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Computer vision: object / person detection</a:t>
            </a:r>
            <a:endParaRPr lang="en-US" sz="1500" dirty="0"/>
          </a:p>
        </p:txBody>
      </p:sp>
      <p:sp>
        <p:nvSpPr>
          <p:cNvPr id="11" name="Text 7"/>
          <p:cNvSpPr/>
          <p:nvPr/>
        </p:nvSpPr>
        <p:spPr>
          <a:xfrm>
            <a:off x="1325880" y="2907792"/>
            <a:ext cx="6400800" cy="731520"/>
          </a:xfrm>
          <a:prstGeom prst="rect">
            <a:avLst/>
          </a:prstGeom>
          <a:noFill/>
          <a:ln/>
        </p:spPr>
        <p:txBody>
          <a:bodyPr wrap="square" lIns="0" tIns="0" rIns="0" bIns="0" rtlCol="0" anchor="t"/>
          <a:lstStyle/>
          <a:p>
            <a:pPr indent="0" marL="0">
              <a:buNone/>
            </a:pPr>
            <a:r>
              <a:rPr lang="en-US" sz="1150" dirty="0">
                <a:solidFill>
                  <a:srgbClr val="63708A"/>
                </a:solidFill>
                <a:latin typeface="Calibri" pitchFamily="34" charset="0"/>
                <a:ea typeface="Calibri" pitchFamily="34" charset="-122"/>
                <a:cs typeface="Calibri" pitchFamily="34" charset="-120"/>
              </a:rPr>
              <a:t>YOLOv8n fine-tuned via transfer learning — realistic model, small enough to train on a laptop CPU in minutes.</a:t>
            </a:r>
            <a:endParaRPr lang="en-US" sz="1150" dirty="0"/>
          </a:p>
        </p:txBody>
      </p:sp>
      <p:sp>
        <p:nvSpPr>
          <p:cNvPr id="12" name="Shape 8"/>
          <p:cNvSpPr/>
          <p:nvPr/>
        </p:nvSpPr>
        <p:spPr>
          <a:xfrm>
            <a:off x="566928" y="3840480"/>
            <a:ext cx="548640" cy="548640"/>
          </a:xfrm>
          <a:prstGeom prst="ellipse">
            <a:avLst/>
          </a:prstGeom>
          <a:solidFill>
            <a:srgbClr val="FFFFFF"/>
          </a:solidFill>
          <a:ln w="9525">
            <a:solidFill>
              <a:srgbClr val="DCE4F2"/>
            </a:solidFill>
            <a:prstDash val="solid"/>
          </a:ln>
        </p:spPr>
      </p:sp>
      <p:pic>
        <p:nvPicPr>
          <p:cNvPr id="13" name="Image 2" descr="deck-assets/aws.png">    </p:cNvPr>
          <p:cNvPicPr>
            <a:picLocks noChangeAspect="1"/>
          </p:cNvPicPr>
          <p:nvPr/>
        </p:nvPicPr>
        <p:blipFill>
          <a:blip r:embed="rId3"/>
          <a:stretch>
            <a:fillRect/>
          </a:stretch>
        </p:blipFill>
        <p:spPr>
          <a:xfrm>
            <a:off x="671170" y="3944722"/>
            <a:ext cx="340157" cy="340157"/>
          </a:xfrm>
          <a:prstGeom prst="rect">
            <a:avLst/>
          </a:prstGeom>
        </p:spPr>
      </p:pic>
      <p:sp>
        <p:nvSpPr>
          <p:cNvPr id="14" name="Text 9"/>
          <p:cNvSpPr/>
          <p:nvPr/>
        </p:nvSpPr>
        <p:spPr>
          <a:xfrm>
            <a:off x="1325880" y="3785616"/>
            <a:ext cx="640080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Hybrid buy vs make</a:t>
            </a:r>
            <a:endParaRPr lang="en-US" sz="1500" dirty="0"/>
          </a:p>
        </p:txBody>
      </p:sp>
      <p:sp>
        <p:nvSpPr>
          <p:cNvPr id="15" name="Text 10"/>
          <p:cNvSpPr/>
          <p:nvPr/>
        </p:nvSpPr>
        <p:spPr>
          <a:xfrm>
            <a:off x="1325880" y="4114800"/>
            <a:ext cx="6400800" cy="731520"/>
          </a:xfrm>
          <a:prstGeom prst="rect">
            <a:avLst/>
          </a:prstGeom>
          <a:noFill/>
          <a:ln/>
        </p:spPr>
        <p:txBody>
          <a:bodyPr wrap="square" lIns="0" tIns="0" rIns="0" bIns="0" rtlCol="0" anchor="t"/>
          <a:lstStyle/>
          <a:p>
            <a:pPr indent="0" marL="0">
              <a:buNone/>
            </a:pPr>
            <a:r>
              <a:rPr lang="en-US" sz="1150" dirty="0">
                <a:solidFill>
                  <a:srgbClr val="63708A"/>
                </a:solidFill>
                <a:latin typeface="Calibri" pitchFamily="34" charset="0"/>
                <a:ea typeface="Calibri" pitchFamily="34" charset="-122"/>
                <a:cs typeface="Calibri" pitchFamily="34" charset="-120"/>
              </a:rPr>
              <a:t>Buy pretrained weights + managed infra (EKS, ECR, S3, CI runners). Make the serving, metrics, and drift logic — the differentiating layers.</a:t>
            </a:r>
            <a:endParaRPr lang="en-US" sz="1150" dirty="0"/>
          </a:p>
        </p:txBody>
      </p:sp>
      <p:sp>
        <p:nvSpPr>
          <p:cNvPr id="16" name="Shape 11"/>
          <p:cNvSpPr/>
          <p:nvPr/>
        </p:nvSpPr>
        <p:spPr>
          <a:xfrm>
            <a:off x="566928" y="5047488"/>
            <a:ext cx="548640" cy="548640"/>
          </a:xfrm>
          <a:prstGeom prst="ellipse">
            <a:avLst/>
          </a:prstGeom>
          <a:solidFill>
            <a:srgbClr val="FFFFFF"/>
          </a:solidFill>
          <a:ln w="9525">
            <a:solidFill>
              <a:srgbClr val="DCE4F2"/>
            </a:solidFill>
            <a:prstDash val="solid"/>
          </a:ln>
        </p:spPr>
      </p:sp>
      <p:pic>
        <p:nvPicPr>
          <p:cNvPr id="17" name="Image 3" descr="deck-assets/alert.png">    </p:cNvPr>
          <p:cNvPicPr>
            <a:picLocks noChangeAspect="1"/>
          </p:cNvPicPr>
          <p:nvPr/>
        </p:nvPicPr>
        <p:blipFill>
          <a:blip r:embed="rId4"/>
          <a:stretch>
            <a:fillRect/>
          </a:stretch>
        </p:blipFill>
        <p:spPr>
          <a:xfrm>
            <a:off x="671170" y="5151730"/>
            <a:ext cx="340157" cy="340157"/>
          </a:xfrm>
          <a:prstGeom prst="rect">
            <a:avLst/>
          </a:prstGeom>
        </p:spPr>
      </p:pic>
      <p:sp>
        <p:nvSpPr>
          <p:cNvPr id="18" name="Text 12"/>
          <p:cNvSpPr/>
          <p:nvPr/>
        </p:nvSpPr>
        <p:spPr>
          <a:xfrm>
            <a:off x="1325880" y="4992624"/>
            <a:ext cx="6400800" cy="310896"/>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Real, provable maintenance story</a:t>
            </a:r>
            <a:endParaRPr lang="en-US" sz="1500" dirty="0"/>
          </a:p>
        </p:txBody>
      </p:sp>
      <p:sp>
        <p:nvSpPr>
          <p:cNvPr id="19" name="Text 13"/>
          <p:cNvSpPr/>
          <p:nvPr/>
        </p:nvSpPr>
        <p:spPr>
          <a:xfrm>
            <a:off x="1325880" y="5321808"/>
            <a:ext cx="6400800" cy="731520"/>
          </a:xfrm>
          <a:prstGeom prst="rect">
            <a:avLst/>
          </a:prstGeom>
          <a:noFill/>
          <a:ln/>
        </p:spPr>
        <p:txBody>
          <a:bodyPr wrap="square" lIns="0" tIns="0" rIns="0" bIns="0" rtlCol="0" anchor="t"/>
          <a:lstStyle/>
          <a:p>
            <a:pPr indent="0" marL="0">
              <a:buNone/>
            </a:pPr>
            <a:r>
              <a:rPr lang="en-US" sz="1150" dirty="0">
                <a:solidFill>
                  <a:srgbClr val="63708A"/>
                </a:solidFill>
                <a:latin typeface="Calibri" pitchFamily="34" charset="0"/>
                <a:ea typeface="Calibri" pitchFamily="34" charset="-122"/>
                <a:cs typeface="Calibri" pitchFamily="34" charset="-120"/>
              </a:rPr>
              <a:t>Not a slide about drift — an hourly detector whose alert actually fired when input data shifted.</a:t>
            </a:r>
            <a:endParaRPr lang="en-US" sz="1150" dirty="0"/>
          </a:p>
        </p:txBody>
      </p:sp>
      <p:sp>
        <p:nvSpPr>
          <p:cNvPr id="20" name="Shape 14"/>
          <p:cNvSpPr/>
          <p:nvPr/>
        </p:nvSpPr>
        <p:spPr>
          <a:xfrm>
            <a:off x="8092440" y="1371600"/>
            <a:ext cx="3657600" cy="4663440"/>
          </a:xfrm>
          <a:prstGeom prst="roundRect">
            <a:avLst>
              <a:gd name="adj" fmla="val 1750"/>
            </a:avLst>
          </a:prstGeom>
          <a:solidFill>
            <a:srgbClr val="1E2761"/>
          </a:solidFill>
          <a:ln w="9525">
            <a:solidFill>
              <a:srgbClr val="DCE4F2"/>
            </a:solidFill>
            <a:prstDash val="solid"/>
          </a:ln>
        </p:spPr>
      </p:sp>
      <p:sp>
        <p:nvSpPr>
          <p:cNvPr id="21" name="Text 15"/>
          <p:cNvSpPr/>
          <p:nvPr/>
        </p:nvSpPr>
        <p:spPr>
          <a:xfrm>
            <a:off x="8321040" y="1572768"/>
            <a:ext cx="3200400" cy="274320"/>
          </a:xfrm>
          <a:prstGeom prst="rect">
            <a:avLst/>
          </a:prstGeom>
          <a:noFill/>
          <a:ln/>
        </p:spPr>
        <p:txBody>
          <a:bodyPr wrap="square" lIns="0" tIns="0" rIns="0" bIns="0" rtlCol="0" anchor="ctr"/>
          <a:lstStyle/>
          <a:p>
            <a:pPr indent="0" marL="0">
              <a:buNone/>
            </a:pPr>
            <a:r>
              <a:rPr lang="en-US" sz="1100" b="1" spc="200" kern="0" dirty="0">
                <a:solidFill>
                  <a:srgbClr val="CADCFC"/>
                </a:solidFill>
                <a:latin typeface="Calibri" pitchFamily="34" charset="0"/>
                <a:ea typeface="Calibri" pitchFamily="34" charset="-122"/>
                <a:cs typeface="Calibri" pitchFamily="34" charset="-120"/>
              </a:rPr>
              <a:t>SUCCESS CRITERIA</a:t>
            </a:r>
            <a:endParaRPr lang="en-US" sz="1100" dirty="0"/>
          </a:p>
        </p:txBody>
      </p:sp>
      <p:sp>
        <p:nvSpPr>
          <p:cNvPr id="22" name="Text 16"/>
          <p:cNvSpPr/>
          <p:nvPr/>
        </p:nvSpPr>
        <p:spPr>
          <a:xfrm>
            <a:off x="8321040" y="1965960"/>
            <a:ext cx="3246120" cy="3840480"/>
          </a:xfrm>
          <a:prstGeom prst="rect">
            <a:avLst/>
          </a:prstGeom>
          <a:noFill/>
          <a:ln/>
        </p:spPr>
        <p:txBody>
          <a:bodyPr wrap="square" lIns="0" tIns="0" rIns="0" bIns="0" rtlCol="0" anchor="t"/>
          <a:lstStyle/>
          <a:p>
            <a:pPr marL="127000" indent="-127000">
              <a:spcAft>
                <a:spcPts val="800"/>
              </a:spcAft>
              <a:buSzPct val="100000"/>
              <a:buChar char="•"/>
            </a:pPr>
            <a:r>
              <a:rPr lang="en-US" sz="1200" dirty="0">
                <a:solidFill>
                  <a:srgbClr val="273044"/>
                </a:solidFill>
                <a:latin typeface="Calibri" pitchFamily="34" charset="0"/>
                <a:ea typeface="Calibri" pitchFamily="34" charset="-122"/>
                <a:cs typeface="Calibri" pitchFamily="34" charset="-120"/>
              </a:rPr>
              <a:t>Model passes an automated mAP gate before it can be registered</a:t>
            </a:r>
            <a:endParaRPr lang="en-US" sz="1200" dirty="0"/>
          </a:p>
          <a:p>
            <a:pPr marL="127000" indent="-127000">
              <a:spcAft>
                <a:spcPts val="800"/>
              </a:spcAft>
              <a:buSzPct val="100000"/>
              <a:buChar char="•"/>
            </a:pPr>
            <a:r>
              <a:rPr lang="en-US" sz="1200" dirty="0">
                <a:solidFill>
                  <a:srgbClr val="273044"/>
                </a:solidFill>
                <a:latin typeface="Calibri" pitchFamily="34" charset="0"/>
                <a:ea typeface="Calibri" pitchFamily="34" charset="-122"/>
                <a:cs typeface="Calibri" pitchFamily="34" charset="-120"/>
              </a:rPr>
              <a:t>One command deploys a registered model to the cluster</a:t>
            </a:r>
            <a:endParaRPr lang="en-US" sz="1200" dirty="0"/>
          </a:p>
          <a:p>
            <a:pPr marL="127000" indent="-127000">
              <a:spcAft>
                <a:spcPts val="800"/>
              </a:spcAft>
              <a:buSzPct val="100000"/>
              <a:buChar char="•"/>
            </a:pPr>
            <a:r>
              <a:rPr lang="en-US" sz="1200" dirty="0">
                <a:solidFill>
                  <a:srgbClr val="273044"/>
                </a:solidFill>
                <a:latin typeface="Calibri" pitchFamily="34" charset="0"/>
                <a:ea typeface="Calibri" pitchFamily="34" charset="-122"/>
                <a:cs typeface="Calibri" pitchFamily="34" charset="-120"/>
              </a:rPr>
              <a:t>Grafana shows model metrics (latency, classes, confidence) within minutes of traffic</a:t>
            </a:r>
            <a:endParaRPr lang="en-US" sz="1200" dirty="0"/>
          </a:p>
          <a:p>
            <a:pPr marL="127000" indent="-127000">
              <a:spcAft>
                <a:spcPts val="800"/>
              </a:spcAft>
              <a:buSzPct val="100000"/>
              <a:buChar char="•"/>
            </a:pPr>
            <a:r>
              <a:rPr lang="en-US" sz="1200" dirty="0">
                <a:solidFill>
                  <a:srgbClr val="273044"/>
                </a:solidFill>
                <a:latin typeface="Calibri" pitchFamily="34" charset="0"/>
                <a:ea typeface="Calibri" pitchFamily="34" charset="-122"/>
                <a:cs typeface="Calibri" pitchFamily="34" charset="-120"/>
              </a:rPr>
              <a:t>Injected distribution shift raises a firing alert without human polling</a:t>
            </a:r>
            <a:endParaRPr lang="en-US" sz="1200" dirty="0"/>
          </a:p>
          <a:p>
            <a:pPr marL="127000" indent="-127000">
              <a:spcAft>
                <a:spcPts val="800"/>
              </a:spcAft>
              <a:buSzPct val="100000"/>
              <a:buChar char="•"/>
            </a:pPr>
            <a:r>
              <a:rPr lang="en-US" sz="1200" dirty="0">
                <a:solidFill>
                  <a:srgbClr val="273044"/>
                </a:solidFill>
                <a:latin typeface="Calibri" pitchFamily="34" charset="0"/>
                <a:ea typeface="Calibri" pitchFamily="34" charset="-122"/>
                <a:cs typeface="Calibri" pitchFamily="34" charset="-120"/>
              </a:rPr>
              <a:t>Full teardown to zero standing cost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ARCHITECTURE</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End-to-end system on AWS</a:t>
            </a:r>
            <a:endParaRPr lang="en-US" sz="2700" dirty="0"/>
          </a:p>
        </p:txBody>
      </p:sp>
      <p:sp>
        <p:nvSpPr>
          <p:cNvPr id="4" name="Shape 2"/>
          <p:cNvSpPr/>
          <p:nvPr/>
        </p:nvSpPr>
        <p:spPr>
          <a:xfrm>
            <a:off x="457200" y="1298448"/>
            <a:ext cx="3108960" cy="5074920"/>
          </a:xfrm>
          <a:prstGeom prst="roundRect">
            <a:avLst>
              <a:gd name="adj" fmla="val 2059"/>
            </a:avLst>
          </a:prstGeom>
          <a:solidFill>
            <a:srgbClr val="FFFFFF"/>
          </a:solidFill>
          <a:ln w="9525">
            <a:solidFill>
              <a:srgbClr val="DCE4F2"/>
            </a:solidFill>
            <a:prstDash val="solid"/>
          </a:ln>
        </p:spPr>
      </p:sp>
      <p:sp>
        <p:nvSpPr>
          <p:cNvPr id="5" name="Text 3"/>
          <p:cNvSpPr/>
          <p:nvPr/>
        </p:nvSpPr>
        <p:spPr>
          <a:xfrm>
            <a:off x="621792" y="1408176"/>
            <a:ext cx="2743200" cy="256032"/>
          </a:xfrm>
          <a:prstGeom prst="rect">
            <a:avLst/>
          </a:prstGeom>
          <a:noFill/>
          <a:ln/>
        </p:spPr>
        <p:txBody>
          <a:bodyPr wrap="square" lIns="0" tIns="0" rIns="0" bIns="0" rtlCol="0" anchor="ctr"/>
          <a:lstStyle/>
          <a:p>
            <a:pPr indent="0" marL="0">
              <a:buNone/>
            </a:pPr>
            <a:r>
              <a:rPr lang="en-US" sz="1000" b="1" spc="150" kern="0" dirty="0">
                <a:solidFill>
                  <a:srgbClr val="63708A"/>
                </a:solidFill>
                <a:latin typeface="Calibri" pitchFamily="34" charset="0"/>
                <a:ea typeface="Calibri" pitchFamily="34" charset="-122"/>
                <a:cs typeface="Calibri" pitchFamily="34" charset="-120"/>
              </a:rPr>
              <a:t>DEV WORKSTATION (WSL2)</a:t>
            </a:r>
            <a:endParaRPr lang="en-US" sz="1000" dirty="0"/>
          </a:p>
        </p:txBody>
      </p:sp>
      <p:sp>
        <p:nvSpPr>
          <p:cNvPr id="6" name="Shape 4"/>
          <p:cNvSpPr/>
          <p:nvPr/>
        </p:nvSpPr>
        <p:spPr>
          <a:xfrm>
            <a:off x="3749040" y="1298448"/>
            <a:ext cx="2377440" cy="5074920"/>
          </a:xfrm>
          <a:prstGeom prst="roundRect">
            <a:avLst>
              <a:gd name="adj" fmla="val 2692"/>
            </a:avLst>
          </a:prstGeom>
          <a:solidFill>
            <a:srgbClr val="FFFFFF"/>
          </a:solidFill>
          <a:ln w="9525">
            <a:solidFill>
              <a:srgbClr val="DCE4F2"/>
            </a:solidFill>
            <a:prstDash val="solid"/>
          </a:ln>
        </p:spPr>
      </p:sp>
      <p:sp>
        <p:nvSpPr>
          <p:cNvPr id="7" name="Text 5"/>
          <p:cNvSpPr/>
          <p:nvPr/>
        </p:nvSpPr>
        <p:spPr>
          <a:xfrm>
            <a:off x="3913632" y="1408176"/>
            <a:ext cx="2103120" cy="256032"/>
          </a:xfrm>
          <a:prstGeom prst="rect">
            <a:avLst/>
          </a:prstGeom>
          <a:noFill/>
          <a:ln/>
        </p:spPr>
        <p:txBody>
          <a:bodyPr wrap="square" lIns="0" tIns="0" rIns="0" bIns="0" rtlCol="0" anchor="ctr"/>
          <a:lstStyle/>
          <a:p>
            <a:pPr indent="0" marL="0">
              <a:buNone/>
            </a:pPr>
            <a:r>
              <a:rPr lang="en-US" sz="1000" b="1" spc="150" kern="0" dirty="0">
                <a:solidFill>
                  <a:srgbClr val="63708A"/>
                </a:solidFill>
                <a:latin typeface="Calibri" pitchFamily="34" charset="0"/>
                <a:ea typeface="Calibri" pitchFamily="34" charset="-122"/>
                <a:cs typeface="Calibri" pitchFamily="34" charset="-120"/>
              </a:rPr>
              <a:t>CI/CD + REGISTRIES</a:t>
            </a:r>
            <a:endParaRPr lang="en-US" sz="1000" dirty="0"/>
          </a:p>
        </p:txBody>
      </p:sp>
      <p:sp>
        <p:nvSpPr>
          <p:cNvPr id="8" name="Shape 6"/>
          <p:cNvSpPr/>
          <p:nvPr/>
        </p:nvSpPr>
        <p:spPr>
          <a:xfrm>
            <a:off x="6309360" y="1298448"/>
            <a:ext cx="5440680" cy="5074920"/>
          </a:xfrm>
          <a:prstGeom prst="roundRect">
            <a:avLst>
              <a:gd name="adj" fmla="val 1261"/>
            </a:avLst>
          </a:prstGeom>
          <a:solidFill>
            <a:srgbClr val="F0F4FB"/>
          </a:solidFill>
          <a:ln w="9525">
            <a:solidFill>
              <a:srgbClr val="DCE4F2"/>
            </a:solidFill>
            <a:prstDash val="solid"/>
          </a:ln>
        </p:spPr>
      </p:sp>
      <p:sp>
        <p:nvSpPr>
          <p:cNvPr id="9" name="Text 7"/>
          <p:cNvSpPr/>
          <p:nvPr/>
        </p:nvSpPr>
        <p:spPr>
          <a:xfrm>
            <a:off x="6473952" y="1408176"/>
            <a:ext cx="5120640" cy="256032"/>
          </a:xfrm>
          <a:prstGeom prst="rect">
            <a:avLst/>
          </a:prstGeom>
          <a:noFill/>
          <a:ln/>
        </p:spPr>
        <p:txBody>
          <a:bodyPr wrap="square" lIns="0" tIns="0" rIns="0" bIns="0" rtlCol="0" anchor="ctr"/>
          <a:lstStyle/>
          <a:p>
            <a:pPr indent="0" marL="0">
              <a:buNone/>
            </a:pPr>
            <a:r>
              <a:rPr lang="en-US" sz="1000" b="1" spc="150" kern="0" dirty="0">
                <a:solidFill>
                  <a:srgbClr val="63708A"/>
                </a:solidFill>
                <a:latin typeface="Calibri" pitchFamily="34" charset="0"/>
                <a:ea typeface="Calibri" pitchFamily="34" charset="-122"/>
                <a:cs typeface="Calibri" pitchFamily="34" charset="-120"/>
              </a:rPr>
              <a:t>AWS EKS CLUSTER  ·  namespace: mlops / monitoring</a:t>
            </a:r>
            <a:endParaRPr lang="en-US" sz="1000" dirty="0"/>
          </a:p>
        </p:txBody>
      </p:sp>
      <p:sp>
        <p:nvSpPr>
          <p:cNvPr id="10" name="Shape 8"/>
          <p:cNvSpPr/>
          <p:nvPr/>
        </p:nvSpPr>
        <p:spPr>
          <a:xfrm>
            <a:off x="658368" y="1783080"/>
            <a:ext cx="1325880" cy="1051560"/>
          </a:xfrm>
          <a:prstGeom prst="roundRect">
            <a:avLst>
              <a:gd name="adj" fmla="val 6087"/>
            </a:avLst>
          </a:prstGeom>
          <a:solidFill>
            <a:srgbClr val="FFFFFF"/>
          </a:solidFill>
          <a:ln w="9525">
            <a:solidFill>
              <a:srgbClr val="DCE4F2"/>
            </a:solidFill>
            <a:prstDash val="solid"/>
          </a:ln>
        </p:spPr>
      </p:sp>
      <p:pic>
        <p:nvPicPr>
          <p:cNvPr id="11" name="Image 0" descr="deck-assets/ultralytics.png">    </p:cNvPr>
          <p:cNvPicPr>
            <a:picLocks noChangeAspect="1"/>
          </p:cNvPicPr>
          <p:nvPr/>
        </p:nvPicPr>
        <p:blipFill>
          <a:blip r:embed="rId1"/>
          <a:stretch>
            <a:fillRect/>
          </a:stretch>
        </p:blipFill>
        <p:spPr>
          <a:xfrm>
            <a:off x="1129284" y="1892808"/>
            <a:ext cx="384048" cy="384048"/>
          </a:xfrm>
          <a:prstGeom prst="rect">
            <a:avLst/>
          </a:prstGeom>
        </p:spPr>
      </p:pic>
      <p:sp>
        <p:nvSpPr>
          <p:cNvPr id="12" name="Text 9"/>
          <p:cNvSpPr/>
          <p:nvPr/>
        </p:nvSpPr>
        <p:spPr>
          <a:xfrm>
            <a:off x="694944" y="2295144"/>
            <a:ext cx="125272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train.py</a:t>
            </a:r>
            <a:endParaRPr lang="en-US" sz="1100" dirty="0"/>
          </a:p>
        </p:txBody>
      </p:sp>
      <p:sp>
        <p:nvSpPr>
          <p:cNvPr id="13" name="Text 10"/>
          <p:cNvSpPr/>
          <p:nvPr/>
        </p:nvSpPr>
        <p:spPr>
          <a:xfrm>
            <a:off x="694944" y="2569464"/>
            <a:ext cx="125272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YOLOv8n fine-tune</a:t>
            </a:r>
            <a:endParaRPr lang="en-US" sz="850" dirty="0"/>
          </a:p>
        </p:txBody>
      </p:sp>
      <p:sp>
        <p:nvSpPr>
          <p:cNvPr id="14" name="Shape 11"/>
          <p:cNvSpPr/>
          <p:nvPr/>
        </p:nvSpPr>
        <p:spPr>
          <a:xfrm>
            <a:off x="2103120" y="1783080"/>
            <a:ext cx="1325880" cy="1051560"/>
          </a:xfrm>
          <a:prstGeom prst="roundRect">
            <a:avLst>
              <a:gd name="adj" fmla="val 6087"/>
            </a:avLst>
          </a:prstGeom>
          <a:solidFill>
            <a:srgbClr val="FFFFFF"/>
          </a:solidFill>
          <a:ln w="9525">
            <a:solidFill>
              <a:srgbClr val="DCE4F2"/>
            </a:solidFill>
            <a:prstDash val="solid"/>
          </a:ln>
        </p:spPr>
      </p:sp>
      <p:pic>
        <p:nvPicPr>
          <p:cNvPr id="15" name="Image 1" descr="deck-assets/onnx.png">    </p:cNvPr>
          <p:cNvPicPr>
            <a:picLocks noChangeAspect="1"/>
          </p:cNvPicPr>
          <p:nvPr/>
        </p:nvPicPr>
        <p:blipFill>
          <a:blip r:embed="rId2"/>
          <a:stretch>
            <a:fillRect/>
          </a:stretch>
        </p:blipFill>
        <p:spPr>
          <a:xfrm>
            <a:off x="2574036" y="1892808"/>
            <a:ext cx="384048" cy="384048"/>
          </a:xfrm>
          <a:prstGeom prst="rect">
            <a:avLst/>
          </a:prstGeom>
        </p:spPr>
      </p:pic>
      <p:sp>
        <p:nvSpPr>
          <p:cNvPr id="16" name="Text 12"/>
          <p:cNvSpPr/>
          <p:nvPr/>
        </p:nvSpPr>
        <p:spPr>
          <a:xfrm>
            <a:off x="2139696" y="2295144"/>
            <a:ext cx="125272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ONNX export</a:t>
            </a:r>
            <a:endParaRPr lang="en-US" sz="1100" dirty="0"/>
          </a:p>
        </p:txBody>
      </p:sp>
      <p:sp>
        <p:nvSpPr>
          <p:cNvPr id="17" name="Text 13"/>
          <p:cNvSpPr/>
          <p:nvPr/>
        </p:nvSpPr>
        <p:spPr>
          <a:xfrm>
            <a:off x="2139696" y="2569464"/>
            <a:ext cx="125272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quality-gated</a:t>
            </a:r>
            <a:endParaRPr lang="en-US" sz="850" dirty="0"/>
          </a:p>
        </p:txBody>
      </p:sp>
      <p:sp>
        <p:nvSpPr>
          <p:cNvPr id="18" name="Shape 14"/>
          <p:cNvSpPr/>
          <p:nvPr/>
        </p:nvSpPr>
        <p:spPr>
          <a:xfrm>
            <a:off x="658368" y="3200400"/>
            <a:ext cx="1325880" cy="1051560"/>
          </a:xfrm>
          <a:prstGeom prst="roundRect">
            <a:avLst>
              <a:gd name="adj" fmla="val 6087"/>
            </a:avLst>
          </a:prstGeom>
          <a:solidFill>
            <a:srgbClr val="FFFFFF"/>
          </a:solidFill>
          <a:ln w="9525">
            <a:solidFill>
              <a:srgbClr val="DCE4F2"/>
            </a:solidFill>
            <a:prstDash val="solid"/>
          </a:ln>
        </p:spPr>
      </p:sp>
      <p:pic>
        <p:nvPicPr>
          <p:cNvPr id="19" name="Image 2" descr="deck-assets/dvc.png">    </p:cNvPr>
          <p:cNvPicPr>
            <a:picLocks noChangeAspect="1"/>
          </p:cNvPicPr>
          <p:nvPr/>
        </p:nvPicPr>
        <p:blipFill>
          <a:blip r:embed="rId3"/>
          <a:stretch>
            <a:fillRect/>
          </a:stretch>
        </p:blipFill>
        <p:spPr>
          <a:xfrm>
            <a:off x="1129284" y="3310128"/>
            <a:ext cx="384048" cy="384048"/>
          </a:xfrm>
          <a:prstGeom prst="rect">
            <a:avLst/>
          </a:prstGeom>
        </p:spPr>
      </p:pic>
      <p:sp>
        <p:nvSpPr>
          <p:cNvPr id="20" name="Text 15"/>
          <p:cNvSpPr/>
          <p:nvPr/>
        </p:nvSpPr>
        <p:spPr>
          <a:xfrm>
            <a:off x="694944" y="3712464"/>
            <a:ext cx="125272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DVC</a:t>
            </a:r>
            <a:endParaRPr lang="en-US" sz="1100" dirty="0"/>
          </a:p>
        </p:txBody>
      </p:sp>
      <p:sp>
        <p:nvSpPr>
          <p:cNvPr id="21" name="Text 16"/>
          <p:cNvSpPr/>
          <p:nvPr/>
        </p:nvSpPr>
        <p:spPr>
          <a:xfrm>
            <a:off x="694944" y="3986784"/>
            <a:ext cx="125272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data versioning</a:t>
            </a:r>
            <a:endParaRPr lang="en-US" sz="850" dirty="0"/>
          </a:p>
        </p:txBody>
      </p:sp>
      <p:sp>
        <p:nvSpPr>
          <p:cNvPr id="22" name="Shape 17"/>
          <p:cNvSpPr/>
          <p:nvPr/>
        </p:nvSpPr>
        <p:spPr>
          <a:xfrm>
            <a:off x="2103120" y="3200400"/>
            <a:ext cx="1325880" cy="1051560"/>
          </a:xfrm>
          <a:prstGeom prst="roundRect">
            <a:avLst>
              <a:gd name="adj" fmla="val 6087"/>
            </a:avLst>
          </a:prstGeom>
          <a:solidFill>
            <a:srgbClr val="FFFFFF"/>
          </a:solidFill>
          <a:ln w="9525">
            <a:solidFill>
              <a:srgbClr val="DCE4F2"/>
            </a:solidFill>
            <a:prstDash val="solid"/>
          </a:ln>
        </p:spPr>
      </p:sp>
      <p:pic>
        <p:nvPicPr>
          <p:cNvPr id="23" name="Image 3" descr="deck-assets/docker.png">    </p:cNvPr>
          <p:cNvPicPr>
            <a:picLocks noChangeAspect="1"/>
          </p:cNvPicPr>
          <p:nvPr/>
        </p:nvPicPr>
        <p:blipFill>
          <a:blip r:embed="rId4"/>
          <a:stretch>
            <a:fillRect/>
          </a:stretch>
        </p:blipFill>
        <p:spPr>
          <a:xfrm>
            <a:off x="2574036" y="3310128"/>
            <a:ext cx="384048" cy="384048"/>
          </a:xfrm>
          <a:prstGeom prst="rect">
            <a:avLst/>
          </a:prstGeom>
        </p:spPr>
      </p:pic>
      <p:sp>
        <p:nvSpPr>
          <p:cNvPr id="24" name="Text 18"/>
          <p:cNvSpPr/>
          <p:nvPr/>
        </p:nvSpPr>
        <p:spPr>
          <a:xfrm>
            <a:off x="2139696" y="3712464"/>
            <a:ext cx="125272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docker build</a:t>
            </a:r>
            <a:endParaRPr lang="en-US" sz="1100" dirty="0"/>
          </a:p>
        </p:txBody>
      </p:sp>
      <p:sp>
        <p:nvSpPr>
          <p:cNvPr id="25" name="Text 19"/>
          <p:cNvSpPr/>
          <p:nvPr/>
        </p:nvSpPr>
        <p:spPr>
          <a:xfrm>
            <a:off x="2139696" y="3986784"/>
            <a:ext cx="125272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serving + drift</a:t>
            </a:r>
            <a:endParaRPr lang="en-US" sz="850" dirty="0"/>
          </a:p>
        </p:txBody>
      </p:sp>
      <p:sp>
        <p:nvSpPr>
          <p:cNvPr id="26" name="Shape 20"/>
          <p:cNvSpPr/>
          <p:nvPr/>
        </p:nvSpPr>
        <p:spPr>
          <a:xfrm>
            <a:off x="658368" y="4617720"/>
            <a:ext cx="2770632" cy="1051560"/>
          </a:xfrm>
          <a:prstGeom prst="roundRect">
            <a:avLst>
              <a:gd name="adj" fmla="val 6087"/>
            </a:avLst>
          </a:prstGeom>
          <a:solidFill>
            <a:srgbClr val="FFFFFF"/>
          </a:solidFill>
          <a:ln w="9525">
            <a:solidFill>
              <a:srgbClr val="DCE4F2"/>
            </a:solidFill>
            <a:prstDash val="solid"/>
          </a:ln>
        </p:spPr>
      </p:sp>
      <p:pic>
        <p:nvPicPr>
          <p:cNvPr id="27" name="Image 4" descr="deck-assets/github.png">    </p:cNvPr>
          <p:cNvPicPr>
            <a:picLocks noChangeAspect="1"/>
          </p:cNvPicPr>
          <p:nvPr/>
        </p:nvPicPr>
        <p:blipFill>
          <a:blip r:embed="rId5"/>
          <a:stretch>
            <a:fillRect/>
          </a:stretch>
        </p:blipFill>
        <p:spPr>
          <a:xfrm>
            <a:off x="1851660" y="4727448"/>
            <a:ext cx="384048" cy="384048"/>
          </a:xfrm>
          <a:prstGeom prst="rect">
            <a:avLst/>
          </a:prstGeom>
        </p:spPr>
      </p:pic>
      <p:sp>
        <p:nvSpPr>
          <p:cNvPr id="28" name="Text 21"/>
          <p:cNvSpPr/>
          <p:nvPr/>
        </p:nvSpPr>
        <p:spPr>
          <a:xfrm>
            <a:off x="694944" y="5129784"/>
            <a:ext cx="2697480"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GitHub Actions CI/CD</a:t>
            </a:r>
            <a:endParaRPr lang="en-US" sz="1100" dirty="0"/>
          </a:p>
        </p:txBody>
      </p:sp>
      <p:sp>
        <p:nvSpPr>
          <p:cNvPr id="29" name="Text 22"/>
          <p:cNvSpPr/>
          <p:nvPr/>
        </p:nvSpPr>
        <p:spPr>
          <a:xfrm>
            <a:off x="694944" y="5404104"/>
            <a:ext cx="2697480"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OIDC → AWS · no static keys</a:t>
            </a:r>
            <a:endParaRPr lang="en-US" sz="850" dirty="0"/>
          </a:p>
        </p:txBody>
      </p:sp>
      <p:sp>
        <p:nvSpPr>
          <p:cNvPr id="30" name="Shape 23"/>
          <p:cNvSpPr/>
          <p:nvPr/>
        </p:nvSpPr>
        <p:spPr>
          <a:xfrm>
            <a:off x="3950208" y="1783080"/>
            <a:ext cx="1965960" cy="1051560"/>
          </a:xfrm>
          <a:prstGeom prst="roundRect">
            <a:avLst>
              <a:gd name="adj" fmla="val 6087"/>
            </a:avLst>
          </a:prstGeom>
          <a:solidFill>
            <a:srgbClr val="FFFFFF"/>
          </a:solidFill>
          <a:ln w="9525">
            <a:solidFill>
              <a:srgbClr val="DCE4F2"/>
            </a:solidFill>
            <a:prstDash val="solid"/>
          </a:ln>
        </p:spPr>
      </p:sp>
      <p:pic>
        <p:nvPicPr>
          <p:cNvPr id="31" name="Image 5" descr="deck-assets/mlflow.png">    </p:cNvPr>
          <p:cNvPicPr>
            <a:picLocks noChangeAspect="1"/>
          </p:cNvPicPr>
          <p:nvPr/>
        </p:nvPicPr>
        <p:blipFill>
          <a:blip r:embed="rId6"/>
          <a:stretch>
            <a:fillRect/>
          </a:stretch>
        </p:blipFill>
        <p:spPr>
          <a:xfrm>
            <a:off x="4741164" y="1892808"/>
            <a:ext cx="384048" cy="384048"/>
          </a:xfrm>
          <a:prstGeom prst="rect">
            <a:avLst/>
          </a:prstGeom>
        </p:spPr>
      </p:pic>
      <p:sp>
        <p:nvSpPr>
          <p:cNvPr id="32" name="Text 24"/>
          <p:cNvSpPr/>
          <p:nvPr/>
        </p:nvSpPr>
        <p:spPr>
          <a:xfrm>
            <a:off x="3986784" y="2295144"/>
            <a:ext cx="189280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MLflow</a:t>
            </a:r>
            <a:endParaRPr lang="en-US" sz="1100" dirty="0"/>
          </a:p>
        </p:txBody>
      </p:sp>
      <p:sp>
        <p:nvSpPr>
          <p:cNvPr id="33" name="Text 25"/>
          <p:cNvSpPr/>
          <p:nvPr/>
        </p:nvSpPr>
        <p:spPr>
          <a:xfrm>
            <a:off x="3986784" y="2569464"/>
            <a:ext cx="189280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tracking + model registry</a:t>
            </a:r>
            <a:endParaRPr lang="en-US" sz="850" dirty="0"/>
          </a:p>
        </p:txBody>
      </p:sp>
      <p:sp>
        <p:nvSpPr>
          <p:cNvPr id="34" name="Shape 26"/>
          <p:cNvSpPr/>
          <p:nvPr/>
        </p:nvSpPr>
        <p:spPr>
          <a:xfrm>
            <a:off x="3950208" y="3200400"/>
            <a:ext cx="1965960" cy="1051560"/>
          </a:xfrm>
          <a:prstGeom prst="roundRect">
            <a:avLst>
              <a:gd name="adj" fmla="val 6087"/>
            </a:avLst>
          </a:prstGeom>
          <a:solidFill>
            <a:srgbClr val="FFFFFF"/>
          </a:solidFill>
          <a:ln w="9525">
            <a:solidFill>
              <a:srgbClr val="DCE4F2"/>
            </a:solidFill>
            <a:prstDash val="solid"/>
          </a:ln>
        </p:spPr>
      </p:sp>
      <p:sp>
        <p:nvSpPr>
          <p:cNvPr id="35" name="Shape 27"/>
          <p:cNvSpPr/>
          <p:nvPr/>
        </p:nvSpPr>
        <p:spPr>
          <a:xfrm>
            <a:off x="4549140" y="3310128"/>
            <a:ext cx="768096" cy="329184"/>
          </a:xfrm>
          <a:prstGeom prst="roundRect">
            <a:avLst>
              <a:gd name="adj" fmla="val 13889"/>
            </a:avLst>
          </a:prstGeom>
          <a:solidFill>
            <a:srgbClr val="31407A"/>
          </a:solidFill>
          <a:ln w="6350">
            <a:solidFill>
              <a:srgbClr val="31407A"/>
            </a:solidFill>
            <a:prstDash val="solid"/>
          </a:ln>
        </p:spPr>
      </p:sp>
      <p:sp>
        <p:nvSpPr>
          <p:cNvPr id="36" name="Text 28"/>
          <p:cNvSpPr/>
          <p:nvPr/>
        </p:nvSpPr>
        <p:spPr>
          <a:xfrm>
            <a:off x="4549140" y="3310128"/>
            <a:ext cx="768096"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ECR</a:t>
            </a:r>
            <a:endParaRPr lang="en-US" sz="1050" dirty="0"/>
          </a:p>
        </p:txBody>
      </p:sp>
      <p:sp>
        <p:nvSpPr>
          <p:cNvPr id="37" name="Text 29"/>
          <p:cNvSpPr/>
          <p:nvPr/>
        </p:nvSpPr>
        <p:spPr>
          <a:xfrm>
            <a:off x="3986784" y="3712464"/>
            <a:ext cx="189280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Container registry</a:t>
            </a:r>
            <a:endParaRPr lang="en-US" sz="1100" dirty="0"/>
          </a:p>
        </p:txBody>
      </p:sp>
      <p:sp>
        <p:nvSpPr>
          <p:cNvPr id="38" name="Text 30"/>
          <p:cNvSpPr/>
          <p:nvPr/>
        </p:nvSpPr>
        <p:spPr>
          <a:xfrm>
            <a:off x="3986784" y="3986784"/>
            <a:ext cx="189280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serving:latest · drift:latest</a:t>
            </a:r>
            <a:endParaRPr lang="en-US" sz="850" dirty="0"/>
          </a:p>
        </p:txBody>
      </p:sp>
      <p:sp>
        <p:nvSpPr>
          <p:cNvPr id="39" name="Shape 31"/>
          <p:cNvSpPr/>
          <p:nvPr/>
        </p:nvSpPr>
        <p:spPr>
          <a:xfrm>
            <a:off x="3950208" y="4617720"/>
            <a:ext cx="1965960" cy="1051560"/>
          </a:xfrm>
          <a:prstGeom prst="roundRect">
            <a:avLst>
              <a:gd name="adj" fmla="val 6087"/>
            </a:avLst>
          </a:prstGeom>
          <a:solidFill>
            <a:srgbClr val="FFFFFF"/>
          </a:solidFill>
          <a:ln w="9525">
            <a:solidFill>
              <a:srgbClr val="DCE4F2"/>
            </a:solidFill>
            <a:prstDash val="solid"/>
          </a:ln>
        </p:spPr>
      </p:sp>
      <p:sp>
        <p:nvSpPr>
          <p:cNvPr id="40" name="Shape 32"/>
          <p:cNvSpPr/>
          <p:nvPr/>
        </p:nvSpPr>
        <p:spPr>
          <a:xfrm>
            <a:off x="4549140" y="4727448"/>
            <a:ext cx="768096" cy="329184"/>
          </a:xfrm>
          <a:prstGeom prst="roundRect">
            <a:avLst>
              <a:gd name="adj" fmla="val 13889"/>
            </a:avLst>
          </a:prstGeom>
          <a:solidFill>
            <a:srgbClr val="31407A"/>
          </a:solidFill>
          <a:ln w="6350">
            <a:solidFill>
              <a:srgbClr val="31407A"/>
            </a:solidFill>
            <a:prstDash val="solid"/>
          </a:ln>
        </p:spPr>
      </p:sp>
      <p:sp>
        <p:nvSpPr>
          <p:cNvPr id="41" name="Text 33"/>
          <p:cNvSpPr/>
          <p:nvPr/>
        </p:nvSpPr>
        <p:spPr>
          <a:xfrm>
            <a:off x="4549140" y="4727448"/>
            <a:ext cx="768096"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S3</a:t>
            </a:r>
            <a:endParaRPr lang="en-US" sz="1050" dirty="0"/>
          </a:p>
        </p:txBody>
      </p:sp>
      <p:sp>
        <p:nvSpPr>
          <p:cNvPr id="42" name="Text 34"/>
          <p:cNvSpPr/>
          <p:nvPr/>
        </p:nvSpPr>
        <p:spPr>
          <a:xfrm>
            <a:off x="3986784" y="5129784"/>
            <a:ext cx="189280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Object storage</a:t>
            </a:r>
            <a:endParaRPr lang="en-US" sz="1100" dirty="0"/>
          </a:p>
        </p:txBody>
      </p:sp>
      <p:sp>
        <p:nvSpPr>
          <p:cNvPr id="43" name="Text 35"/>
          <p:cNvSpPr/>
          <p:nvPr/>
        </p:nvSpPr>
        <p:spPr>
          <a:xfrm>
            <a:off x="3986784" y="5404104"/>
            <a:ext cx="189280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DVC remote · datasets</a:t>
            </a:r>
            <a:endParaRPr lang="en-US" sz="850" dirty="0"/>
          </a:p>
        </p:txBody>
      </p:sp>
      <p:sp>
        <p:nvSpPr>
          <p:cNvPr id="44" name="Shape 36"/>
          <p:cNvSpPr/>
          <p:nvPr/>
        </p:nvSpPr>
        <p:spPr>
          <a:xfrm>
            <a:off x="6492240" y="1783080"/>
            <a:ext cx="1691640" cy="1051560"/>
          </a:xfrm>
          <a:prstGeom prst="roundRect">
            <a:avLst>
              <a:gd name="adj" fmla="val 6087"/>
            </a:avLst>
          </a:prstGeom>
          <a:solidFill>
            <a:srgbClr val="FFFFFF"/>
          </a:solidFill>
          <a:ln w="9525">
            <a:solidFill>
              <a:srgbClr val="DCE4F2"/>
            </a:solidFill>
            <a:prstDash val="solid"/>
          </a:ln>
        </p:spPr>
      </p:sp>
      <p:pic>
        <p:nvPicPr>
          <p:cNvPr id="45" name="Image 6" descr="deck-assets/fastapi.png">    </p:cNvPr>
          <p:cNvPicPr>
            <a:picLocks noChangeAspect="1"/>
          </p:cNvPicPr>
          <p:nvPr/>
        </p:nvPicPr>
        <p:blipFill>
          <a:blip r:embed="rId7"/>
          <a:stretch>
            <a:fillRect/>
          </a:stretch>
        </p:blipFill>
        <p:spPr>
          <a:xfrm>
            <a:off x="7146036" y="1892808"/>
            <a:ext cx="384048" cy="384048"/>
          </a:xfrm>
          <a:prstGeom prst="rect">
            <a:avLst/>
          </a:prstGeom>
        </p:spPr>
      </p:pic>
      <p:sp>
        <p:nvSpPr>
          <p:cNvPr id="46" name="Text 37"/>
          <p:cNvSpPr/>
          <p:nvPr/>
        </p:nvSpPr>
        <p:spPr>
          <a:xfrm>
            <a:off x="6528816" y="2295144"/>
            <a:ext cx="16184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cv-serving</a:t>
            </a:r>
            <a:endParaRPr lang="en-US" sz="1100" dirty="0"/>
          </a:p>
        </p:txBody>
      </p:sp>
      <p:sp>
        <p:nvSpPr>
          <p:cNvPr id="47" name="Text 38"/>
          <p:cNvSpPr/>
          <p:nvPr/>
        </p:nvSpPr>
        <p:spPr>
          <a:xfrm>
            <a:off x="6528816" y="2569464"/>
            <a:ext cx="16184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FastAPI + ONNX RT</a:t>
            </a:r>
            <a:endParaRPr lang="en-US" sz="850" dirty="0"/>
          </a:p>
        </p:txBody>
      </p:sp>
      <p:sp>
        <p:nvSpPr>
          <p:cNvPr id="48" name="Shape 39"/>
          <p:cNvSpPr/>
          <p:nvPr/>
        </p:nvSpPr>
        <p:spPr>
          <a:xfrm>
            <a:off x="8321040" y="1783080"/>
            <a:ext cx="1600200" cy="1051560"/>
          </a:xfrm>
          <a:prstGeom prst="roundRect">
            <a:avLst>
              <a:gd name="adj" fmla="val 6087"/>
            </a:avLst>
          </a:prstGeom>
          <a:solidFill>
            <a:srgbClr val="FFFFFF"/>
          </a:solidFill>
          <a:ln w="9525">
            <a:solidFill>
              <a:srgbClr val="DCE4F2"/>
            </a:solidFill>
            <a:prstDash val="solid"/>
          </a:ln>
        </p:spPr>
      </p:sp>
      <p:pic>
        <p:nvPicPr>
          <p:cNvPr id="49" name="Image 7" descr="deck-assets/prometheus.png">    </p:cNvPr>
          <p:cNvPicPr>
            <a:picLocks noChangeAspect="1"/>
          </p:cNvPicPr>
          <p:nvPr/>
        </p:nvPicPr>
        <p:blipFill>
          <a:blip r:embed="rId8"/>
          <a:stretch>
            <a:fillRect/>
          </a:stretch>
        </p:blipFill>
        <p:spPr>
          <a:xfrm>
            <a:off x="8929116" y="1892808"/>
            <a:ext cx="384048" cy="384048"/>
          </a:xfrm>
          <a:prstGeom prst="rect">
            <a:avLst/>
          </a:prstGeom>
        </p:spPr>
      </p:pic>
      <p:sp>
        <p:nvSpPr>
          <p:cNvPr id="50" name="Text 40"/>
          <p:cNvSpPr/>
          <p:nvPr/>
        </p:nvSpPr>
        <p:spPr>
          <a:xfrm>
            <a:off x="8357616" y="2295144"/>
            <a:ext cx="152704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Prometheus</a:t>
            </a:r>
            <a:endParaRPr lang="en-US" sz="1100" dirty="0"/>
          </a:p>
        </p:txBody>
      </p:sp>
      <p:sp>
        <p:nvSpPr>
          <p:cNvPr id="51" name="Text 41"/>
          <p:cNvSpPr/>
          <p:nvPr/>
        </p:nvSpPr>
        <p:spPr>
          <a:xfrm>
            <a:off x="8357616" y="2569464"/>
            <a:ext cx="152704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kube-prom-stack</a:t>
            </a:r>
            <a:endParaRPr lang="en-US" sz="850" dirty="0"/>
          </a:p>
        </p:txBody>
      </p:sp>
      <p:sp>
        <p:nvSpPr>
          <p:cNvPr id="52" name="Shape 42"/>
          <p:cNvSpPr/>
          <p:nvPr/>
        </p:nvSpPr>
        <p:spPr>
          <a:xfrm>
            <a:off x="10058400" y="1783080"/>
            <a:ext cx="1508760" cy="1051560"/>
          </a:xfrm>
          <a:prstGeom prst="roundRect">
            <a:avLst>
              <a:gd name="adj" fmla="val 6087"/>
            </a:avLst>
          </a:prstGeom>
          <a:solidFill>
            <a:srgbClr val="FFFFFF"/>
          </a:solidFill>
          <a:ln w="9525">
            <a:solidFill>
              <a:srgbClr val="DCE4F2"/>
            </a:solidFill>
            <a:prstDash val="solid"/>
          </a:ln>
        </p:spPr>
      </p:sp>
      <p:pic>
        <p:nvPicPr>
          <p:cNvPr id="53" name="Image 8" descr="deck-assets/grafana.png">    </p:cNvPr>
          <p:cNvPicPr>
            <a:picLocks noChangeAspect="1"/>
          </p:cNvPicPr>
          <p:nvPr/>
        </p:nvPicPr>
        <p:blipFill>
          <a:blip r:embed="rId9"/>
          <a:stretch>
            <a:fillRect/>
          </a:stretch>
        </p:blipFill>
        <p:spPr>
          <a:xfrm>
            <a:off x="10620756" y="1892808"/>
            <a:ext cx="384048" cy="384048"/>
          </a:xfrm>
          <a:prstGeom prst="rect">
            <a:avLst/>
          </a:prstGeom>
        </p:spPr>
      </p:pic>
      <p:sp>
        <p:nvSpPr>
          <p:cNvPr id="54" name="Text 43"/>
          <p:cNvSpPr/>
          <p:nvPr/>
        </p:nvSpPr>
        <p:spPr>
          <a:xfrm>
            <a:off x="10094976" y="2295144"/>
            <a:ext cx="143560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Grafana</a:t>
            </a:r>
            <a:endParaRPr lang="en-US" sz="1100" dirty="0"/>
          </a:p>
        </p:txBody>
      </p:sp>
      <p:sp>
        <p:nvSpPr>
          <p:cNvPr id="55" name="Text 44"/>
          <p:cNvSpPr/>
          <p:nvPr/>
        </p:nvSpPr>
        <p:spPr>
          <a:xfrm>
            <a:off x="10094976" y="2569464"/>
            <a:ext cx="143560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CV Model Ops board</a:t>
            </a:r>
            <a:endParaRPr lang="en-US" sz="850" dirty="0"/>
          </a:p>
        </p:txBody>
      </p:sp>
      <p:sp>
        <p:nvSpPr>
          <p:cNvPr id="56" name="Shape 45"/>
          <p:cNvSpPr/>
          <p:nvPr/>
        </p:nvSpPr>
        <p:spPr>
          <a:xfrm>
            <a:off x="6492240" y="3200400"/>
            <a:ext cx="1691640" cy="1051560"/>
          </a:xfrm>
          <a:prstGeom prst="roundRect">
            <a:avLst>
              <a:gd name="adj" fmla="val 6087"/>
            </a:avLst>
          </a:prstGeom>
          <a:solidFill>
            <a:srgbClr val="FFFFFF"/>
          </a:solidFill>
          <a:ln w="9525">
            <a:solidFill>
              <a:srgbClr val="DCE4F2"/>
            </a:solidFill>
            <a:prstDash val="solid"/>
          </a:ln>
        </p:spPr>
      </p:sp>
      <p:sp>
        <p:nvSpPr>
          <p:cNvPr id="57" name="Shape 46"/>
          <p:cNvSpPr/>
          <p:nvPr/>
        </p:nvSpPr>
        <p:spPr>
          <a:xfrm>
            <a:off x="6954012" y="3310128"/>
            <a:ext cx="768096" cy="329184"/>
          </a:xfrm>
          <a:prstGeom prst="roundRect">
            <a:avLst>
              <a:gd name="adj" fmla="val 13889"/>
            </a:avLst>
          </a:prstGeom>
          <a:solidFill>
            <a:srgbClr val="31407A"/>
          </a:solidFill>
          <a:ln w="6350">
            <a:solidFill>
              <a:srgbClr val="31407A"/>
            </a:solidFill>
            <a:prstDash val="solid"/>
          </a:ln>
        </p:spPr>
      </p:sp>
      <p:sp>
        <p:nvSpPr>
          <p:cNvPr id="58" name="Text 47"/>
          <p:cNvSpPr/>
          <p:nvPr/>
        </p:nvSpPr>
        <p:spPr>
          <a:xfrm>
            <a:off x="6954012" y="3310128"/>
            <a:ext cx="768096"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EVIDENTLY</a:t>
            </a:r>
            <a:endParaRPr lang="en-US" sz="1050" dirty="0"/>
          </a:p>
        </p:txBody>
      </p:sp>
      <p:sp>
        <p:nvSpPr>
          <p:cNvPr id="59" name="Text 48"/>
          <p:cNvSpPr/>
          <p:nvPr/>
        </p:nvSpPr>
        <p:spPr>
          <a:xfrm>
            <a:off x="6528816" y="3712464"/>
            <a:ext cx="16184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Drift CronJob</a:t>
            </a:r>
            <a:endParaRPr lang="en-US" sz="1100" dirty="0"/>
          </a:p>
        </p:txBody>
      </p:sp>
      <p:sp>
        <p:nvSpPr>
          <p:cNvPr id="60" name="Text 49"/>
          <p:cNvSpPr/>
          <p:nvPr/>
        </p:nvSpPr>
        <p:spPr>
          <a:xfrm>
            <a:off x="6528816" y="3986784"/>
            <a:ext cx="16184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hourly · vs reference</a:t>
            </a:r>
            <a:endParaRPr lang="en-US" sz="850" dirty="0"/>
          </a:p>
        </p:txBody>
      </p:sp>
      <p:sp>
        <p:nvSpPr>
          <p:cNvPr id="61" name="Shape 50"/>
          <p:cNvSpPr/>
          <p:nvPr/>
        </p:nvSpPr>
        <p:spPr>
          <a:xfrm>
            <a:off x="8321040" y="3200400"/>
            <a:ext cx="1600200" cy="1051560"/>
          </a:xfrm>
          <a:prstGeom prst="roundRect">
            <a:avLst>
              <a:gd name="adj" fmla="val 6087"/>
            </a:avLst>
          </a:prstGeom>
          <a:solidFill>
            <a:srgbClr val="FFFFFF"/>
          </a:solidFill>
          <a:ln w="9525">
            <a:solidFill>
              <a:srgbClr val="DCE4F2"/>
            </a:solidFill>
            <a:prstDash val="solid"/>
          </a:ln>
        </p:spPr>
      </p:sp>
      <p:pic>
        <p:nvPicPr>
          <p:cNvPr id="62" name="Image 9" descr="deck-assets/prometheus.png">    </p:cNvPr>
          <p:cNvPicPr>
            <a:picLocks noChangeAspect="1"/>
          </p:cNvPicPr>
          <p:nvPr/>
        </p:nvPicPr>
        <p:blipFill>
          <a:blip r:embed="rId10"/>
          <a:stretch>
            <a:fillRect/>
          </a:stretch>
        </p:blipFill>
        <p:spPr>
          <a:xfrm>
            <a:off x="8929116" y="3310128"/>
            <a:ext cx="384048" cy="384048"/>
          </a:xfrm>
          <a:prstGeom prst="rect">
            <a:avLst/>
          </a:prstGeom>
        </p:spPr>
      </p:pic>
      <p:sp>
        <p:nvSpPr>
          <p:cNvPr id="63" name="Text 51"/>
          <p:cNvSpPr/>
          <p:nvPr/>
        </p:nvSpPr>
        <p:spPr>
          <a:xfrm>
            <a:off x="8357616" y="3712464"/>
            <a:ext cx="152704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Pushgateway</a:t>
            </a:r>
            <a:endParaRPr lang="en-US" sz="1100" dirty="0"/>
          </a:p>
        </p:txBody>
      </p:sp>
      <p:sp>
        <p:nvSpPr>
          <p:cNvPr id="64" name="Text 52"/>
          <p:cNvSpPr/>
          <p:nvPr/>
        </p:nvSpPr>
        <p:spPr>
          <a:xfrm>
            <a:off x="8357616" y="3986784"/>
            <a:ext cx="152704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batch job metrics</a:t>
            </a:r>
            <a:endParaRPr lang="en-US" sz="850" dirty="0"/>
          </a:p>
        </p:txBody>
      </p:sp>
      <p:sp>
        <p:nvSpPr>
          <p:cNvPr id="65" name="Shape 53"/>
          <p:cNvSpPr/>
          <p:nvPr/>
        </p:nvSpPr>
        <p:spPr>
          <a:xfrm>
            <a:off x="10058400" y="3200400"/>
            <a:ext cx="1508760" cy="1051560"/>
          </a:xfrm>
          <a:prstGeom prst="roundRect">
            <a:avLst>
              <a:gd name="adj" fmla="val 6087"/>
            </a:avLst>
          </a:prstGeom>
          <a:solidFill>
            <a:srgbClr val="FFFFFF"/>
          </a:solidFill>
          <a:ln w="9525">
            <a:solidFill>
              <a:srgbClr val="DCE4F2"/>
            </a:solidFill>
            <a:prstDash val="solid"/>
          </a:ln>
        </p:spPr>
      </p:sp>
      <p:pic>
        <p:nvPicPr>
          <p:cNvPr id="66" name="Image 10" descr="deck-assets/alert.png">    </p:cNvPr>
          <p:cNvPicPr>
            <a:picLocks noChangeAspect="1"/>
          </p:cNvPicPr>
          <p:nvPr/>
        </p:nvPicPr>
        <p:blipFill>
          <a:blip r:embed="rId11"/>
          <a:stretch>
            <a:fillRect/>
          </a:stretch>
        </p:blipFill>
        <p:spPr>
          <a:xfrm>
            <a:off x="10620756" y="3310128"/>
            <a:ext cx="384048" cy="384048"/>
          </a:xfrm>
          <a:prstGeom prst="rect">
            <a:avLst/>
          </a:prstGeom>
        </p:spPr>
      </p:pic>
      <p:sp>
        <p:nvSpPr>
          <p:cNvPr id="67" name="Text 54"/>
          <p:cNvSpPr/>
          <p:nvPr/>
        </p:nvSpPr>
        <p:spPr>
          <a:xfrm>
            <a:off x="10094976" y="3712464"/>
            <a:ext cx="143560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Alertmanager</a:t>
            </a:r>
            <a:endParaRPr lang="en-US" sz="1100" dirty="0"/>
          </a:p>
        </p:txBody>
      </p:sp>
      <p:sp>
        <p:nvSpPr>
          <p:cNvPr id="68" name="Text 55"/>
          <p:cNvSpPr/>
          <p:nvPr/>
        </p:nvSpPr>
        <p:spPr>
          <a:xfrm>
            <a:off x="10094976" y="3986784"/>
            <a:ext cx="143560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drift + SLO alerts</a:t>
            </a:r>
            <a:endParaRPr lang="en-US" sz="850" dirty="0"/>
          </a:p>
        </p:txBody>
      </p:sp>
      <p:sp>
        <p:nvSpPr>
          <p:cNvPr id="69" name="Shape 56"/>
          <p:cNvSpPr/>
          <p:nvPr/>
        </p:nvSpPr>
        <p:spPr>
          <a:xfrm>
            <a:off x="6492240" y="4617720"/>
            <a:ext cx="5074920" cy="1051560"/>
          </a:xfrm>
          <a:prstGeom prst="roundRect">
            <a:avLst>
              <a:gd name="adj" fmla="val 6087"/>
            </a:avLst>
          </a:prstGeom>
          <a:solidFill>
            <a:srgbClr val="FFFFFF"/>
          </a:solidFill>
          <a:ln w="9525">
            <a:solidFill>
              <a:srgbClr val="DCE4F2"/>
            </a:solidFill>
            <a:prstDash val="solid"/>
          </a:ln>
        </p:spPr>
      </p:sp>
      <p:sp>
        <p:nvSpPr>
          <p:cNvPr id="70" name="Text 57"/>
          <p:cNvSpPr/>
          <p:nvPr/>
        </p:nvSpPr>
        <p:spPr>
          <a:xfrm>
            <a:off x="6656832" y="4736592"/>
            <a:ext cx="4754880" cy="868680"/>
          </a:xfrm>
          <a:prstGeom prst="rect">
            <a:avLst/>
          </a:prstGeom>
          <a:noFill/>
          <a:ln/>
        </p:spPr>
        <p:txBody>
          <a:bodyPr wrap="square" lIns="0" tIns="0" rIns="0" bIns="0" rtlCol="0" anchor="t"/>
          <a:lstStyle/>
          <a:p>
            <a:pPr indent="0" marL="0">
              <a:buNone/>
            </a:pPr>
            <a:r>
              <a:rPr lang="en-US" sz="1050" b="1" dirty="0">
                <a:solidFill>
                  <a:srgbClr val="273044"/>
                </a:solidFill>
                <a:latin typeface="Calibri" pitchFamily="34" charset="0"/>
                <a:ea typeface="Calibri" pitchFamily="34" charset="-122"/>
                <a:cs typeface="Calibri" pitchFamily="34" charset="-120"/>
              </a:rPr>
              <a:t>Shared EBS volume (gp3): </a:t>
            </a:r>
            <a:pPr indent="0" marL="0">
              <a:buNone/>
            </a:pPr>
            <a:r>
              <a:rPr lang="en-US" sz="1050" dirty="0">
                <a:solidFill>
                  <a:srgbClr val="273044"/>
                </a:solidFill>
                <a:latin typeface="Calibri" pitchFamily="34" charset="0"/>
                <a:ea typeface="Calibri" pitchFamily="34" charset="-122"/>
                <a:cs typeface="Calibri" pitchFamily="34" charset="-120"/>
              </a:rPr>
              <a:t>serving appends per-request prediction features (brightness, contrast, detections, confidence) as JSONL; the drift job reads the same volume, co-scheduled by pod affinity.</a:t>
            </a:r>
            <a:endParaRPr lang="en-US" sz="1050" dirty="0"/>
          </a:p>
        </p:txBody>
      </p:sp>
      <p:sp>
        <p:nvSpPr>
          <p:cNvPr id="71" name="Shape 58"/>
          <p:cNvSpPr/>
          <p:nvPr/>
        </p:nvSpPr>
        <p:spPr>
          <a:xfrm>
            <a:off x="1984248" y="2304288"/>
            <a:ext cx="118872" cy="0"/>
          </a:xfrm>
          <a:prstGeom prst="line">
            <a:avLst/>
          </a:prstGeom>
          <a:noFill/>
          <a:ln w="22225">
            <a:solidFill>
              <a:srgbClr val="63708A"/>
            </a:solidFill>
            <a:prstDash val="solid"/>
            <a:tailEnd type="triangle"/>
          </a:ln>
        </p:spPr>
      </p:sp>
      <p:sp>
        <p:nvSpPr>
          <p:cNvPr id="72" name="Shape 59"/>
          <p:cNvSpPr/>
          <p:nvPr/>
        </p:nvSpPr>
        <p:spPr>
          <a:xfrm>
            <a:off x="3429000" y="2304288"/>
            <a:ext cx="521208" cy="0"/>
          </a:xfrm>
          <a:prstGeom prst="line">
            <a:avLst/>
          </a:prstGeom>
          <a:noFill/>
          <a:ln w="22225">
            <a:solidFill>
              <a:srgbClr val="63708A"/>
            </a:solidFill>
            <a:prstDash val="solid"/>
            <a:tailEnd type="triangle"/>
          </a:ln>
        </p:spPr>
      </p:sp>
      <p:sp>
        <p:nvSpPr>
          <p:cNvPr id="73" name="Shape 60"/>
          <p:cNvSpPr/>
          <p:nvPr/>
        </p:nvSpPr>
        <p:spPr>
          <a:xfrm>
            <a:off x="3429000" y="3721608"/>
            <a:ext cx="521208" cy="0"/>
          </a:xfrm>
          <a:prstGeom prst="line">
            <a:avLst/>
          </a:prstGeom>
          <a:noFill/>
          <a:ln w="22225">
            <a:solidFill>
              <a:srgbClr val="63708A"/>
            </a:solidFill>
            <a:prstDash val="solid"/>
            <a:tailEnd type="triangle"/>
          </a:ln>
        </p:spPr>
      </p:sp>
      <p:sp>
        <p:nvSpPr>
          <p:cNvPr id="74" name="Shape 61"/>
          <p:cNvSpPr/>
          <p:nvPr/>
        </p:nvSpPr>
        <p:spPr>
          <a:xfrm>
            <a:off x="5916168" y="3721608"/>
            <a:ext cx="576072" cy="0"/>
          </a:xfrm>
          <a:prstGeom prst="line">
            <a:avLst/>
          </a:prstGeom>
          <a:noFill/>
          <a:ln w="22225">
            <a:solidFill>
              <a:srgbClr val="63708A"/>
            </a:solidFill>
            <a:prstDash val="solid"/>
            <a:tailEnd type="triangle"/>
          </a:ln>
        </p:spPr>
      </p:sp>
      <p:sp>
        <p:nvSpPr>
          <p:cNvPr id="75" name="Shape 62"/>
          <p:cNvSpPr/>
          <p:nvPr/>
        </p:nvSpPr>
        <p:spPr>
          <a:xfrm>
            <a:off x="8183880" y="2304288"/>
            <a:ext cx="137160" cy="0"/>
          </a:xfrm>
          <a:prstGeom prst="line">
            <a:avLst/>
          </a:prstGeom>
          <a:noFill/>
          <a:ln w="22225">
            <a:solidFill>
              <a:srgbClr val="63708A"/>
            </a:solidFill>
            <a:prstDash val="solid"/>
            <a:tailEnd type="triangle"/>
          </a:ln>
        </p:spPr>
      </p:sp>
      <p:sp>
        <p:nvSpPr>
          <p:cNvPr id="76" name="Shape 63"/>
          <p:cNvSpPr/>
          <p:nvPr/>
        </p:nvSpPr>
        <p:spPr>
          <a:xfrm>
            <a:off x="9921240" y="2304288"/>
            <a:ext cx="137160" cy="0"/>
          </a:xfrm>
          <a:prstGeom prst="line">
            <a:avLst/>
          </a:prstGeom>
          <a:noFill/>
          <a:ln w="22225">
            <a:solidFill>
              <a:srgbClr val="63708A"/>
            </a:solidFill>
            <a:prstDash val="solid"/>
            <a:tailEnd type="triangle"/>
          </a:ln>
        </p:spPr>
      </p:sp>
      <p:sp>
        <p:nvSpPr>
          <p:cNvPr id="77" name="Shape 64"/>
          <p:cNvSpPr/>
          <p:nvPr/>
        </p:nvSpPr>
        <p:spPr>
          <a:xfrm>
            <a:off x="8183880" y="3721608"/>
            <a:ext cx="137160" cy="0"/>
          </a:xfrm>
          <a:prstGeom prst="line">
            <a:avLst/>
          </a:prstGeom>
          <a:noFill/>
          <a:ln w="22225">
            <a:solidFill>
              <a:srgbClr val="63708A"/>
            </a:solidFill>
            <a:prstDash val="solid"/>
            <a:tailEnd type="triangle"/>
          </a:ln>
        </p:spPr>
      </p:sp>
      <p:sp>
        <p:nvSpPr>
          <p:cNvPr id="78" name="Shape 65"/>
          <p:cNvSpPr/>
          <p:nvPr/>
        </p:nvSpPr>
        <p:spPr>
          <a:xfrm>
            <a:off x="9921240" y="3721608"/>
            <a:ext cx="137160" cy="0"/>
          </a:xfrm>
          <a:prstGeom prst="line">
            <a:avLst/>
          </a:prstGeom>
          <a:noFill/>
          <a:ln w="22225">
            <a:solidFill>
              <a:srgbClr val="63708A"/>
            </a:solidFill>
            <a:prstDash val="solid"/>
            <a:tailEnd type="triangle"/>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STRATEGY</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Buy vs make — every component was a deliberate choice</a:t>
            </a:r>
            <a:endParaRPr lang="en-US" sz="2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201400" cy="914400"/>
        </p:xfrm>
        <a:graphic>
          <a:graphicData uri="http://schemas.openxmlformats.org/drawingml/2006/table">
            <a:tbl>
              <a:tblPr/>
              <a:tblGrid>
                <a:gridCol w="2286000"/>
                <a:gridCol w="2651760"/>
                <a:gridCol w="1417320"/>
                <a:gridCol w="4846320"/>
              </a:tblGrid>
              <a:tr h="47548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Choice</a:t>
                      </a:r>
                      <a:endParaRPr lang="en-US" sz="11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Buy / Make</a:t>
                      </a:r>
                      <a:endParaRPr lang="en-US" sz="11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Rationale</a:t>
                      </a:r>
                      <a:endParaRPr lang="en-US" sz="11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1E2761"/>
                    </a:solidFill>
                  </a:tcPr>
                </a:tc>
              </a:tr>
              <a:tr h="47548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Base model</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b="1" dirty="0">
                          <a:solidFill>
                            <a:srgbClr val="273044"/>
                          </a:solidFill>
                          <a:latin typeface="Calibri" pitchFamily="34" charset="0"/>
                          <a:ea typeface="Calibri" pitchFamily="34" charset="-122"/>
                          <a:cs typeface="Calibri" pitchFamily="34" charset="-120"/>
                        </a:rPr>
                        <a:t>Pretrained YOLOv8n (COCO)</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31407A"/>
                          </a:solidFill>
                          <a:latin typeface="Calibri" pitchFamily="34" charset="0"/>
                          <a:ea typeface="Calibri" pitchFamily="34" charset="-122"/>
                          <a:cs typeface="Calibri" pitchFamily="34" charset="-120"/>
                        </a:rPr>
                        <a:t>Buy (free)</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80-class detector for free; fine-tuning beats training from scratch by weeks</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Compute &amp; registry infra</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b="1" dirty="0">
                          <a:solidFill>
                            <a:srgbClr val="273044"/>
                          </a:solidFill>
                          <a:latin typeface="Calibri" pitchFamily="34" charset="0"/>
                          <a:ea typeface="Calibri" pitchFamily="34" charset="-122"/>
                          <a:cs typeface="Calibri" pitchFamily="34" charset="-120"/>
                        </a:rPr>
                        <a:t>EKS + ECR + S3 + EBS</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31407A"/>
                          </a:solidFill>
                          <a:latin typeface="Calibri" pitchFamily="34" charset="0"/>
                          <a:ea typeface="Calibri" pitchFamily="34" charset="-122"/>
                          <a:cs typeface="Calibri" pitchFamily="34" charset="-120"/>
                        </a:rPr>
                        <a:t>Buy (managed)</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Undifferentiated heavy lifting; eksctl gives a production-shaped cluster in 20 min</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r>
              <a:tr h="47548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Experiment tracking + registry</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b="1" dirty="0">
                          <a:solidFill>
                            <a:srgbClr val="273044"/>
                          </a:solidFill>
                          <a:latin typeface="Calibri" pitchFamily="34" charset="0"/>
                          <a:ea typeface="Calibri" pitchFamily="34" charset="-122"/>
                          <a:cs typeface="Calibri" pitchFamily="34" charset="-120"/>
                        </a:rPr>
                        <a:t>MLflow (self-hosted)</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2C7A3D"/>
                          </a:solidFill>
                          <a:latin typeface="Calibri" pitchFamily="34" charset="0"/>
                          <a:ea typeface="Calibri" pitchFamily="34" charset="-122"/>
                          <a:cs typeface="Calibri" pitchFamily="34" charset="-120"/>
                        </a:rPr>
                        <a:t>Make (OSS)</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Open standard; versions + aliases (candidate/production) drive promotion</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Data versioning</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b="1" dirty="0">
                          <a:solidFill>
                            <a:srgbClr val="273044"/>
                          </a:solidFill>
                          <a:latin typeface="Calibri" pitchFamily="34" charset="0"/>
                          <a:ea typeface="Calibri" pitchFamily="34" charset="-122"/>
                          <a:cs typeface="Calibri" pitchFamily="34" charset="-120"/>
                        </a:rPr>
                        <a:t>DVC over S3</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2C7A3D"/>
                          </a:solidFill>
                          <a:latin typeface="Calibri" pitchFamily="34" charset="0"/>
                          <a:ea typeface="Calibri" pitchFamily="34" charset="-122"/>
                          <a:cs typeface="Calibri" pitchFamily="34" charset="-120"/>
                        </a:rPr>
                        <a:t>Make (OSS)</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Git-like semantics for datasets; storage bought, logic owned</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r>
              <a:tr h="47548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Serving</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b="1" dirty="0">
                          <a:solidFill>
                            <a:srgbClr val="273044"/>
                          </a:solidFill>
                          <a:latin typeface="Calibri" pitchFamily="34" charset="0"/>
                          <a:ea typeface="Calibri" pitchFamily="34" charset="-122"/>
                          <a:cs typeface="Calibri" pitchFamily="34" charset="-120"/>
                        </a:rPr>
                        <a:t>FastAPI + ONNX Runtime</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2C7A3D"/>
                          </a:solidFill>
                          <a:latin typeface="Calibri" pitchFamily="34" charset="0"/>
                          <a:ea typeface="Calibri" pitchFamily="34" charset="-122"/>
                          <a:cs typeface="Calibri" pitchFamily="34" charset="-120"/>
                        </a:rPr>
                        <a:t>Make</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~200 lines, fully instrumentable; no inference-server lock-in</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Metrics &amp; dashboards</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b="1" dirty="0">
                          <a:solidFill>
                            <a:srgbClr val="273044"/>
                          </a:solidFill>
                          <a:latin typeface="Calibri" pitchFamily="34" charset="0"/>
                          <a:ea typeface="Calibri" pitchFamily="34" charset="-122"/>
                          <a:cs typeface="Calibri" pitchFamily="34" charset="-120"/>
                        </a:rPr>
                        <a:t>kube-prometheus-stack</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2C7A3D"/>
                          </a:solidFill>
                          <a:latin typeface="Calibri" pitchFamily="34" charset="0"/>
                          <a:ea typeface="Calibri" pitchFamily="34" charset="-122"/>
                          <a:cs typeface="Calibri" pitchFamily="34" charset="-120"/>
                        </a:rPr>
                        <a:t>Make (OSS)</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Industry-standard observability; one Helm install</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r>
              <a:tr h="47548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Drift detection</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b="1" dirty="0">
                          <a:solidFill>
                            <a:srgbClr val="273044"/>
                          </a:solidFill>
                          <a:latin typeface="Calibri" pitchFamily="34" charset="0"/>
                          <a:ea typeface="Calibri" pitchFamily="34" charset="-122"/>
                          <a:cs typeface="Calibri" pitchFamily="34" charset="-120"/>
                        </a:rPr>
                        <a:t>Evidently → Pushgateway</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2C7A3D"/>
                          </a:solidFill>
                          <a:latin typeface="Calibri" pitchFamily="34" charset="0"/>
                          <a:ea typeface="Calibri" pitchFamily="34" charset="-122"/>
                          <a:cs typeface="Calibri" pitchFamily="34" charset="-120"/>
                        </a:rPr>
                        <a:t>Make (OSS)</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Statistical tests on live features; rides the existing alert stack</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r>
              <a:tr h="47548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CI/CD</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b="1" dirty="0">
                          <a:solidFill>
                            <a:srgbClr val="273044"/>
                          </a:solidFill>
                          <a:latin typeface="Calibri" pitchFamily="34" charset="0"/>
                          <a:ea typeface="Calibri" pitchFamily="34" charset="-122"/>
                          <a:cs typeface="Calibri" pitchFamily="34" charset="-120"/>
                        </a:rPr>
                        <a:t>GitHub Actions + OIDC</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31407A"/>
                          </a:solidFill>
                          <a:latin typeface="Calibri" pitchFamily="34" charset="0"/>
                          <a:ea typeface="Calibri" pitchFamily="34" charset="-122"/>
                          <a:cs typeface="Calibri" pitchFamily="34" charset="-120"/>
                        </a:rPr>
                        <a:t>Buy (free tier)</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Zero runner maintenance; keyless AWS auth</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r>
            </a:tbl>
          </a:graphicData>
        </a:graphic>
      </p:graphicFrame>
      <p:sp>
        <p:nvSpPr>
          <p:cNvPr id="5" name="Text 2"/>
          <p:cNvSpPr/>
          <p:nvPr/>
        </p:nvSpPr>
        <p:spPr>
          <a:xfrm>
            <a:off x="502920" y="6172200"/>
            <a:ext cx="11155680" cy="320040"/>
          </a:xfrm>
          <a:prstGeom prst="rect">
            <a:avLst/>
          </a:prstGeom>
          <a:noFill/>
          <a:ln/>
        </p:spPr>
        <p:txBody>
          <a:bodyPr wrap="square" lIns="0" tIns="0" rIns="0" bIns="0" rtlCol="0" anchor="ctr"/>
          <a:lstStyle/>
          <a:p>
            <a:pPr indent="0" marL="0">
              <a:buNone/>
            </a:pPr>
            <a:r>
              <a:rPr lang="en-US" sz="1200" i="1" dirty="0">
                <a:solidFill>
                  <a:srgbClr val="63708A"/>
                </a:solidFill>
                <a:latin typeface="Calibri" pitchFamily="34" charset="0"/>
                <a:ea typeface="Calibri" pitchFamily="34" charset="-122"/>
                <a:cs typeface="Calibri" pitchFamily="34" charset="-120"/>
              </a:rPr>
              <a:t>Rule of thumb applied: buy what is undifferentiated, make what you must be able to debug at 2 a.m.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DECISION 1 OF 4</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Runtime platform</a:t>
            </a:r>
            <a:endParaRPr lang="en-US" sz="2700" dirty="0"/>
          </a:p>
        </p:txBody>
      </p:sp>
      <p:sp>
        <p:nvSpPr>
          <p:cNvPr id="4" name="Shape 2"/>
          <p:cNvSpPr/>
          <p:nvPr/>
        </p:nvSpPr>
        <p:spPr>
          <a:xfrm>
            <a:off x="502920" y="1371600"/>
            <a:ext cx="2724912" cy="3931920"/>
          </a:xfrm>
          <a:prstGeom prst="roundRect">
            <a:avLst>
              <a:gd name="adj" fmla="val 2349"/>
            </a:avLst>
          </a:prstGeom>
          <a:solidFill>
            <a:srgbClr val="F0F4FB"/>
          </a:solidFill>
          <a:ln w="9525">
            <a:solidFill>
              <a:srgbClr val="DCE4F2"/>
            </a:solidFill>
            <a:prstDash val="solid"/>
          </a:ln>
        </p:spPr>
      </p:sp>
      <p:sp>
        <p:nvSpPr>
          <p:cNvPr id="5" name="Text 3"/>
          <p:cNvSpPr/>
          <p:nvPr/>
        </p:nvSpPr>
        <p:spPr>
          <a:xfrm>
            <a:off x="667512" y="1536192"/>
            <a:ext cx="1536192"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Local k3d / kind</a:t>
            </a:r>
            <a:endParaRPr lang="en-US" sz="1450" dirty="0"/>
          </a:p>
        </p:txBody>
      </p:sp>
      <p:sp>
        <p:nvSpPr>
          <p:cNvPr id="6" name="Text 4"/>
          <p:cNvSpPr/>
          <p:nvPr/>
        </p:nvSpPr>
        <p:spPr>
          <a:xfrm>
            <a:off x="667512" y="2029968"/>
            <a:ext cx="1828800" cy="219456"/>
          </a:xfrm>
          <a:prstGeom prst="rect">
            <a:avLst/>
          </a:prstGeom>
          <a:noFill/>
          <a:ln/>
        </p:spPr>
        <p:txBody>
          <a:bodyPr wrap="square" lIns="0" tIns="0" rIns="0" bIns="0" rtlCol="0" anchor="ctr"/>
          <a:lstStyle/>
          <a:p>
            <a:pPr indent="0" marL="0">
              <a:buNone/>
            </a:pPr>
            <a:r>
              <a:rPr lang="en-US" sz="850" b="1" spc="150" kern="0" dirty="0">
                <a:solidFill>
                  <a:srgbClr val="2C7A3D"/>
                </a:solidFill>
                <a:latin typeface="Calibri" pitchFamily="34" charset="0"/>
                <a:ea typeface="Calibri" pitchFamily="34" charset="-122"/>
                <a:cs typeface="Calibri" pitchFamily="34" charset="-120"/>
              </a:rPr>
              <a:t>MERITS</a:t>
            </a:r>
            <a:endParaRPr lang="en-US" sz="850" dirty="0"/>
          </a:p>
        </p:txBody>
      </p:sp>
      <p:sp>
        <p:nvSpPr>
          <p:cNvPr id="7" name="Text 5"/>
          <p:cNvSpPr/>
          <p:nvPr/>
        </p:nvSpPr>
        <p:spPr>
          <a:xfrm>
            <a:off x="667512" y="2267712"/>
            <a:ext cx="2395728" cy="173736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Real K8s manifests, zero cloud cost</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Fastest to stand up</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Portable to EKS later</a:t>
            </a:r>
            <a:endParaRPr lang="en-US" sz="1050" dirty="0"/>
          </a:p>
        </p:txBody>
      </p:sp>
      <p:sp>
        <p:nvSpPr>
          <p:cNvPr id="8" name="Text 6"/>
          <p:cNvSpPr/>
          <p:nvPr/>
        </p:nvSpPr>
        <p:spPr>
          <a:xfrm>
            <a:off x="667512" y="4023360"/>
            <a:ext cx="1828800" cy="219456"/>
          </a:xfrm>
          <a:prstGeom prst="rect">
            <a:avLst/>
          </a:prstGeom>
          <a:noFill/>
          <a:ln/>
        </p:spPr>
        <p:txBody>
          <a:bodyPr wrap="square" lIns="0" tIns="0" rIns="0" bIns="0" rtlCol="0" anchor="ctr"/>
          <a:lstStyle/>
          <a:p>
            <a:pPr indent="0" marL="0">
              <a:buNone/>
            </a:pPr>
            <a:r>
              <a:rPr lang="en-US" sz="850" b="1" spc="150" kern="0" dirty="0">
                <a:solidFill>
                  <a:srgbClr val="B3261E"/>
                </a:solidFill>
                <a:latin typeface="Calibri" pitchFamily="34" charset="0"/>
                <a:ea typeface="Calibri" pitchFamily="34" charset="-122"/>
                <a:cs typeface="Calibri" pitchFamily="34" charset="-120"/>
              </a:rPr>
              <a:t>TRADE-OFFS</a:t>
            </a:r>
            <a:endParaRPr lang="en-US" sz="850" dirty="0"/>
          </a:p>
        </p:txBody>
      </p:sp>
      <p:sp>
        <p:nvSpPr>
          <p:cNvPr id="9" name="Text 7"/>
          <p:cNvSpPr/>
          <p:nvPr/>
        </p:nvSpPr>
        <p:spPr>
          <a:xfrm>
            <a:off x="667512" y="4261104"/>
            <a:ext cx="2395728" cy="914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Not production-credible</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No managed-scaling story</a:t>
            </a:r>
            <a:endParaRPr lang="en-US" sz="1050" dirty="0"/>
          </a:p>
        </p:txBody>
      </p:sp>
      <p:sp>
        <p:nvSpPr>
          <p:cNvPr id="10" name="Shape 8"/>
          <p:cNvSpPr/>
          <p:nvPr/>
        </p:nvSpPr>
        <p:spPr>
          <a:xfrm>
            <a:off x="3355848" y="1371600"/>
            <a:ext cx="2724912" cy="3931920"/>
          </a:xfrm>
          <a:prstGeom prst="roundRect">
            <a:avLst>
              <a:gd name="adj" fmla="val 2349"/>
            </a:avLst>
          </a:prstGeom>
          <a:solidFill>
            <a:srgbClr val="FFFFFF"/>
          </a:solidFill>
          <a:ln w="9525">
            <a:solidFill>
              <a:srgbClr val="2C7A3D"/>
            </a:solidFill>
            <a:prstDash val="solid"/>
          </a:ln>
        </p:spPr>
      </p:sp>
      <p:sp>
        <p:nvSpPr>
          <p:cNvPr id="11" name="Shape 9"/>
          <p:cNvSpPr/>
          <p:nvPr/>
        </p:nvSpPr>
        <p:spPr>
          <a:xfrm>
            <a:off x="5074920" y="1499616"/>
            <a:ext cx="868680" cy="274320"/>
          </a:xfrm>
          <a:prstGeom prst="roundRect">
            <a:avLst>
              <a:gd name="adj" fmla="val 16667"/>
            </a:avLst>
          </a:prstGeom>
          <a:solidFill>
            <a:srgbClr val="2C7A3D"/>
          </a:solidFill>
          <a:ln w="6350">
            <a:solidFill>
              <a:srgbClr val="2C7A3D"/>
            </a:solidFill>
            <a:prstDash val="solid"/>
          </a:ln>
        </p:spPr>
      </p:sp>
      <p:sp>
        <p:nvSpPr>
          <p:cNvPr id="12" name="Text 10"/>
          <p:cNvSpPr/>
          <p:nvPr/>
        </p:nvSpPr>
        <p:spPr>
          <a:xfrm>
            <a:off x="5074920" y="1499616"/>
            <a:ext cx="8686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CHOSEN</a:t>
            </a:r>
            <a:endParaRPr lang="en-US" sz="950" dirty="0"/>
          </a:p>
        </p:txBody>
      </p:sp>
      <p:pic>
        <p:nvPicPr>
          <p:cNvPr id="13" name="Image 0" descr="deck-assets/aws.png">    </p:cNvPr>
          <p:cNvPicPr>
            <a:picLocks noChangeAspect="1"/>
          </p:cNvPicPr>
          <p:nvPr/>
        </p:nvPicPr>
        <p:blipFill>
          <a:blip r:embed="rId1"/>
          <a:stretch>
            <a:fillRect/>
          </a:stretch>
        </p:blipFill>
        <p:spPr>
          <a:xfrm>
            <a:off x="3520440" y="1517904"/>
            <a:ext cx="384048" cy="384048"/>
          </a:xfrm>
          <a:prstGeom prst="rect">
            <a:avLst/>
          </a:prstGeom>
        </p:spPr>
      </p:pic>
      <p:sp>
        <p:nvSpPr>
          <p:cNvPr id="14" name="Text 11"/>
          <p:cNvSpPr/>
          <p:nvPr/>
        </p:nvSpPr>
        <p:spPr>
          <a:xfrm>
            <a:off x="4014216" y="1536192"/>
            <a:ext cx="1033272"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AWS EKS</a:t>
            </a:r>
            <a:endParaRPr lang="en-US" sz="1450" dirty="0"/>
          </a:p>
        </p:txBody>
      </p:sp>
      <p:sp>
        <p:nvSpPr>
          <p:cNvPr id="15" name="Text 12"/>
          <p:cNvSpPr/>
          <p:nvPr/>
        </p:nvSpPr>
        <p:spPr>
          <a:xfrm>
            <a:off x="3520440" y="2029968"/>
            <a:ext cx="1828800" cy="219456"/>
          </a:xfrm>
          <a:prstGeom prst="rect">
            <a:avLst/>
          </a:prstGeom>
          <a:noFill/>
          <a:ln/>
        </p:spPr>
        <p:txBody>
          <a:bodyPr wrap="square" lIns="0" tIns="0" rIns="0" bIns="0" rtlCol="0" anchor="ctr"/>
          <a:lstStyle/>
          <a:p>
            <a:pPr indent="0" marL="0">
              <a:buNone/>
            </a:pPr>
            <a:r>
              <a:rPr lang="en-US" sz="850" b="1" spc="150" kern="0" dirty="0">
                <a:solidFill>
                  <a:srgbClr val="2C7A3D"/>
                </a:solidFill>
                <a:latin typeface="Calibri" pitchFamily="34" charset="0"/>
                <a:ea typeface="Calibri" pitchFamily="34" charset="-122"/>
                <a:cs typeface="Calibri" pitchFamily="34" charset="-120"/>
              </a:rPr>
              <a:t>MERITS</a:t>
            </a:r>
            <a:endParaRPr lang="en-US" sz="850" dirty="0"/>
          </a:p>
        </p:txBody>
      </p:sp>
      <p:sp>
        <p:nvSpPr>
          <p:cNvPr id="16" name="Text 13"/>
          <p:cNvSpPr/>
          <p:nvPr/>
        </p:nvSpPr>
        <p:spPr>
          <a:xfrm>
            <a:off x="3520440" y="2267712"/>
            <a:ext cx="2395728" cy="173736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Production-shaped: VPC, IAM, EBS CSI, LB</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eksctl → cluster in ~20 unattended min</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Transferable manifests + real cloud ops</a:t>
            </a:r>
            <a:endParaRPr lang="en-US" sz="1050" dirty="0"/>
          </a:p>
        </p:txBody>
      </p:sp>
      <p:sp>
        <p:nvSpPr>
          <p:cNvPr id="17" name="Text 14"/>
          <p:cNvSpPr/>
          <p:nvPr/>
        </p:nvSpPr>
        <p:spPr>
          <a:xfrm>
            <a:off x="3520440" y="4023360"/>
            <a:ext cx="1828800" cy="219456"/>
          </a:xfrm>
          <a:prstGeom prst="rect">
            <a:avLst/>
          </a:prstGeom>
          <a:noFill/>
          <a:ln/>
        </p:spPr>
        <p:txBody>
          <a:bodyPr wrap="square" lIns="0" tIns="0" rIns="0" bIns="0" rtlCol="0" anchor="ctr"/>
          <a:lstStyle/>
          <a:p>
            <a:pPr indent="0" marL="0">
              <a:buNone/>
            </a:pPr>
            <a:r>
              <a:rPr lang="en-US" sz="850" b="1" spc="150" kern="0" dirty="0">
                <a:solidFill>
                  <a:srgbClr val="B3261E"/>
                </a:solidFill>
                <a:latin typeface="Calibri" pitchFamily="34" charset="0"/>
                <a:ea typeface="Calibri" pitchFamily="34" charset="-122"/>
                <a:cs typeface="Calibri" pitchFamily="34" charset="-120"/>
              </a:rPr>
              <a:t>TRADE-OFFS</a:t>
            </a:r>
            <a:endParaRPr lang="en-US" sz="850" dirty="0"/>
          </a:p>
        </p:txBody>
      </p:sp>
      <p:sp>
        <p:nvSpPr>
          <p:cNvPr id="18" name="Text 15"/>
          <p:cNvSpPr/>
          <p:nvPr/>
        </p:nvSpPr>
        <p:spPr>
          <a:xfrm>
            <a:off x="3520440" y="4261104"/>
            <a:ext cx="2395728" cy="914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~$0.40/h while running</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IAM/storage friction is real (it was)</a:t>
            </a:r>
            <a:endParaRPr lang="en-US" sz="1050" dirty="0"/>
          </a:p>
        </p:txBody>
      </p:sp>
      <p:sp>
        <p:nvSpPr>
          <p:cNvPr id="19" name="Shape 16"/>
          <p:cNvSpPr/>
          <p:nvPr/>
        </p:nvSpPr>
        <p:spPr>
          <a:xfrm>
            <a:off x="6208776" y="1371600"/>
            <a:ext cx="2724912" cy="3931920"/>
          </a:xfrm>
          <a:prstGeom prst="roundRect">
            <a:avLst>
              <a:gd name="adj" fmla="val 2349"/>
            </a:avLst>
          </a:prstGeom>
          <a:solidFill>
            <a:srgbClr val="F0F4FB"/>
          </a:solidFill>
          <a:ln w="9525">
            <a:solidFill>
              <a:srgbClr val="DCE4F2"/>
            </a:solidFill>
            <a:prstDash val="solid"/>
          </a:ln>
        </p:spPr>
      </p:sp>
      <p:pic>
        <p:nvPicPr>
          <p:cNvPr id="20" name="Image 1" descr="deck-assets/aws.png">    </p:cNvPr>
          <p:cNvPicPr>
            <a:picLocks noChangeAspect="1"/>
          </p:cNvPicPr>
          <p:nvPr/>
        </p:nvPicPr>
        <p:blipFill>
          <a:blip r:embed="rId2"/>
          <a:stretch>
            <a:fillRect/>
          </a:stretch>
        </p:blipFill>
        <p:spPr>
          <a:xfrm>
            <a:off x="6373368" y="1517904"/>
            <a:ext cx="384048" cy="384048"/>
          </a:xfrm>
          <a:prstGeom prst="rect">
            <a:avLst/>
          </a:prstGeom>
        </p:spPr>
      </p:pic>
      <p:sp>
        <p:nvSpPr>
          <p:cNvPr id="21" name="Text 17"/>
          <p:cNvSpPr/>
          <p:nvPr/>
        </p:nvSpPr>
        <p:spPr>
          <a:xfrm>
            <a:off x="6867144" y="1536192"/>
            <a:ext cx="1033272"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AWS SageMaker</a:t>
            </a:r>
            <a:endParaRPr lang="en-US" sz="1450" dirty="0"/>
          </a:p>
        </p:txBody>
      </p:sp>
      <p:sp>
        <p:nvSpPr>
          <p:cNvPr id="22" name="Text 18"/>
          <p:cNvSpPr/>
          <p:nvPr/>
        </p:nvSpPr>
        <p:spPr>
          <a:xfrm>
            <a:off x="6373368" y="2029968"/>
            <a:ext cx="1828800" cy="219456"/>
          </a:xfrm>
          <a:prstGeom prst="rect">
            <a:avLst/>
          </a:prstGeom>
          <a:noFill/>
          <a:ln/>
        </p:spPr>
        <p:txBody>
          <a:bodyPr wrap="square" lIns="0" tIns="0" rIns="0" bIns="0" rtlCol="0" anchor="ctr"/>
          <a:lstStyle/>
          <a:p>
            <a:pPr indent="0" marL="0">
              <a:buNone/>
            </a:pPr>
            <a:r>
              <a:rPr lang="en-US" sz="850" b="1" spc="150" kern="0" dirty="0">
                <a:solidFill>
                  <a:srgbClr val="2C7A3D"/>
                </a:solidFill>
                <a:latin typeface="Calibri" pitchFamily="34" charset="0"/>
                <a:ea typeface="Calibri" pitchFamily="34" charset="-122"/>
                <a:cs typeface="Calibri" pitchFamily="34" charset="-120"/>
              </a:rPr>
              <a:t>MERITS</a:t>
            </a:r>
            <a:endParaRPr lang="en-US" sz="850" dirty="0"/>
          </a:p>
        </p:txBody>
      </p:sp>
      <p:sp>
        <p:nvSpPr>
          <p:cNvPr id="23" name="Text 19"/>
          <p:cNvSpPr/>
          <p:nvPr/>
        </p:nvSpPr>
        <p:spPr>
          <a:xfrm>
            <a:off x="6373368" y="2267712"/>
            <a:ext cx="2395728" cy="173736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Fastest managed path end-to-end</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Built-in Model Monitor for drift</a:t>
            </a:r>
            <a:endParaRPr lang="en-US" sz="1050" dirty="0"/>
          </a:p>
        </p:txBody>
      </p:sp>
      <p:sp>
        <p:nvSpPr>
          <p:cNvPr id="24" name="Text 20"/>
          <p:cNvSpPr/>
          <p:nvPr/>
        </p:nvSpPr>
        <p:spPr>
          <a:xfrm>
            <a:off x="6373368" y="4023360"/>
            <a:ext cx="1828800" cy="219456"/>
          </a:xfrm>
          <a:prstGeom prst="rect">
            <a:avLst/>
          </a:prstGeom>
          <a:noFill/>
          <a:ln/>
        </p:spPr>
        <p:txBody>
          <a:bodyPr wrap="square" lIns="0" tIns="0" rIns="0" bIns="0" rtlCol="0" anchor="ctr"/>
          <a:lstStyle/>
          <a:p>
            <a:pPr indent="0" marL="0">
              <a:buNone/>
            </a:pPr>
            <a:r>
              <a:rPr lang="en-US" sz="850" b="1" spc="150" kern="0" dirty="0">
                <a:solidFill>
                  <a:srgbClr val="B3261E"/>
                </a:solidFill>
                <a:latin typeface="Calibri" pitchFamily="34" charset="0"/>
                <a:ea typeface="Calibri" pitchFamily="34" charset="-122"/>
                <a:cs typeface="Calibri" pitchFamily="34" charset="-120"/>
              </a:rPr>
              <a:t>TRADE-OFFS</a:t>
            </a:r>
            <a:endParaRPr lang="en-US" sz="850" dirty="0"/>
          </a:p>
        </p:txBody>
      </p:sp>
      <p:sp>
        <p:nvSpPr>
          <p:cNvPr id="25" name="Text 21"/>
          <p:cNvSpPr/>
          <p:nvPr/>
        </p:nvSpPr>
        <p:spPr>
          <a:xfrm>
            <a:off x="6373368" y="4261104"/>
            <a:ext cx="2395728" cy="914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Learns SageMaker, not the portable stack</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Vendor lock-in on every stage</a:t>
            </a:r>
            <a:endParaRPr lang="en-US" sz="1050" dirty="0"/>
          </a:p>
        </p:txBody>
      </p:sp>
      <p:sp>
        <p:nvSpPr>
          <p:cNvPr id="26" name="Shape 22"/>
          <p:cNvSpPr/>
          <p:nvPr/>
        </p:nvSpPr>
        <p:spPr>
          <a:xfrm>
            <a:off x="9061704" y="1371600"/>
            <a:ext cx="2724912" cy="3931920"/>
          </a:xfrm>
          <a:prstGeom prst="roundRect">
            <a:avLst>
              <a:gd name="adj" fmla="val 2349"/>
            </a:avLst>
          </a:prstGeom>
          <a:solidFill>
            <a:srgbClr val="F0F4FB"/>
          </a:solidFill>
          <a:ln w="9525">
            <a:solidFill>
              <a:srgbClr val="DCE4F2"/>
            </a:solidFill>
            <a:prstDash val="solid"/>
          </a:ln>
        </p:spPr>
      </p:sp>
      <p:pic>
        <p:nvPicPr>
          <p:cNvPr id="27" name="Image 2" descr="deck-assets/docker.png">    </p:cNvPr>
          <p:cNvPicPr>
            <a:picLocks noChangeAspect="1"/>
          </p:cNvPicPr>
          <p:nvPr/>
        </p:nvPicPr>
        <p:blipFill>
          <a:blip r:embed="rId3"/>
          <a:stretch>
            <a:fillRect/>
          </a:stretch>
        </p:blipFill>
        <p:spPr>
          <a:xfrm>
            <a:off x="9226296" y="1517904"/>
            <a:ext cx="384048" cy="384048"/>
          </a:xfrm>
          <a:prstGeom prst="rect">
            <a:avLst/>
          </a:prstGeom>
        </p:spPr>
      </p:pic>
      <p:sp>
        <p:nvSpPr>
          <p:cNvPr id="28" name="Text 23"/>
          <p:cNvSpPr/>
          <p:nvPr/>
        </p:nvSpPr>
        <p:spPr>
          <a:xfrm>
            <a:off x="9720072" y="1536192"/>
            <a:ext cx="1033272"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Docker Compose</a:t>
            </a:r>
            <a:endParaRPr lang="en-US" sz="1450" dirty="0"/>
          </a:p>
        </p:txBody>
      </p:sp>
      <p:sp>
        <p:nvSpPr>
          <p:cNvPr id="29" name="Text 24"/>
          <p:cNvSpPr/>
          <p:nvPr/>
        </p:nvSpPr>
        <p:spPr>
          <a:xfrm>
            <a:off x="9226296" y="2029968"/>
            <a:ext cx="1828800" cy="219456"/>
          </a:xfrm>
          <a:prstGeom prst="rect">
            <a:avLst/>
          </a:prstGeom>
          <a:noFill/>
          <a:ln/>
        </p:spPr>
        <p:txBody>
          <a:bodyPr wrap="square" lIns="0" tIns="0" rIns="0" bIns="0" rtlCol="0" anchor="ctr"/>
          <a:lstStyle/>
          <a:p>
            <a:pPr indent="0" marL="0">
              <a:buNone/>
            </a:pPr>
            <a:r>
              <a:rPr lang="en-US" sz="850" b="1" spc="150" kern="0" dirty="0">
                <a:solidFill>
                  <a:srgbClr val="2C7A3D"/>
                </a:solidFill>
                <a:latin typeface="Calibri" pitchFamily="34" charset="0"/>
                <a:ea typeface="Calibri" pitchFamily="34" charset="-122"/>
                <a:cs typeface="Calibri" pitchFamily="34" charset="-120"/>
              </a:rPr>
              <a:t>MERITS</a:t>
            </a:r>
            <a:endParaRPr lang="en-US" sz="850" dirty="0"/>
          </a:p>
        </p:txBody>
      </p:sp>
      <p:sp>
        <p:nvSpPr>
          <p:cNvPr id="30" name="Text 25"/>
          <p:cNvSpPr/>
          <p:nvPr/>
        </p:nvSpPr>
        <p:spPr>
          <a:xfrm>
            <a:off x="9226296" y="2267712"/>
            <a:ext cx="2395728" cy="173736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Simplest possible runtime</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Great for pure local demos</a:t>
            </a:r>
            <a:endParaRPr lang="en-US" sz="1050" dirty="0"/>
          </a:p>
        </p:txBody>
      </p:sp>
      <p:sp>
        <p:nvSpPr>
          <p:cNvPr id="31" name="Text 26"/>
          <p:cNvSpPr/>
          <p:nvPr/>
        </p:nvSpPr>
        <p:spPr>
          <a:xfrm>
            <a:off x="9226296" y="4023360"/>
            <a:ext cx="1828800" cy="219456"/>
          </a:xfrm>
          <a:prstGeom prst="rect">
            <a:avLst/>
          </a:prstGeom>
          <a:noFill/>
          <a:ln/>
        </p:spPr>
        <p:txBody>
          <a:bodyPr wrap="square" lIns="0" tIns="0" rIns="0" bIns="0" rtlCol="0" anchor="ctr"/>
          <a:lstStyle/>
          <a:p>
            <a:pPr indent="0" marL="0">
              <a:buNone/>
            </a:pPr>
            <a:r>
              <a:rPr lang="en-US" sz="850" b="1" spc="150" kern="0" dirty="0">
                <a:solidFill>
                  <a:srgbClr val="B3261E"/>
                </a:solidFill>
                <a:latin typeface="Calibri" pitchFamily="34" charset="0"/>
                <a:ea typeface="Calibri" pitchFamily="34" charset="-122"/>
                <a:cs typeface="Calibri" pitchFamily="34" charset="-120"/>
              </a:rPr>
              <a:t>TRADE-OFFS</a:t>
            </a:r>
            <a:endParaRPr lang="en-US" sz="850" dirty="0"/>
          </a:p>
        </p:txBody>
      </p:sp>
      <p:sp>
        <p:nvSpPr>
          <p:cNvPr id="32" name="Text 27"/>
          <p:cNvSpPr/>
          <p:nvPr/>
        </p:nvSpPr>
        <p:spPr>
          <a:xfrm>
            <a:off x="9226296" y="4261104"/>
            <a:ext cx="2395728" cy="914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No orchestration story at all</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Least to show or learn</a:t>
            </a:r>
            <a:endParaRPr lang="en-US" sz="1050" dirty="0"/>
          </a:p>
        </p:txBody>
      </p:sp>
      <p:sp>
        <p:nvSpPr>
          <p:cNvPr id="33" name="Shape 28"/>
          <p:cNvSpPr/>
          <p:nvPr/>
        </p:nvSpPr>
        <p:spPr>
          <a:xfrm>
            <a:off x="502920" y="5486400"/>
            <a:ext cx="11201400" cy="960120"/>
          </a:xfrm>
          <a:prstGeom prst="roundRect">
            <a:avLst>
              <a:gd name="adj" fmla="val 6667"/>
            </a:avLst>
          </a:prstGeom>
          <a:solidFill>
            <a:srgbClr val="1E2761"/>
          </a:solidFill>
          <a:ln w="9525">
            <a:solidFill>
              <a:srgbClr val="DCE4F2"/>
            </a:solidFill>
            <a:prstDash val="solid"/>
          </a:ln>
        </p:spPr>
      </p:sp>
      <p:sp>
        <p:nvSpPr>
          <p:cNvPr id="34" name="Text 29"/>
          <p:cNvSpPr/>
          <p:nvPr/>
        </p:nvSpPr>
        <p:spPr>
          <a:xfrm>
            <a:off x="731520" y="5596128"/>
            <a:ext cx="10789920" cy="777240"/>
          </a:xfrm>
          <a:prstGeom prst="rect">
            <a:avLst/>
          </a:prstGeom>
          <a:noFill/>
          <a:ln/>
        </p:spPr>
        <p:txBody>
          <a:bodyPr wrap="square" lIns="0" tIns="0" rIns="0" bIns="0" rtlCol="0" anchor="t"/>
          <a:lstStyle/>
          <a:p>
            <a:pPr indent="0" marL="0">
              <a:buNone/>
            </a:pPr>
            <a:r>
              <a:rPr lang="en-US" sz="1200" b="1" dirty="0">
                <a:solidFill>
                  <a:srgbClr val="CADCFC"/>
                </a:solidFill>
                <a:latin typeface="Calibri" pitchFamily="34" charset="0"/>
                <a:ea typeface="Calibri" pitchFamily="34" charset="-122"/>
                <a:cs typeface="Calibri" pitchFamily="34" charset="-120"/>
              </a:rPr>
              <a:t>Verdict:  </a:t>
            </a:r>
            <a:pPr indent="0" marL="0">
              <a:buNone/>
            </a:pPr>
            <a:r>
              <a:rPr lang="en-US" sz="1200" dirty="0">
                <a:solidFill>
                  <a:srgbClr val="FFFFFF"/>
                </a:solidFill>
                <a:latin typeface="Calibri" pitchFamily="34" charset="0"/>
                <a:ea typeface="Calibri" pitchFamily="34" charset="-122"/>
                <a:cs typeface="Calibri" pitchFamily="34" charset="-120"/>
              </a:rPr>
              <a:t>EKS. The half-day constraint was met by front-loading cluster creation (unattended) while training ran locally in parallel. Cost for the whole session: under $3.</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DECISION 2 OF 4</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Experiment tracking, model registry, data versioning</a:t>
            </a:r>
            <a:endParaRPr lang="en-US" sz="2700" dirty="0"/>
          </a:p>
        </p:txBody>
      </p:sp>
      <p:sp>
        <p:nvSpPr>
          <p:cNvPr id="4" name="Shape 2"/>
          <p:cNvSpPr/>
          <p:nvPr/>
        </p:nvSpPr>
        <p:spPr>
          <a:xfrm>
            <a:off x="502920" y="1371600"/>
            <a:ext cx="3639312" cy="3931920"/>
          </a:xfrm>
          <a:prstGeom prst="roundRect">
            <a:avLst>
              <a:gd name="adj" fmla="val 1759"/>
            </a:avLst>
          </a:prstGeom>
          <a:solidFill>
            <a:srgbClr val="FFFFFF"/>
          </a:solidFill>
          <a:ln w="9525">
            <a:solidFill>
              <a:srgbClr val="2C7A3D"/>
            </a:solidFill>
            <a:prstDash val="solid"/>
          </a:ln>
        </p:spPr>
      </p:sp>
      <p:sp>
        <p:nvSpPr>
          <p:cNvPr id="5" name="Shape 3"/>
          <p:cNvSpPr/>
          <p:nvPr/>
        </p:nvSpPr>
        <p:spPr>
          <a:xfrm>
            <a:off x="3136392" y="1499616"/>
            <a:ext cx="868680" cy="274320"/>
          </a:xfrm>
          <a:prstGeom prst="roundRect">
            <a:avLst>
              <a:gd name="adj" fmla="val 16667"/>
            </a:avLst>
          </a:prstGeom>
          <a:solidFill>
            <a:srgbClr val="2C7A3D"/>
          </a:solidFill>
          <a:ln w="6350">
            <a:solidFill>
              <a:srgbClr val="2C7A3D"/>
            </a:solidFill>
            <a:prstDash val="solid"/>
          </a:ln>
        </p:spPr>
      </p:sp>
      <p:sp>
        <p:nvSpPr>
          <p:cNvPr id="6" name="Text 4"/>
          <p:cNvSpPr/>
          <p:nvPr/>
        </p:nvSpPr>
        <p:spPr>
          <a:xfrm>
            <a:off x="3136392" y="1499616"/>
            <a:ext cx="8686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CHOSEN</a:t>
            </a:r>
            <a:endParaRPr lang="en-US" sz="950" dirty="0"/>
          </a:p>
        </p:txBody>
      </p:sp>
      <p:pic>
        <p:nvPicPr>
          <p:cNvPr id="7" name="Image 0" descr="deck-assets/mlflow.png">    </p:cNvPr>
          <p:cNvPicPr>
            <a:picLocks noChangeAspect="1"/>
          </p:cNvPicPr>
          <p:nvPr/>
        </p:nvPicPr>
        <p:blipFill>
          <a:blip r:embed="rId1"/>
          <a:stretch>
            <a:fillRect/>
          </a:stretch>
        </p:blipFill>
        <p:spPr>
          <a:xfrm>
            <a:off x="667512" y="1517904"/>
            <a:ext cx="384048" cy="384048"/>
          </a:xfrm>
          <a:prstGeom prst="rect">
            <a:avLst/>
          </a:prstGeom>
        </p:spPr>
      </p:pic>
      <p:sp>
        <p:nvSpPr>
          <p:cNvPr id="8" name="Text 5"/>
          <p:cNvSpPr/>
          <p:nvPr/>
        </p:nvSpPr>
        <p:spPr>
          <a:xfrm>
            <a:off x="1161288" y="1536192"/>
            <a:ext cx="1947672"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MLflow + DVC</a:t>
            </a:r>
            <a:endParaRPr lang="en-US" sz="1450" dirty="0"/>
          </a:p>
        </p:txBody>
      </p:sp>
      <p:sp>
        <p:nvSpPr>
          <p:cNvPr id="9" name="Text 6"/>
          <p:cNvSpPr/>
          <p:nvPr/>
        </p:nvSpPr>
        <p:spPr>
          <a:xfrm>
            <a:off x="667512" y="2029968"/>
            <a:ext cx="1828800" cy="219456"/>
          </a:xfrm>
          <a:prstGeom prst="rect">
            <a:avLst/>
          </a:prstGeom>
          <a:noFill/>
          <a:ln/>
        </p:spPr>
        <p:txBody>
          <a:bodyPr wrap="square" lIns="0" tIns="0" rIns="0" bIns="0" rtlCol="0" anchor="ctr"/>
          <a:lstStyle/>
          <a:p>
            <a:pPr indent="0" marL="0">
              <a:buNone/>
            </a:pPr>
            <a:r>
              <a:rPr lang="en-US" sz="850" b="1" spc="150" kern="0" dirty="0">
                <a:solidFill>
                  <a:srgbClr val="2C7A3D"/>
                </a:solidFill>
                <a:latin typeface="Calibri" pitchFamily="34" charset="0"/>
                <a:ea typeface="Calibri" pitchFamily="34" charset="-122"/>
                <a:cs typeface="Calibri" pitchFamily="34" charset="-120"/>
              </a:rPr>
              <a:t>MERITS</a:t>
            </a:r>
            <a:endParaRPr lang="en-US" sz="850" dirty="0"/>
          </a:p>
        </p:txBody>
      </p:sp>
      <p:sp>
        <p:nvSpPr>
          <p:cNvPr id="10" name="Text 7"/>
          <p:cNvSpPr/>
          <p:nvPr/>
        </p:nvSpPr>
        <p:spPr>
          <a:xfrm>
            <a:off x="667512" y="2267712"/>
            <a:ext cx="3310128" cy="173736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De-facto OSS standard; tracking, registry, aliases in one server</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Registry aliases (candidate / production) give a clean promotion gate</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DVC adds git-semantics data versioning over S3</a:t>
            </a:r>
            <a:endParaRPr lang="en-US" sz="1050" dirty="0"/>
          </a:p>
        </p:txBody>
      </p:sp>
      <p:sp>
        <p:nvSpPr>
          <p:cNvPr id="11" name="Text 8"/>
          <p:cNvSpPr/>
          <p:nvPr/>
        </p:nvSpPr>
        <p:spPr>
          <a:xfrm>
            <a:off x="667512" y="4023360"/>
            <a:ext cx="1828800" cy="219456"/>
          </a:xfrm>
          <a:prstGeom prst="rect">
            <a:avLst/>
          </a:prstGeom>
          <a:noFill/>
          <a:ln/>
        </p:spPr>
        <p:txBody>
          <a:bodyPr wrap="square" lIns="0" tIns="0" rIns="0" bIns="0" rtlCol="0" anchor="ctr"/>
          <a:lstStyle/>
          <a:p>
            <a:pPr indent="0" marL="0">
              <a:buNone/>
            </a:pPr>
            <a:r>
              <a:rPr lang="en-US" sz="850" b="1" spc="150" kern="0" dirty="0">
                <a:solidFill>
                  <a:srgbClr val="B3261E"/>
                </a:solidFill>
                <a:latin typeface="Calibri" pitchFamily="34" charset="0"/>
                <a:ea typeface="Calibri" pitchFamily="34" charset="-122"/>
                <a:cs typeface="Calibri" pitchFamily="34" charset="-120"/>
              </a:rPr>
              <a:t>TRADE-OFFS</a:t>
            </a:r>
            <a:endParaRPr lang="en-US" sz="850" dirty="0"/>
          </a:p>
        </p:txBody>
      </p:sp>
      <p:sp>
        <p:nvSpPr>
          <p:cNvPr id="12" name="Text 9"/>
          <p:cNvSpPr/>
          <p:nvPr/>
        </p:nvSpPr>
        <p:spPr>
          <a:xfrm>
            <a:off x="667512" y="4261104"/>
            <a:ext cx="3310128" cy="914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Self-hosted: you own upgrades — the 2.x→3.x server/client skew cost us two debugging rounds</a:t>
            </a:r>
            <a:endParaRPr lang="en-US" sz="1050" dirty="0"/>
          </a:p>
        </p:txBody>
      </p:sp>
      <p:sp>
        <p:nvSpPr>
          <p:cNvPr id="13" name="Shape 10"/>
          <p:cNvSpPr/>
          <p:nvPr/>
        </p:nvSpPr>
        <p:spPr>
          <a:xfrm>
            <a:off x="4270248" y="1371600"/>
            <a:ext cx="3639312" cy="3931920"/>
          </a:xfrm>
          <a:prstGeom prst="roundRect">
            <a:avLst>
              <a:gd name="adj" fmla="val 1759"/>
            </a:avLst>
          </a:prstGeom>
          <a:solidFill>
            <a:srgbClr val="F0F4FB"/>
          </a:solidFill>
          <a:ln w="9525">
            <a:solidFill>
              <a:srgbClr val="DCE4F2"/>
            </a:solidFill>
            <a:prstDash val="solid"/>
          </a:ln>
        </p:spPr>
      </p:sp>
      <p:sp>
        <p:nvSpPr>
          <p:cNvPr id="14" name="Text 11"/>
          <p:cNvSpPr/>
          <p:nvPr/>
        </p:nvSpPr>
        <p:spPr>
          <a:xfrm>
            <a:off x="4434840" y="1536192"/>
            <a:ext cx="2450592"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Weights &amp; Biases</a:t>
            </a:r>
            <a:endParaRPr lang="en-US" sz="1450" dirty="0"/>
          </a:p>
        </p:txBody>
      </p:sp>
      <p:sp>
        <p:nvSpPr>
          <p:cNvPr id="15" name="Text 12"/>
          <p:cNvSpPr/>
          <p:nvPr/>
        </p:nvSpPr>
        <p:spPr>
          <a:xfrm>
            <a:off x="4434840" y="2029968"/>
            <a:ext cx="1828800" cy="219456"/>
          </a:xfrm>
          <a:prstGeom prst="rect">
            <a:avLst/>
          </a:prstGeom>
          <a:noFill/>
          <a:ln/>
        </p:spPr>
        <p:txBody>
          <a:bodyPr wrap="square" lIns="0" tIns="0" rIns="0" bIns="0" rtlCol="0" anchor="ctr"/>
          <a:lstStyle/>
          <a:p>
            <a:pPr indent="0" marL="0">
              <a:buNone/>
            </a:pPr>
            <a:r>
              <a:rPr lang="en-US" sz="850" b="1" spc="150" kern="0" dirty="0">
                <a:solidFill>
                  <a:srgbClr val="2C7A3D"/>
                </a:solidFill>
                <a:latin typeface="Calibri" pitchFamily="34" charset="0"/>
                <a:ea typeface="Calibri" pitchFamily="34" charset="-122"/>
                <a:cs typeface="Calibri" pitchFamily="34" charset="-120"/>
              </a:rPr>
              <a:t>MERITS</a:t>
            </a:r>
            <a:endParaRPr lang="en-US" sz="850" dirty="0"/>
          </a:p>
        </p:txBody>
      </p:sp>
      <p:sp>
        <p:nvSpPr>
          <p:cNvPr id="16" name="Text 13"/>
          <p:cNvSpPr/>
          <p:nvPr/>
        </p:nvSpPr>
        <p:spPr>
          <a:xfrm>
            <a:off x="4434840" y="2267712"/>
            <a:ext cx="3310128" cy="173736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Best-in-class UI; superb CV artifact visualization</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Zero hosting; generous personal tier</a:t>
            </a:r>
            <a:endParaRPr lang="en-US" sz="1050" dirty="0"/>
          </a:p>
        </p:txBody>
      </p:sp>
      <p:sp>
        <p:nvSpPr>
          <p:cNvPr id="17" name="Text 14"/>
          <p:cNvSpPr/>
          <p:nvPr/>
        </p:nvSpPr>
        <p:spPr>
          <a:xfrm>
            <a:off x="4434840" y="4023360"/>
            <a:ext cx="1828800" cy="219456"/>
          </a:xfrm>
          <a:prstGeom prst="rect">
            <a:avLst/>
          </a:prstGeom>
          <a:noFill/>
          <a:ln/>
        </p:spPr>
        <p:txBody>
          <a:bodyPr wrap="square" lIns="0" tIns="0" rIns="0" bIns="0" rtlCol="0" anchor="ctr"/>
          <a:lstStyle/>
          <a:p>
            <a:pPr indent="0" marL="0">
              <a:buNone/>
            </a:pPr>
            <a:r>
              <a:rPr lang="en-US" sz="850" b="1" spc="150" kern="0" dirty="0">
                <a:solidFill>
                  <a:srgbClr val="B3261E"/>
                </a:solidFill>
                <a:latin typeface="Calibri" pitchFamily="34" charset="0"/>
                <a:ea typeface="Calibri" pitchFamily="34" charset="-122"/>
                <a:cs typeface="Calibri" pitchFamily="34" charset="-120"/>
              </a:rPr>
              <a:t>TRADE-OFFS</a:t>
            </a:r>
            <a:endParaRPr lang="en-US" sz="850" dirty="0"/>
          </a:p>
        </p:txBody>
      </p:sp>
      <p:sp>
        <p:nvSpPr>
          <p:cNvPr id="18" name="Text 15"/>
          <p:cNvSpPr/>
          <p:nvPr/>
        </p:nvSpPr>
        <p:spPr>
          <a:xfrm>
            <a:off x="4434840" y="4261104"/>
            <a:ext cx="3310128" cy="914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Data lives in vendor cloud</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Registry semantics tied to platform</a:t>
            </a:r>
            <a:endParaRPr lang="en-US" sz="1050" dirty="0"/>
          </a:p>
        </p:txBody>
      </p:sp>
      <p:sp>
        <p:nvSpPr>
          <p:cNvPr id="19" name="Shape 16"/>
          <p:cNvSpPr/>
          <p:nvPr/>
        </p:nvSpPr>
        <p:spPr>
          <a:xfrm>
            <a:off x="8037576" y="1371600"/>
            <a:ext cx="3639312" cy="3931920"/>
          </a:xfrm>
          <a:prstGeom prst="roundRect">
            <a:avLst>
              <a:gd name="adj" fmla="val 1759"/>
            </a:avLst>
          </a:prstGeom>
          <a:solidFill>
            <a:srgbClr val="F0F4FB"/>
          </a:solidFill>
          <a:ln w="9525">
            <a:solidFill>
              <a:srgbClr val="DCE4F2"/>
            </a:solidFill>
            <a:prstDash val="solid"/>
          </a:ln>
        </p:spPr>
      </p:sp>
      <p:pic>
        <p:nvPicPr>
          <p:cNvPr id="20" name="Image 1" descr="deck-assets/mlflow.png">    </p:cNvPr>
          <p:cNvPicPr>
            <a:picLocks noChangeAspect="1"/>
          </p:cNvPicPr>
          <p:nvPr/>
        </p:nvPicPr>
        <p:blipFill>
          <a:blip r:embed="rId2"/>
          <a:stretch>
            <a:fillRect/>
          </a:stretch>
        </p:blipFill>
        <p:spPr>
          <a:xfrm>
            <a:off x="8202168" y="1517904"/>
            <a:ext cx="384048" cy="384048"/>
          </a:xfrm>
          <a:prstGeom prst="rect">
            <a:avLst/>
          </a:prstGeom>
        </p:spPr>
      </p:pic>
      <p:sp>
        <p:nvSpPr>
          <p:cNvPr id="21" name="Text 17"/>
          <p:cNvSpPr/>
          <p:nvPr/>
        </p:nvSpPr>
        <p:spPr>
          <a:xfrm>
            <a:off x="8695944" y="1536192"/>
            <a:ext cx="1947672"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MLflow alone</a:t>
            </a:r>
            <a:endParaRPr lang="en-US" sz="1450" dirty="0"/>
          </a:p>
        </p:txBody>
      </p:sp>
      <p:sp>
        <p:nvSpPr>
          <p:cNvPr id="22" name="Text 18"/>
          <p:cNvSpPr/>
          <p:nvPr/>
        </p:nvSpPr>
        <p:spPr>
          <a:xfrm>
            <a:off x="8202168" y="2029968"/>
            <a:ext cx="1828800" cy="219456"/>
          </a:xfrm>
          <a:prstGeom prst="rect">
            <a:avLst/>
          </a:prstGeom>
          <a:noFill/>
          <a:ln/>
        </p:spPr>
        <p:txBody>
          <a:bodyPr wrap="square" lIns="0" tIns="0" rIns="0" bIns="0" rtlCol="0" anchor="ctr"/>
          <a:lstStyle/>
          <a:p>
            <a:pPr indent="0" marL="0">
              <a:buNone/>
            </a:pPr>
            <a:r>
              <a:rPr lang="en-US" sz="850" b="1" spc="150" kern="0" dirty="0">
                <a:solidFill>
                  <a:srgbClr val="2C7A3D"/>
                </a:solidFill>
                <a:latin typeface="Calibri" pitchFamily="34" charset="0"/>
                <a:ea typeface="Calibri" pitchFamily="34" charset="-122"/>
                <a:cs typeface="Calibri" pitchFamily="34" charset="-120"/>
              </a:rPr>
              <a:t>MERITS</a:t>
            </a:r>
            <a:endParaRPr lang="en-US" sz="850" dirty="0"/>
          </a:p>
        </p:txBody>
      </p:sp>
      <p:sp>
        <p:nvSpPr>
          <p:cNvPr id="23" name="Text 19"/>
          <p:cNvSpPr/>
          <p:nvPr/>
        </p:nvSpPr>
        <p:spPr>
          <a:xfrm>
            <a:off x="8202168" y="2267712"/>
            <a:ext cx="3310128" cy="173736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One less tool to learn</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Registry still covers model lineage</a:t>
            </a:r>
            <a:endParaRPr lang="en-US" sz="1050" dirty="0"/>
          </a:p>
        </p:txBody>
      </p:sp>
      <p:sp>
        <p:nvSpPr>
          <p:cNvPr id="24" name="Text 20"/>
          <p:cNvSpPr/>
          <p:nvPr/>
        </p:nvSpPr>
        <p:spPr>
          <a:xfrm>
            <a:off x="8202168" y="4023360"/>
            <a:ext cx="1828800" cy="219456"/>
          </a:xfrm>
          <a:prstGeom prst="rect">
            <a:avLst/>
          </a:prstGeom>
          <a:noFill/>
          <a:ln/>
        </p:spPr>
        <p:txBody>
          <a:bodyPr wrap="square" lIns="0" tIns="0" rIns="0" bIns="0" rtlCol="0" anchor="ctr"/>
          <a:lstStyle/>
          <a:p>
            <a:pPr indent="0" marL="0">
              <a:buNone/>
            </a:pPr>
            <a:r>
              <a:rPr lang="en-US" sz="850" b="1" spc="150" kern="0" dirty="0">
                <a:solidFill>
                  <a:srgbClr val="B3261E"/>
                </a:solidFill>
                <a:latin typeface="Calibri" pitchFamily="34" charset="0"/>
                <a:ea typeface="Calibri" pitchFamily="34" charset="-122"/>
                <a:cs typeface="Calibri" pitchFamily="34" charset="-120"/>
              </a:rPr>
              <a:t>TRADE-OFFS</a:t>
            </a:r>
            <a:endParaRPr lang="en-US" sz="850" dirty="0"/>
          </a:p>
        </p:txBody>
      </p:sp>
      <p:sp>
        <p:nvSpPr>
          <p:cNvPr id="25" name="Text 21"/>
          <p:cNvSpPr/>
          <p:nvPr/>
        </p:nvSpPr>
        <p:spPr>
          <a:xfrm>
            <a:off x="8202168" y="4261104"/>
            <a:ext cx="3310128" cy="914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Dataset lineage is the gap — “which data trained v2?” becomes unanswerable at scale</a:t>
            </a:r>
            <a:endParaRPr lang="en-US" sz="1050" dirty="0"/>
          </a:p>
        </p:txBody>
      </p:sp>
      <p:sp>
        <p:nvSpPr>
          <p:cNvPr id="26" name="Shape 22"/>
          <p:cNvSpPr/>
          <p:nvPr/>
        </p:nvSpPr>
        <p:spPr>
          <a:xfrm>
            <a:off x="502920" y="5486400"/>
            <a:ext cx="11201400" cy="960120"/>
          </a:xfrm>
          <a:prstGeom prst="roundRect">
            <a:avLst>
              <a:gd name="adj" fmla="val 6667"/>
            </a:avLst>
          </a:prstGeom>
          <a:solidFill>
            <a:srgbClr val="1E2761"/>
          </a:solidFill>
          <a:ln w="9525">
            <a:solidFill>
              <a:srgbClr val="DCE4F2"/>
            </a:solidFill>
            <a:prstDash val="solid"/>
          </a:ln>
        </p:spPr>
      </p:sp>
      <p:sp>
        <p:nvSpPr>
          <p:cNvPr id="27" name="Text 23"/>
          <p:cNvSpPr/>
          <p:nvPr/>
        </p:nvSpPr>
        <p:spPr>
          <a:xfrm>
            <a:off x="731520" y="5596128"/>
            <a:ext cx="10789920" cy="777240"/>
          </a:xfrm>
          <a:prstGeom prst="rect">
            <a:avLst/>
          </a:prstGeom>
          <a:noFill/>
          <a:ln/>
        </p:spPr>
        <p:txBody>
          <a:bodyPr wrap="square" lIns="0" tIns="0" rIns="0" bIns="0" rtlCol="0" anchor="t"/>
          <a:lstStyle/>
          <a:p>
            <a:pPr indent="0" marL="0">
              <a:buNone/>
            </a:pPr>
            <a:r>
              <a:rPr lang="en-US" sz="1200" b="1" dirty="0">
                <a:solidFill>
                  <a:srgbClr val="CADCFC"/>
                </a:solidFill>
                <a:latin typeface="Calibri" pitchFamily="34" charset="0"/>
                <a:ea typeface="Calibri" pitchFamily="34" charset="-122"/>
                <a:cs typeface="Calibri" pitchFamily="34" charset="-120"/>
              </a:rPr>
              <a:t>Verdict:  </a:t>
            </a:r>
            <a:pPr indent="0" marL="0">
              <a:buNone/>
            </a:pPr>
            <a:r>
              <a:rPr lang="en-US" sz="1200" dirty="0">
                <a:solidFill>
                  <a:srgbClr val="FFFFFF"/>
                </a:solidFill>
                <a:latin typeface="Calibri" pitchFamily="34" charset="0"/>
                <a:ea typeface="Calibri" pitchFamily="34" charset="-122"/>
                <a:cs typeface="Calibri" pitchFamily="34" charset="-120"/>
              </a:rPr>
              <a:t>MLflow + DVC. Portable, self-owned metadata; the registry's alias mechanism became the deployment contract (serving always ships the version behind an alias, never “latest run”).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DECISION 3 OF 4</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Model serving layer</a:t>
            </a:r>
            <a:endParaRPr lang="en-US" sz="2700" dirty="0"/>
          </a:p>
        </p:txBody>
      </p:sp>
      <p:sp>
        <p:nvSpPr>
          <p:cNvPr id="4" name="Shape 2"/>
          <p:cNvSpPr/>
          <p:nvPr/>
        </p:nvSpPr>
        <p:spPr>
          <a:xfrm>
            <a:off x="502920" y="1371600"/>
            <a:ext cx="3639312" cy="3931920"/>
          </a:xfrm>
          <a:prstGeom prst="roundRect">
            <a:avLst>
              <a:gd name="adj" fmla="val 1759"/>
            </a:avLst>
          </a:prstGeom>
          <a:solidFill>
            <a:srgbClr val="FFFFFF"/>
          </a:solidFill>
          <a:ln w="9525">
            <a:solidFill>
              <a:srgbClr val="2C7A3D"/>
            </a:solidFill>
            <a:prstDash val="solid"/>
          </a:ln>
        </p:spPr>
      </p:sp>
      <p:sp>
        <p:nvSpPr>
          <p:cNvPr id="5" name="Shape 3"/>
          <p:cNvSpPr/>
          <p:nvPr/>
        </p:nvSpPr>
        <p:spPr>
          <a:xfrm>
            <a:off x="3136392" y="1499616"/>
            <a:ext cx="868680" cy="274320"/>
          </a:xfrm>
          <a:prstGeom prst="roundRect">
            <a:avLst>
              <a:gd name="adj" fmla="val 16667"/>
            </a:avLst>
          </a:prstGeom>
          <a:solidFill>
            <a:srgbClr val="2C7A3D"/>
          </a:solidFill>
          <a:ln w="6350">
            <a:solidFill>
              <a:srgbClr val="2C7A3D"/>
            </a:solidFill>
            <a:prstDash val="solid"/>
          </a:ln>
        </p:spPr>
      </p:sp>
      <p:sp>
        <p:nvSpPr>
          <p:cNvPr id="6" name="Text 4"/>
          <p:cNvSpPr/>
          <p:nvPr/>
        </p:nvSpPr>
        <p:spPr>
          <a:xfrm>
            <a:off x="3136392" y="1499616"/>
            <a:ext cx="8686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CHOSEN</a:t>
            </a:r>
            <a:endParaRPr lang="en-US" sz="950" dirty="0"/>
          </a:p>
        </p:txBody>
      </p:sp>
      <p:pic>
        <p:nvPicPr>
          <p:cNvPr id="7" name="Image 0" descr="deck-assets/fastapi.png">    </p:cNvPr>
          <p:cNvPicPr>
            <a:picLocks noChangeAspect="1"/>
          </p:cNvPicPr>
          <p:nvPr/>
        </p:nvPicPr>
        <p:blipFill>
          <a:blip r:embed="rId1"/>
          <a:stretch>
            <a:fillRect/>
          </a:stretch>
        </p:blipFill>
        <p:spPr>
          <a:xfrm>
            <a:off x="667512" y="1517904"/>
            <a:ext cx="384048" cy="384048"/>
          </a:xfrm>
          <a:prstGeom prst="rect">
            <a:avLst/>
          </a:prstGeom>
        </p:spPr>
      </p:pic>
      <p:sp>
        <p:nvSpPr>
          <p:cNvPr id="8" name="Text 5"/>
          <p:cNvSpPr/>
          <p:nvPr/>
        </p:nvSpPr>
        <p:spPr>
          <a:xfrm>
            <a:off x="1161288" y="1536192"/>
            <a:ext cx="1947672"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FastAPI + ONNX Runtime</a:t>
            </a:r>
            <a:endParaRPr lang="en-US" sz="1450" dirty="0"/>
          </a:p>
        </p:txBody>
      </p:sp>
      <p:sp>
        <p:nvSpPr>
          <p:cNvPr id="9" name="Text 6"/>
          <p:cNvSpPr/>
          <p:nvPr/>
        </p:nvSpPr>
        <p:spPr>
          <a:xfrm>
            <a:off x="667512" y="2029968"/>
            <a:ext cx="1828800" cy="219456"/>
          </a:xfrm>
          <a:prstGeom prst="rect">
            <a:avLst/>
          </a:prstGeom>
          <a:noFill/>
          <a:ln/>
        </p:spPr>
        <p:txBody>
          <a:bodyPr wrap="square" lIns="0" tIns="0" rIns="0" bIns="0" rtlCol="0" anchor="ctr"/>
          <a:lstStyle/>
          <a:p>
            <a:pPr indent="0" marL="0">
              <a:buNone/>
            </a:pPr>
            <a:r>
              <a:rPr lang="en-US" sz="850" b="1" spc="150" kern="0" dirty="0">
                <a:solidFill>
                  <a:srgbClr val="2C7A3D"/>
                </a:solidFill>
                <a:latin typeface="Calibri" pitchFamily="34" charset="0"/>
                <a:ea typeface="Calibri" pitchFamily="34" charset="-122"/>
                <a:cs typeface="Calibri" pitchFamily="34" charset="-120"/>
              </a:rPr>
              <a:t>MERITS</a:t>
            </a:r>
            <a:endParaRPr lang="en-US" sz="850" dirty="0"/>
          </a:p>
        </p:txBody>
      </p:sp>
      <p:sp>
        <p:nvSpPr>
          <p:cNvPr id="10" name="Text 7"/>
          <p:cNvSpPr/>
          <p:nvPr/>
        </p:nvSpPr>
        <p:spPr>
          <a:xfrm>
            <a:off x="667512" y="2267712"/>
            <a:ext cx="3310128" cy="173736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~200 lines, fully owned: preprocess, NMS, response shape</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Trivial to instrument — custom Prometheus metrics are first-class</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ONNX decouples serving from PyTorch; CPU-friendly</a:t>
            </a:r>
            <a:endParaRPr lang="en-US" sz="1050" dirty="0"/>
          </a:p>
        </p:txBody>
      </p:sp>
      <p:sp>
        <p:nvSpPr>
          <p:cNvPr id="11" name="Text 8"/>
          <p:cNvSpPr/>
          <p:nvPr/>
        </p:nvSpPr>
        <p:spPr>
          <a:xfrm>
            <a:off x="667512" y="4023360"/>
            <a:ext cx="1828800" cy="219456"/>
          </a:xfrm>
          <a:prstGeom prst="rect">
            <a:avLst/>
          </a:prstGeom>
          <a:noFill/>
          <a:ln/>
        </p:spPr>
        <p:txBody>
          <a:bodyPr wrap="square" lIns="0" tIns="0" rIns="0" bIns="0" rtlCol="0" anchor="ctr"/>
          <a:lstStyle/>
          <a:p>
            <a:pPr indent="0" marL="0">
              <a:buNone/>
            </a:pPr>
            <a:r>
              <a:rPr lang="en-US" sz="850" b="1" spc="150" kern="0" dirty="0">
                <a:solidFill>
                  <a:srgbClr val="B3261E"/>
                </a:solidFill>
                <a:latin typeface="Calibri" pitchFamily="34" charset="0"/>
                <a:ea typeface="Calibri" pitchFamily="34" charset="-122"/>
                <a:cs typeface="Calibri" pitchFamily="34" charset="-120"/>
              </a:rPr>
              <a:t>TRADE-OFFS</a:t>
            </a:r>
            <a:endParaRPr lang="en-US" sz="850" dirty="0"/>
          </a:p>
        </p:txBody>
      </p:sp>
      <p:sp>
        <p:nvSpPr>
          <p:cNvPr id="12" name="Text 9"/>
          <p:cNvSpPr/>
          <p:nvPr/>
        </p:nvSpPr>
        <p:spPr>
          <a:xfrm>
            <a:off x="667512" y="4261104"/>
            <a:ext cx="3310128" cy="914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No dynamic batching / multi-model mgmt</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You write the YOLO decode yourself</a:t>
            </a:r>
            <a:endParaRPr lang="en-US" sz="1050" dirty="0"/>
          </a:p>
        </p:txBody>
      </p:sp>
      <p:sp>
        <p:nvSpPr>
          <p:cNvPr id="13" name="Shape 10"/>
          <p:cNvSpPr/>
          <p:nvPr/>
        </p:nvSpPr>
        <p:spPr>
          <a:xfrm>
            <a:off x="4270248" y="1371600"/>
            <a:ext cx="3639312" cy="3931920"/>
          </a:xfrm>
          <a:prstGeom prst="roundRect">
            <a:avLst>
              <a:gd name="adj" fmla="val 1759"/>
            </a:avLst>
          </a:prstGeom>
          <a:solidFill>
            <a:srgbClr val="F0F4FB"/>
          </a:solidFill>
          <a:ln w="9525">
            <a:solidFill>
              <a:srgbClr val="DCE4F2"/>
            </a:solidFill>
            <a:prstDash val="solid"/>
          </a:ln>
        </p:spPr>
      </p:sp>
      <p:sp>
        <p:nvSpPr>
          <p:cNvPr id="14" name="Text 11"/>
          <p:cNvSpPr/>
          <p:nvPr/>
        </p:nvSpPr>
        <p:spPr>
          <a:xfrm>
            <a:off x="4434840" y="1536192"/>
            <a:ext cx="2450592"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NVIDIA Triton</a:t>
            </a:r>
            <a:endParaRPr lang="en-US" sz="1450" dirty="0"/>
          </a:p>
        </p:txBody>
      </p:sp>
      <p:sp>
        <p:nvSpPr>
          <p:cNvPr id="15" name="Text 12"/>
          <p:cNvSpPr/>
          <p:nvPr/>
        </p:nvSpPr>
        <p:spPr>
          <a:xfrm>
            <a:off x="4434840" y="2029968"/>
            <a:ext cx="1828800" cy="219456"/>
          </a:xfrm>
          <a:prstGeom prst="rect">
            <a:avLst/>
          </a:prstGeom>
          <a:noFill/>
          <a:ln/>
        </p:spPr>
        <p:txBody>
          <a:bodyPr wrap="square" lIns="0" tIns="0" rIns="0" bIns="0" rtlCol="0" anchor="ctr"/>
          <a:lstStyle/>
          <a:p>
            <a:pPr indent="0" marL="0">
              <a:buNone/>
            </a:pPr>
            <a:r>
              <a:rPr lang="en-US" sz="850" b="1" spc="150" kern="0" dirty="0">
                <a:solidFill>
                  <a:srgbClr val="2C7A3D"/>
                </a:solidFill>
                <a:latin typeface="Calibri" pitchFamily="34" charset="0"/>
                <a:ea typeface="Calibri" pitchFamily="34" charset="-122"/>
                <a:cs typeface="Calibri" pitchFamily="34" charset="-120"/>
              </a:rPr>
              <a:t>MERITS</a:t>
            </a:r>
            <a:endParaRPr lang="en-US" sz="850" dirty="0"/>
          </a:p>
        </p:txBody>
      </p:sp>
      <p:sp>
        <p:nvSpPr>
          <p:cNvPr id="16" name="Text 13"/>
          <p:cNvSpPr/>
          <p:nvPr/>
        </p:nvSpPr>
        <p:spPr>
          <a:xfrm>
            <a:off x="4434840" y="2267712"/>
            <a:ext cx="3310128" cy="173736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Production batching, GPU sharing, metrics endpoint built in</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Multi-framework model repository</a:t>
            </a:r>
            <a:endParaRPr lang="en-US" sz="1050" dirty="0"/>
          </a:p>
        </p:txBody>
      </p:sp>
      <p:sp>
        <p:nvSpPr>
          <p:cNvPr id="17" name="Text 14"/>
          <p:cNvSpPr/>
          <p:nvPr/>
        </p:nvSpPr>
        <p:spPr>
          <a:xfrm>
            <a:off x="4434840" y="4023360"/>
            <a:ext cx="1828800" cy="219456"/>
          </a:xfrm>
          <a:prstGeom prst="rect">
            <a:avLst/>
          </a:prstGeom>
          <a:noFill/>
          <a:ln/>
        </p:spPr>
        <p:txBody>
          <a:bodyPr wrap="square" lIns="0" tIns="0" rIns="0" bIns="0" rtlCol="0" anchor="ctr"/>
          <a:lstStyle/>
          <a:p>
            <a:pPr indent="0" marL="0">
              <a:buNone/>
            </a:pPr>
            <a:r>
              <a:rPr lang="en-US" sz="850" b="1" spc="150" kern="0" dirty="0">
                <a:solidFill>
                  <a:srgbClr val="B3261E"/>
                </a:solidFill>
                <a:latin typeface="Calibri" pitchFamily="34" charset="0"/>
                <a:ea typeface="Calibri" pitchFamily="34" charset="-122"/>
                <a:cs typeface="Calibri" pitchFamily="34" charset="-120"/>
              </a:rPr>
              <a:t>TRADE-OFFS</a:t>
            </a:r>
            <a:endParaRPr lang="en-US" sz="850" dirty="0"/>
          </a:p>
        </p:txBody>
      </p:sp>
      <p:sp>
        <p:nvSpPr>
          <p:cNvPr id="18" name="Text 15"/>
          <p:cNvSpPr/>
          <p:nvPr/>
        </p:nvSpPr>
        <p:spPr>
          <a:xfrm>
            <a:off x="4434840" y="4261104"/>
            <a:ext cx="3310128" cy="914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Heavy image + config for a CPU demo</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Overkill until GPU serving matters</a:t>
            </a:r>
            <a:endParaRPr lang="en-US" sz="1050" dirty="0"/>
          </a:p>
        </p:txBody>
      </p:sp>
      <p:sp>
        <p:nvSpPr>
          <p:cNvPr id="19" name="Shape 16"/>
          <p:cNvSpPr/>
          <p:nvPr/>
        </p:nvSpPr>
        <p:spPr>
          <a:xfrm>
            <a:off x="8037576" y="1371600"/>
            <a:ext cx="3639312" cy="3931920"/>
          </a:xfrm>
          <a:prstGeom prst="roundRect">
            <a:avLst>
              <a:gd name="adj" fmla="val 1759"/>
            </a:avLst>
          </a:prstGeom>
          <a:solidFill>
            <a:srgbClr val="F0F4FB"/>
          </a:solidFill>
          <a:ln w="9525">
            <a:solidFill>
              <a:srgbClr val="DCE4F2"/>
            </a:solidFill>
            <a:prstDash val="solid"/>
          </a:ln>
        </p:spPr>
      </p:sp>
      <p:pic>
        <p:nvPicPr>
          <p:cNvPr id="20" name="Image 1" descr="deck-assets/kubernetes.png">    </p:cNvPr>
          <p:cNvPicPr>
            <a:picLocks noChangeAspect="1"/>
          </p:cNvPicPr>
          <p:nvPr/>
        </p:nvPicPr>
        <p:blipFill>
          <a:blip r:embed="rId2"/>
          <a:stretch>
            <a:fillRect/>
          </a:stretch>
        </p:blipFill>
        <p:spPr>
          <a:xfrm>
            <a:off x="8202168" y="1517904"/>
            <a:ext cx="384048" cy="384048"/>
          </a:xfrm>
          <a:prstGeom prst="rect">
            <a:avLst/>
          </a:prstGeom>
        </p:spPr>
      </p:pic>
      <p:sp>
        <p:nvSpPr>
          <p:cNvPr id="21" name="Text 17"/>
          <p:cNvSpPr/>
          <p:nvPr/>
        </p:nvSpPr>
        <p:spPr>
          <a:xfrm>
            <a:off x="8695944" y="1536192"/>
            <a:ext cx="1947672"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KServe</a:t>
            </a:r>
            <a:endParaRPr lang="en-US" sz="1450" dirty="0"/>
          </a:p>
        </p:txBody>
      </p:sp>
      <p:sp>
        <p:nvSpPr>
          <p:cNvPr id="22" name="Text 18"/>
          <p:cNvSpPr/>
          <p:nvPr/>
        </p:nvSpPr>
        <p:spPr>
          <a:xfrm>
            <a:off x="8202168" y="2029968"/>
            <a:ext cx="1828800" cy="219456"/>
          </a:xfrm>
          <a:prstGeom prst="rect">
            <a:avLst/>
          </a:prstGeom>
          <a:noFill/>
          <a:ln/>
        </p:spPr>
        <p:txBody>
          <a:bodyPr wrap="square" lIns="0" tIns="0" rIns="0" bIns="0" rtlCol="0" anchor="ctr"/>
          <a:lstStyle/>
          <a:p>
            <a:pPr indent="0" marL="0">
              <a:buNone/>
            </a:pPr>
            <a:r>
              <a:rPr lang="en-US" sz="850" b="1" spc="150" kern="0" dirty="0">
                <a:solidFill>
                  <a:srgbClr val="2C7A3D"/>
                </a:solidFill>
                <a:latin typeface="Calibri" pitchFamily="34" charset="0"/>
                <a:ea typeface="Calibri" pitchFamily="34" charset="-122"/>
                <a:cs typeface="Calibri" pitchFamily="34" charset="-120"/>
              </a:rPr>
              <a:t>MERITS</a:t>
            </a:r>
            <a:endParaRPr lang="en-US" sz="850" dirty="0"/>
          </a:p>
        </p:txBody>
      </p:sp>
      <p:sp>
        <p:nvSpPr>
          <p:cNvPr id="23" name="Text 19"/>
          <p:cNvSpPr/>
          <p:nvPr/>
        </p:nvSpPr>
        <p:spPr>
          <a:xfrm>
            <a:off x="8202168" y="2267712"/>
            <a:ext cx="3310128" cy="173736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K8s-native CRDs; canary + scale-to-zero</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Clean separation of infra and model</a:t>
            </a:r>
            <a:endParaRPr lang="en-US" sz="1050" dirty="0"/>
          </a:p>
        </p:txBody>
      </p:sp>
      <p:sp>
        <p:nvSpPr>
          <p:cNvPr id="24" name="Text 20"/>
          <p:cNvSpPr/>
          <p:nvPr/>
        </p:nvSpPr>
        <p:spPr>
          <a:xfrm>
            <a:off x="8202168" y="4023360"/>
            <a:ext cx="1828800" cy="219456"/>
          </a:xfrm>
          <a:prstGeom prst="rect">
            <a:avLst/>
          </a:prstGeom>
          <a:noFill/>
          <a:ln/>
        </p:spPr>
        <p:txBody>
          <a:bodyPr wrap="square" lIns="0" tIns="0" rIns="0" bIns="0" rtlCol="0" anchor="ctr"/>
          <a:lstStyle/>
          <a:p>
            <a:pPr indent="0" marL="0">
              <a:buNone/>
            </a:pPr>
            <a:r>
              <a:rPr lang="en-US" sz="850" b="1" spc="150" kern="0" dirty="0">
                <a:solidFill>
                  <a:srgbClr val="B3261E"/>
                </a:solidFill>
                <a:latin typeface="Calibri" pitchFamily="34" charset="0"/>
                <a:ea typeface="Calibri" pitchFamily="34" charset="-122"/>
                <a:cs typeface="Calibri" pitchFamily="34" charset="-120"/>
              </a:rPr>
              <a:t>TRADE-OFFS</a:t>
            </a:r>
            <a:endParaRPr lang="en-US" sz="850" dirty="0"/>
          </a:p>
        </p:txBody>
      </p:sp>
      <p:sp>
        <p:nvSpPr>
          <p:cNvPr id="25" name="Text 21"/>
          <p:cNvSpPr/>
          <p:nvPr/>
        </p:nvSpPr>
        <p:spPr>
          <a:xfrm>
            <a:off x="8202168" y="4261104"/>
            <a:ext cx="3310128" cy="914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Istio/Knative dependency chain alone can eat the half-day budget</a:t>
            </a:r>
            <a:endParaRPr lang="en-US" sz="1050" dirty="0"/>
          </a:p>
        </p:txBody>
      </p:sp>
      <p:sp>
        <p:nvSpPr>
          <p:cNvPr id="26" name="Shape 22"/>
          <p:cNvSpPr/>
          <p:nvPr/>
        </p:nvSpPr>
        <p:spPr>
          <a:xfrm>
            <a:off x="502920" y="5486400"/>
            <a:ext cx="11201400" cy="960120"/>
          </a:xfrm>
          <a:prstGeom prst="roundRect">
            <a:avLst>
              <a:gd name="adj" fmla="val 6667"/>
            </a:avLst>
          </a:prstGeom>
          <a:solidFill>
            <a:srgbClr val="1E2761"/>
          </a:solidFill>
          <a:ln w="9525">
            <a:solidFill>
              <a:srgbClr val="DCE4F2"/>
            </a:solidFill>
            <a:prstDash val="solid"/>
          </a:ln>
        </p:spPr>
      </p:sp>
      <p:sp>
        <p:nvSpPr>
          <p:cNvPr id="27" name="Text 23"/>
          <p:cNvSpPr/>
          <p:nvPr/>
        </p:nvSpPr>
        <p:spPr>
          <a:xfrm>
            <a:off x="731520" y="5596128"/>
            <a:ext cx="10789920" cy="777240"/>
          </a:xfrm>
          <a:prstGeom prst="rect">
            <a:avLst/>
          </a:prstGeom>
          <a:noFill/>
          <a:ln/>
        </p:spPr>
        <p:txBody>
          <a:bodyPr wrap="square" lIns="0" tIns="0" rIns="0" bIns="0" rtlCol="0" anchor="t"/>
          <a:lstStyle/>
          <a:p>
            <a:pPr indent="0" marL="0">
              <a:buNone/>
            </a:pPr>
            <a:r>
              <a:rPr lang="en-US" sz="1200" b="1" dirty="0">
                <a:solidFill>
                  <a:srgbClr val="CADCFC"/>
                </a:solidFill>
                <a:latin typeface="Calibri" pitchFamily="34" charset="0"/>
                <a:ea typeface="Calibri" pitchFamily="34" charset="-122"/>
                <a:cs typeface="Calibri" pitchFamily="34" charset="-120"/>
              </a:rPr>
              <a:t>Verdict:  </a:t>
            </a:r>
            <a:pPr indent="0" marL="0">
              <a:buNone/>
            </a:pPr>
            <a:r>
              <a:rPr lang="en-US" sz="1200" dirty="0">
                <a:solidFill>
                  <a:srgbClr val="FFFFFF"/>
                </a:solidFill>
                <a:latin typeface="Calibri" pitchFamily="34" charset="0"/>
                <a:ea typeface="Calibri" pitchFamily="34" charset="-122"/>
                <a:cs typeface="Calibri" pitchFamily="34" charset="-120"/>
              </a:rPr>
              <a:t>FastAPI + ONNX Runtime. Owning the serving code is what made per-class detection counters, confidence histograms, and JSONL feature logging (the drift feed) a 20-line addition instead of a plugin hunt.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DECISION 4 OF 4</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Monitoring &amp; drift detection</a:t>
            </a:r>
            <a:endParaRPr lang="en-US" sz="2700" dirty="0"/>
          </a:p>
        </p:txBody>
      </p:sp>
      <p:sp>
        <p:nvSpPr>
          <p:cNvPr id="4" name="Shape 2"/>
          <p:cNvSpPr/>
          <p:nvPr/>
        </p:nvSpPr>
        <p:spPr>
          <a:xfrm>
            <a:off x="502920" y="1371600"/>
            <a:ext cx="3639312" cy="3931920"/>
          </a:xfrm>
          <a:prstGeom prst="roundRect">
            <a:avLst>
              <a:gd name="adj" fmla="val 1759"/>
            </a:avLst>
          </a:prstGeom>
          <a:solidFill>
            <a:srgbClr val="FFFFFF"/>
          </a:solidFill>
          <a:ln w="9525">
            <a:solidFill>
              <a:srgbClr val="2C7A3D"/>
            </a:solidFill>
            <a:prstDash val="solid"/>
          </a:ln>
        </p:spPr>
      </p:sp>
      <p:sp>
        <p:nvSpPr>
          <p:cNvPr id="5" name="Shape 3"/>
          <p:cNvSpPr/>
          <p:nvPr/>
        </p:nvSpPr>
        <p:spPr>
          <a:xfrm>
            <a:off x="3136392" y="1499616"/>
            <a:ext cx="868680" cy="274320"/>
          </a:xfrm>
          <a:prstGeom prst="roundRect">
            <a:avLst>
              <a:gd name="adj" fmla="val 16667"/>
            </a:avLst>
          </a:prstGeom>
          <a:solidFill>
            <a:srgbClr val="2C7A3D"/>
          </a:solidFill>
          <a:ln w="6350">
            <a:solidFill>
              <a:srgbClr val="2C7A3D"/>
            </a:solidFill>
            <a:prstDash val="solid"/>
          </a:ln>
        </p:spPr>
      </p:sp>
      <p:sp>
        <p:nvSpPr>
          <p:cNvPr id="6" name="Text 4"/>
          <p:cNvSpPr/>
          <p:nvPr/>
        </p:nvSpPr>
        <p:spPr>
          <a:xfrm>
            <a:off x="3136392" y="1499616"/>
            <a:ext cx="86868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 CHOSEN</a:t>
            </a:r>
            <a:endParaRPr lang="en-US" sz="950" dirty="0"/>
          </a:p>
        </p:txBody>
      </p:sp>
      <p:pic>
        <p:nvPicPr>
          <p:cNvPr id="7" name="Image 0" descr="deck-assets/prometheus.png">    </p:cNvPr>
          <p:cNvPicPr>
            <a:picLocks noChangeAspect="1"/>
          </p:cNvPicPr>
          <p:nvPr/>
        </p:nvPicPr>
        <p:blipFill>
          <a:blip r:embed="rId1"/>
          <a:stretch>
            <a:fillRect/>
          </a:stretch>
        </p:blipFill>
        <p:spPr>
          <a:xfrm>
            <a:off x="667512" y="1517904"/>
            <a:ext cx="384048" cy="384048"/>
          </a:xfrm>
          <a:prstGeom prst="rect">
            <a:avLst/>
          </a:prstGeom>
        </p:spPr>
      </p:pic>
      <p:sp>
        <p:nvSpPr>
          <p:cNvPr id="8" name="Text 5"/>
          <p:cNvSpPr/>
          <p:nvPr/>
        </p:nvSpPr>
        <p:spPr>
          <a:xfrm>
            <a:off x="1161288" y="1536192"/>
            <a:ext cx="1947672"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kube-prometheus-stack + Evidently</a:t>
            </a:r>
            <a:endParaRPr lang="en-US" sz="1450" dirty="0"/>
          </a:p>
        </p:txBody>
      </p:sp>
      <p:sp>
        <p:nvSpPr>
          <p:cNvPr id="9" name="Text 6"/>
          <p:cNvSpPr/>
          <p:nvPr/>
        </p:nvSpPr>
        <p:spPr>
          <a:xfrm>
            <a:off x="667512" y="2029968"/>
            <a:ext cx="1828800" cy="219456"/>
          </a:xfrm>
          <a:prstGeom prst="rect">
            <a:avLst/>
          </a:prstGeom>
          <a:noFill/>
          <a:ln/>
        </p:spPr>
        <p:txBody>
          <a:bodyPr wrap="square" lIns="0" tIns="0" rIns="0" bIns="0" rtlCol="0" anchor="ctr"/>
          <a:lstStyle/>
          <a:p>
            <a:pPr indent="0" marL="0">
              <a:buNone/>
            </a:pPr>
            <a:r>
              <a:rPr lang="en-US" sz="850" b="1" spc="150" kern="0" dirty="0">
                <a:solidFill>
                  <a:srgbClr val="2C7A3D"/>
                </a:solidFill>
                <a:latin typeface="Calibri" pitchFamily="34" charset="0"/>
                <a:ea typeface="Calibri" pitchFamily="34" charset="-122"/>
                <a:cs typeface="Calibri" pitchFamily="34" charset="-120"/>
              </a:rPr>
              <a:t>MERITS</a:t>
            </a:r>
            <a:endParaRPr lang="en-US" sz="850" dirty="0"/>
          </a:p>
        </p:txBody>
      </p:sp>
      <p:sp>
        <p:nvSpPr>
          <p:cNvPr id="10" name="Text 7"/>
          <p:cNvSpPr/>
          <p:nvPr/>
        </p:nvSpPr>
        <p:spPr>
          <a:xfrm>
            <a:off x="667512" y="2267712"/>
            <a:ext cx="3310128" cy="173736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Industry-standard: Prometheus operator, Grafana, Alertmanager in one Helm release</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ServiceMonitor CRD auto-scrapes the model pod</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Evidently = real statistical drift tests (per-feature + dataset level), OSS</a:t>
            </a:r>
            <a:endParaRPr lang="en-US" sz="1050" dirty="0"/>
          </a:p>
        </p:txBody>
      </p:sp>
      <p:sp>
        <p:nvSpPr>
          <p:cNvPr id="11" name="Text 8"/>
          <p:cNvSpPr/>
          <p:nvPr/>
        </p:nvSpPr>
        <p:spPr>
          <a:xfrm>
            <a:off x="667512" y="4023360"/>
            <a:ext cx="1828800" cy="219456"/>
          </a:xfrm>
          <a:prstGeom prst="rect">
            <a:avLst/>
          </a:prstGeom>
          <a:noFill/>
          <a:ln/>
        </p:spPr>
        <p:txBody>
          <a:bodyPr wrap="square" lIns="0" tIns="0" rIns="0" bIns="0" rtlCol="0" anchor="ctr"/>
          <a:lstStyle/>
          <a:p>
            <a:pPr indent="0" marL="0">
              <a:buNone/>
            </a:pPr>
            <a:r>
              <a:rPr lang="en-US" sz="850" b="1" spc="150" kern="0" dirty="0">
                <a:solidFill>
                  <a:srgbClr val="B3261E"/>
                </a:solidFill>
                <a:latin typeface="Calibri" pitchFamily="34" charset="0"/>
                <a:ea typeface="Calibri" pitchFamily="34" charset="-122"/>
                <a:cs typeface="Calibri" pitchFamily="34" charset="-120"/>
              </a:rPr>
              <a:t>TRADE-OFFS</a:t>
            </a:r>
            <a:endParaRPr lang="en-US" sz="850" dirty="0"/>
          </a:p>
        </p:txBody>
      </p:sp>
      <p:sp>
        <p:nvSpPr>
          <p:cNvPr id="12" name="Text 9"/>
          <p:cNvSpPr/>
          <p:nvPr/>
        </p:nvSpPr>
        <p:spPr>
          <a:xfrm>
            <a:off x="667512" y="4261104"/>
            <a:ext cx="3310128" cy="914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You run it: storage class, retention, upgrades</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Pushgateway needed for batch-job metrics</a:t>
            </a:r>
            <a:endParaRPr lang="en-US" sz="1050" dirty="0"/>
          </a:p>
        </p:txBody>
      </p:sp>
      <p:sp>
        <p:nvSpPr>
          <p:cNvPr id="13" name="Shape 10"/>
          <p:cNvSpPr/>
          <p:nvPr/>
        </p:nvSpPr>
        <p:spPr>
          <a:xfrm>
            <a:off x="4270248" y="1371600"/>
            <a:ext cx="3639312" cy="3931920"/>
          </a:xfrm>
          <a:prstGeom prst="roundRect">
            <a:avLst>
              <a:gd name="adj" fmla="val 1759"/>
            </a:avLst>
          </a:prstGeom>
          <a:solidFill>
            <a:srgbClr val="F0F4FB"/>
          </a:solidFill>
          <a:ln w="9525">
            <a:solidFill>
              <a:srgbClr val="DCE4F2"/>
            </a:solidFill>
            <a:prstDash val="solid"/>
          </a:ln>
        </p:spPr>
      </p:sp>
      <p:pic>
        <p:nvPicPr>
          <p:cNvPr id="14" name="Image 1" descr="deck-assets/grafana.png">    </p:cNvPr>
          <p:cNvPicPr>
            <a:picLocks noChangeAspect="1"/>
          </p:cNvPicPr>
          <p:nvPr/>
        </p:nvPicPr>
        <p:blipFill>
          <a:blip r:embed="rId2"/>
          <a:stretch>
            <a:fillRect/>
          </a:stretch>
        </p:blipFill>
        <p:spPr>
          <a:xfrm>
            <a:off x="4434840" y="1517904"/>
            <a:ext cx="384048" cy="384048"/>
          </a:xfrm>
          <a:prstGeom prst="rect">
            <a:avLst/>
          </a:prstGeom>
        </p:spPr>
      </p:pic>
      <p:sp>
        <p:nvSpPr>
          <p:cNvPr id="15" name="Text 11"/>
          <p:cNvSpPr/>
          <p:nvPr/>
        </p:nvSpPr>
        <p:spPr>
          <a:xfrm>
            <a:off x="4928616" y="1536192"/>
            <a:ext cx="1947672"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Grafana Cloud (hybrid)</a:t>
            </a:r>
            <a:endParaRPr lang="en-US" sz="1450" dirty="0"/>
          </a:p>
        </p:txBody>
      </p:sp>
      <p:sp>
        <p:nvSpPr>
          <p:cNvPr id="16" name="Text 12"/>
          <p:cNvSpPr/>
          <p:nvPr/>
        </p:nvSpPr>
        <p:spPr>
          <a:xfrm>
            <a:off x="4434840" y="2029968"/>
            <a:ext cx="1828800" cy="219456"/>
          </a:xfrm>
          <a:prstGeom prst="rect">
            <a:avLst/>
          </a:prstGeom>
          <a:noFill/>
          <a:ln/>
        </p:spPr>
        <p:txBody>
          <a:bodyPr wrap="square" lIns="0" tIns="0" rIns="0" bIns="0" rtlCol="0" anchor="ctr"/>
          <a:lstStyle/>
          <a:p>
            <a:pPr indent="0" marL="0">
              <a:buNone/>
            </a:pPr>
            <a:r>
              <a:rPr lang="en-US" sz="850" b="1" spc="150" kern="0" dirty="0">
                <a:solidFill>
                  <a:srgbClr val="2C7A3D"/>
                </a:solidFill>
                <a:latin typeface="Calibri" pitchFamily="34" charset="0"/>
                <a:ea typeface="Calibri" pitchFamily="34" charset="-122"/>
                <a:cs typeface="Calibri" pitchFamily="34" charset="-120"/>
              </a:rPr>
              <a:t>MERITS</a:t>
            </a:r>
            <a:endParaRPr lang="en-US" sz="850" dirty="0"/>
          </a:p>
        </p:txBody>
      </p:sp>
      <p:sp>
        <p:nvSpPr>
          <p:cNvPr id="17" name="Text 13"/>
          <p:cNvSpPr/>
          <p:nvPr/>
        </p:nvSpPr>
        <p:spPr>
          <a:xfrm>
            <a:off x="4434840" y="2267712"/>
            <a:ext cx="3310128" cy="173736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No Prometheus/Grafana to host; free tier generous</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Same dashboards, less ops</a:t>
            </a:r>
            <a:endParaRPr lang="en-US" sz="1050" dirty="0"/>
          </a:p>
        </p:txBody>
      </p:sp>
      <p:sp>
        <p:nvSpPr>
          <p:cNvPr id="18" name="Text 14"/>
          <p:cNvSpPr/>
          <p:nvPr/>
        </p:nvSpPr>
        <p:spPr>
          <a:xfrm>
            <a:off x="4434840" y="4023360"/>
            <a:ext cx="1828800" cy="219456"/>
          </a:xfrm>
          <a:prstGeom prst="rect">
            <a:avLst/>
          </a:prstGeom>
          <a:noFill/>
          <a:ln/>
        </p:spPr>
        <p:txBody>
          <a:bodyPr wrap="square" lIns="0" tIns="0" rIns="0" bIns="0" rtlCol="0" anchor="ctr"/>
          <a:lstStyle/>
          <a:p>
            <a:pPr indent="0" marL="0">
              <a:buNone/>
            </a:pPr>
            <a:r>
              <a:rPr lang="en-US" sz="850" b="1" spc="150" kern="0" dirty="0">
                <a:solidFill>
                  <a:srgbClr val="B3261E"/>
                </a:solidFill>
                <a:latin typeface="Calibri" pitchFamily="34" charset="0"/>
                <a:ea typeface="Calibri" pitchFamily="34" charset="-122"/>
                <a:cs typeface="Calibri" pitchFamily="34" charset="-120"/>
              </a:rPr>
              <a:t>TRADE-OFFS</a:t>
            </a:r>
            <a:endParaRPr lang="en-US" sz="850" dirty="0"/>
          </a:p>
        </p:txBody>
      </p:sp>
      <p:sp>
        <p:nvSpPr>
          <p:cNvPr id="19" name="Text 15"/>
          <p:cNvSpPr/>
          <p:nvPr/>
        </p:nvSpPr>
        <p:spPr>
          <a:xfrm>
            <a:off x="4434840" y="4261104"/>
            <a:ext cx="3310128" cy="914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Metrics leave the cluster</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Still need drift computation somewhere</a:t>
            </a:r>
            <a:endParaRPr lang="en-US" sz="1050" dirty="0"/>
          </a:p>
        </p:txBody>
      </p:sp>
      <p:sp>
        <p:nvSpPr>
          <p:cNvPr id="20" name="Shape 16"/>
          <p:cNvSpPr/>
          <p:nvPr/>
        </p:nvSpPr>
        <p:spPr>
          <a:xfrm>
            <a:off x="8037576" y="1371600"/>
            <a:ext cx="3639312" cy="3931920"/>
          </a:xfrm>
          <a:prstGeom prst="roundRect">
            <a:avLst>
              <a:gd name="adj" fmla="val 1759"/>
            </a:avLst>
          </a:prstGeom>
          <a:solidFill>
            <a:srgbClr val="F0F4FB"/>
          </a:solidFill>
          <a:ln w="9525">
            <a:solidFill>
              <a:srgbClr val="DCE4F2"/>
            </a:solidFill>
            <a:prstDash val="solid"/>
          </a:ln>
        </p:spPr>
      </p:sp>
      <p:sp>
        <p:nvSpPr>
          <p:cNvPr id="21" name="Text 17"/>
          <p:cNvSpPr/>
          <p:nvPr/>
        </p:nvSpPr>
        <p:spPr>
          <a:xfrm>
            <a:off x="8202168" y="1536192"/>
            <a:ext cx="2450592" cy="384048"/>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Arize / WhyLabs</a:t>
            </a:r>
            <a:endParaRPr lang="en-US" sz="1450" dirty="0"/>
          </a:p>
        </p:txBody>
      </p:sp>
      <p:sp>
        <p:nvSpPr>
          <p:cNvPr id="22" name="Text 18"/>
          <p:cNvSpPr/>
          <p:nvPr/>
        </p:nvSpPr>
        <p:spPr>
          <a:xfrm>
            <a:off x="8202168" y="2029968"/>
            <a:ext cx="1828800" cy="219456"/>
          </a:xfrm>
          <a:prstGeom prst="rect">
            <a:avLst/>
          </a:prstGeom>
          <a:noFill/>
          <a:ln/>
        </p:spPr>
        <p:txBody>
          <a:bodyPr wrap="square" lIns="0" tIns="0" rIns="0" bIns="0" rtlCol="0" anchor="ctr"/>
          <a:lstStyle/>
          <a:p>
            <a:pPr indent="0" marL="0">
              <a:buNone/>
            </a:pPr>
            <a:r>
              <a:rPr lang="en-US" sz="850" b="1" spc="150" kern="0" dirty="0">
                <a:solidFill>
                  <a:srgbClr val="2C7A3D"/>
                </a:solidFill>
                <a:latin typeface="Calibri" pitchFamily="34" charset="0"/>
                <a:ea typeface="Calibri" pitchFamily="34" charset="-122"/>
                <a:cs typeface="Calibri" pitchFamily="34" charset="-120"/>
              </a:rPr>
              <a:t>MERITS</a:t>
            </a:r>
            <a:endParaRPr lang="en-US" sz="850" dirty="0"/>
          </a:p>
        </p:txBody>
      </p:sp>
      <p:sp>
        <p:nvSpPr>
          <p:cNvPr id="23" name="Text 19"/>
          <p:cNvSpPr/>
          <p:nvPr/>
        </p:nvSpPr>
        <p:spPr>
          <a:xfrm>
            <a:off x="8202168" y="2267712"/>
            <a:ext cx="3310128" cy="173736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Purpose-built ML observability incl. embedding drift for CV</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Strong root-cause tooling</a:t>
            </a:r>
            <a:endParaRPr lang="en-US" sz="1050" dirty="0"/>
          </a:p>
        </p:txBody>
      </p:sp>
      <p:sp>
        <p:nvSpPr>
          <p:cNvPr id="24" name="Text 20"/>
          <p:cNvSpPr/>
          <p:nvPr/>
        </p:nvSpPr>
        <p:spPr>
          <a:xfrm>
            <a:off x="8202168" y="4023360"/>
            <a:ext cx="1828800" cy="219456"/>
          </a:xfrm>
          <a:prstGeom prst="rect">
            <a:avLst/>
          </a:prstGeom>
          <a:noFill/>
          <a:ln/>
        </p:spPr>
        <p:txBody>
          <a:bodyPr wrap="square" lIns="0" tIns="0" rIns="0" bIns="0" rtlCol="0" anchor="ctr"/>
          <a:lstStyle/>
          <a:p>
            <a:pPr indent="0" marL="0">
              <a:buNone/>
            </a:pPr>
            <a:r>
              <a:rPr lang="en-US" sz="850" b="1" spc="150" kern="0" dirty="0">
                <a:solidFill>
                  <a:srgbClr val="B3261E"/>
                </a:solidFill>
                <a:latin typeface="Calibri" pitchFamily="34" charset="0"/>
                <a:ea typeface="Calibri" pitchFamily="34" charset="-122"/>
                <a:cs typeface="Calibri" pitchFamily="34" charset="-120"/>
              </a:rPr>
              <a:t>TRADE-OFFS</a:t>
            </a:r>
            <a:endParaRPr lang="en-US" sz="850" dirty="0"/>
          </a:p>
        </p:txBody>
      </p:sp>
      <p:sp>
        <p:nvSpPr>
          <p:cNvPr id="25" name="Text 21"/>
          <p:cNvSpPr/>
          <p:nvPr/>
        </p:nvSpPr>
        <p:spPr>
          <a:xfrm>
            <a:off x="8202168" y="4261104"/>
            <a:ext cx="3310128" cy="914400"/>
          </a:xfrm>
          <a:prstGeom prst="rect">
            <a:avLst/>
          </a:prstGeom>
          <a:noFill/>
          <a:ln/>
        </p:spPr>
        <p:txBody>
          <a:bodyPr wrap="square" lIns="0" tIns="0" rIns="0" bIns="0" rtlCol="0" anchor="t"/>
          <a:lstStyle/>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Another vendor + SDK in the hot path</a:t>
            </a:r>
            <a:endParaRPr lang="en-US" sz="1050" dirty="0"/>
          </a:p>
          <a:p>
            <a:pPr marL="127000" indent="-127000">
              <a:spcAft>
                <a:spcPts val="500"/>
              </a:spcAft>
              <a:buSzPct val="100000"/>
              <a:buChar char="•"/>
            </a:pPr>
            <a:r>
              <a:rPr lang="en-US" sz="1050" dirty="0">
                <a:solidFill>
                  <a:srgbClr val="273044"/>
                </a:solidFill>
                <a:latin typeface="Calibri" pitchFamily="34" charset="0"/>
                <a:ea typeface="Calibri" pitchFamily="34" charset="-122"/>
                <a:cs typeface="Calibri" pitchFamily="34" charset="-120"/>
              </a:rPr>
              <a:t>Overlaps the Prometheus stack you run anyway</a:t>
            </a:r>
            <a:endParaRPr lang="en-US" sz="1050" dirty="0"/>
          </a:p>
        </p:txBody>
      </p:sp>
      <p:sp>
        <p:nvSpPr>
          <p:cNvPr id="26" name="Shape 22"/>
          <p:cNvSpPr/>
          <p:nvPr/>
        </p:nvSpPr>
        <p:spPr>
          <a:xfrm>
            <a:off x="502920" y="5486400"/>
            <a:ext cx="11201400" cy="960120"/>
          </a:xfrm>
          <a:prstGeom prst="roundRect">
            <a:avLst>
              <a:gd name="adj" fmla="val 6667"/>
            </a:avLst>
          </a:prstGeom>
          <a:solidFill>
            <a:srgbClr val="1E2761"/>
          </a:solidFill>
          <a:ln w="9525">
            <a:solidFill>
              <a:srgbClr val="DCE4F2"/>
            </a:solidFill>
            <a:prstDash val="solid"/>
          </a:ln>
        </p:spPr>
      </p:sp>
      <p:sp>
        <p:nvSpPr>
          <p:cNvPr id="27" name="Text 23"/>
          <p:cNvSpPr/>
          <p:nvPr/>
        </p:nvSpPr>
        <p:spPr>
          <a:xfrm>
            <a:off x="731520" y="5596128"/>
            <a:ext cx="10789920" cy="777240"/>
          </a:xfrm>
          <a:prstGeom prst="rect">
            <a:avLst/>
          </a:prstGeom>
          <a:noFill/>
          <a:ln/>
        </p:spPr>
        <p:txBody>
          <a:bodyPr wrap="square" lIns="0" tIns="0" rIns="0" bIns="0" rtlCol="0" anchor="t"/>
          <a:lstStyle/>
          <a:p>
            <a:pPr indent="0" marL="0">
              <a:buNone/>
            </a:pPr>
            <a:r>
              <a:rPr lang="en-US" sz="1200" b="1" dirty="0">
                <a:solidFill>
                  <a:srgbClr val="CADCFC"/>
                </a:solidFill>
                <a:latin typeface="Calibri" pitchFamily="34" charset="0"/>
                <a:ea typeface="Calibri" pitchFamily="34" charset="-122"/>
                <a:cs typeface="Calibri" pitchFamily="34" charset="-120"/>
              </a:rPr>
              <a:t>Verdict:  </a:t>
            </a:r>
            <a:pPr indent="0" marL="0">
              <a:buNone/>
            </a:pPr>
            <a:r>
              <a:rPr lang="en-US" sz="1200" dirty="0">
                <a:solidFill>
                  <a:srgbClr val="FFFFFF"/>
                </a:solidFill>
                <a:latin typeface="Calibri" pitchFamily="34" charset="0"/>
                <a:ea typeface="Calibri" pitchFamily="34" charset="-122"/>
                <a:cs typeface="Calibri" pitchFamily="34" charset="-120"/>
              </a:rPr>
              <a:t>The OSS stack. One alerting plane for both ops SLOs (latency, error rate) and ML health (drift share, confidence collapse) — drift pages the same way a downed pod does.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STAGE 1A · DEVELOP</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Transfer learning: buy the backbone, train the delta</a:t>
            </a:r>
            <a:endParaRPr lang="en-US" sz="27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6400800" cy="914400"/>
        </p:xfrm>
        <a:graphic>
          <a:graphicData uri="http://schemas.openxmlformats.org/drawingml/2006/table">
            <a:tbl>
              <a:tblPr/>
              <a:tblGrid>
                <a:gridCol w="1920240"/>
                <a:gridCol w="1554480"/>
                <a:gridCol w="292608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Parameter</a:t>
                      </a:r>
                      <a:endParaRPr lang="en-US" sz="11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1E2761"/>
                    </a:solidFill>
                  </a:tcPr>
                </a:tc>
              </a:tr>
              <a:tr h="457200">
                <a:tc>
                  <a:txBody>
                    <a:bodyPr/>
                    <a:lstStyle/>
                    <a:p>
                      <a:pPr indent="0" marL="0">
                        <a:buNone/>
                      </a:pPr>
                      <a:r>
                        <a:rPr lang="en-US" sz="1100" dirty="0">
                          <a:solidFill>
                            <a:srgbClr val="273044"/>
                          </a:solidFill>
                          <a:latin typeface="Calibri" pitchFamily="34" charset="0"/>
                          <a:ea typeface="Calibri" pitchFamily="34" charset="-122"/>
                          <a:cs typeface="Calibri" pitchFamily="34" charset="-120"/>
                        </a:rPr>
                        <a:t>base_weights</a:t>
                      </a:r>
                      <a:endParaRPr lang="en-US" sz="11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100" dirty="0">
                          <a:solidFill>
                            <a:srgbClr val="273044"/>
                          </a:solidFill>
                          <a:latin typeface="Calibri" pitchFamily="34" charset="0"/>
                          <a:ea typeface="Calibri" pitchFamily="34" charset="-122"/>
                          <a:cs typeface="Calibri" pitchFamily="34" charset="-120"/>
                        </a:rPr>
                        <a:t>yolov8n.pt</a:t>
                      </a:r>
                      <a:endParaRPr lang="en-US" sz="11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100" dirty="0">
                          <a:solidFill>
                            <a:srgbClr val="273044"/>
                          </a:solidFill>
                          <a:latin typeface="Calibri" pitchFamily="34" charset="0"/>
                          <a:ea typeface="Calibri" pitchFamily="34" charset="-122"/>
                          <a:cs typeface="Calibri" pitchFamily="34" charset="-120"/>
                        </a:rPr>
                        <a:t>COCO-pretrained; 3.15M params — CPU-trainable</a:t>
                      </a:r>
                      <a:endParaRPr lang="en-US" sz="11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273044"/>
                          </a:solidFill>
                          <a:latin typeface="Calibri" pitchFamily="34" charset="0"/>
                          <a:ea typeface="Calibri" pitchFamily="34" charset="-122"/>
                          <a:cs typeface="Calibri" pitchFamily="34" charset="-120"/>
                        </a:rPr>
                        <a:t>dataset</a:t>
                      </a:r>
                      <a:endParaRPr lang="en-US" sz="11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100" dirty="0">
                          <a:solidFill>
                            <a:srgbClr val="273044"/>
                          </a:solidFill>
                          <a:latin typeface="Calibri" pitchFamily="34" charset="0"/>
                          <a:ea typeface="Calibri" pitchFamily="34" charset="-122"/>
                          <a:cs typeface="Calibri" pitchFamily="34" charset="-120"/>
                        </a:rPr>
                        <a:t>coco128</a:t>
                      </a:r>
                      <a:endParaRPr lang="en-US" sz="11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100" dirty="0">
                          <a:solidFill>
                            <a:srgbClr val="273044"/>
                          </a:solidFill>
                          <a:latin typeface="Calibri" pitchFamily="34" charset="0"/>
                          <a:ea typeface="Calibri" pitchFamily="34" charset="-122"/>
                          <a:cs typeface="Calibri" pitchFamily="34" charset="-120"/>
                        </a:rPr>
                        <a:t>128-image COCO slice; swap for domain data via DVC</a:t>
                      </a:r>
                      <a:endParaRPr lang="en-US" sz="11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r>
              <a:tr h="457200">
                <a:tc>
                  <a:txBody>
                    <a:bodyPr/>
                    <a:lstStyle/>
                    <a:p>
                      <a:pPr indent="0" marL="0">
                        <a:buNone/>
                      </a:pPr>
                      <a:r>
                        <a:rPr lang="en-US" sz="1100" dirty="0">
                          <a:solidFill>
                            <a:srgbClr val="273044"/>
                          </a:solidFill>
                          <a:latin typeface="Calibri" pitchFamily="34" charset="0"/>
                          <a:ea typeface="Calibri" pitchFamily="34" charset="-122"/>
                          <a:cs typeface="Calibri" pitchFamily="34" charset="-120"/>
                        </a:rPr>
                        <a:t>epochs / imgsz / batch</a:t>
                      </a:r>
                      <a:endParaRPr lang="en-US" sz="11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100" dirty="0">
                          <a:solidFill>
                            <a:srgbClr val="273044"/>
                          </a:solidFill>
                          <a:latin typeface="Calibri" pitchFamily="34" charset="0"/>
                          <a:ea typeface="Calibri" pitchFamily="34" charset="-122"/>
                          <a:cs typeface="Calibri" pitchFamily="34" charset="-120"/>
                        </a:rPr>
                        <a:t>10 / 640 / 8</a:t>
                      </a:r>
                      <a:endParaRPr lang="en-US" sz="11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100" dirty="0">
                          <a:solidFill>
                            <a:srgbClr val="273044"/>
                          </a:solidFill>
                          <a:latin typeface="Calibri" pitchFamily="34" charset="0"/>
                          <a:ea typeface="Calibri" pitchFamily="34" charset="-122"/>
                          <a:cs typeface="Calibri" pitchFamily="34" charset="-120"/>
                        </a:rPr>
                        <a:t>Minutes on CPU; enough to specialize</a:t>
                      </a:r>
                      <a:endParaRPr lang="en-US" sz="11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r>
              <a:tr h="457200">
                <a:tc>
                  <a:txBody>
                    <a:bodyPr/>
                    <a:lstStyle/>
                    <a:p>
                      <a:pPr indent="0" marL="0">
                        <a:buNone/>
                      </a:pPr>
                      <a:r>
                        <a:rPr lang="en-US" sz="1100" dirty="0">
                          <a:solidFill>
                            <a:srgbClr val="273044"/>
                          </a:solidFill>
                          <a:latin typeface="Calibri" pitchFamily="34" charset="0"/>
                          <a:ea typeface="Calibri" pitchFamily="34" charset="-122"/>
                          <a:cs typeface="Calibri" pitchFamily="34" charset="-120"/>
                        </a:rPr>
                        <a:t>min_map50 (gate)</a:t>
                      </a:r>
                      <a:endParaRPr lang="en-US" sz="11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100" dirty="0">
                          <a:solidFill>
                            <a:srgbClr val="273044"/>
                          </a:solidFill>
                          <a:latin typeface="Calibri" pitchFamily="34" charset="0"/>
                          <a:ea typeface="Calibri" pitchFamily="34" charset="-122"/>
                          <a:cs typeface="Calibri" pitchFamily="34" charset="-120"/>
                        </a:rPr>
                        <a:t>0.45</a:t>
                      </a:r>
                      <a:endParaRPr lang="en-US" sz="11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100" dirty="0">
                          <a:solidFill>
                            <a:srgbClr val="273044"/>
                          </a:solidFill>
                          <a:latin typeface="Calibri" pitchFamily="34" charset="0"/>
                          <a:ea typeface="Calibri" pitchFamily="34" charset="-122"/>
                          <a:cs typeface="Calibri" pitchFamily="34" charset="-120"/>
                        </a:rPr>
                        <a:t>Hard floor — training run fails the pipeline below it</a:t>
                      </a:r>
                      <a:endParaRPr lang="en-US" sz="11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r>
            </a:tbl>
          </a:graphicData>
        </a:graphic>
      </p:graphicFrame>
      <p:sp>
        <p:nvSpPr>
          <p:cNvPr id="5" name="Text 2"/>
          <p:cNvSpPr/>
          <p:nvPr/>
        </p:nvSpPr>
        <p:spPr>
          <a:xfrm>
            <a:off x="502920" y="3977640"/>
            <a:ext cx="6400800" cy="914400"/>
          </a:xfrm>
          <a:prstGeom prst="rect">
            <a:avLst/>
          </a:prstGeom>
          <a:noFill/>
          <a:ln/>
        </p:spPr>
        <p:txBody>
          <a:bodyPr wrap="square" lIns="0" tIns="0" rIns="0" bIns="0" rtlCol="0" anchor="t"/>
          <a:lstStyle/>
          <a:p>
            <a:pPr indent="0" marL="0">
              <a:buNone/>
            </a:pPr>
            <a:r>
              <a:rPr lang="en-US" sz="1200" dirty="0">
                <a:solidFill>
                  <a:srgbClr val="63708A"/>
                </a:solidFill>
                <a:latin typeface="Calibri" pitchFamily="34" charset="0"/>
                <a:ea typeface="Calibri" pitchFamily="34" charset="-122"/>
                <a:cs typeface="Calibri" pitchFamily="34" charset="-120"/>
              </a:rPr>
              <a:t>All hyperparameters live in params.yaml — versioned by git, consumed by DVC's pipeline definition, logged to MLflow on every run. Changing an epoch count is a commit, not a memory.</a:t>
            </a:r>
            <a:endParaRPr lang="en-US" sz="1200" dirty="0"/>
          </a:p>
        </p:txBody>
      </p:sp>
      <p:sp>
        <p:nvSpPr>
          <p:cNvPr id="6" name="Shape 3"/>
          <p:cNvSpPr/>
          <p:nvPr/>
        </p:nvSpPr>
        <p:spPr>
          <a:xfrm>
            <a:off x="502920" y="4983480"/>
            <a:ext cx="6400800" cy="1371600"/>
          </a:xfrm>
          <a:prstGeom prst="roundRect">
            <a:avLst>
              <a:gd name="adj" fmla="val 4667"/>
            </a:avLst>
          </a:prstGeom>
          <a:solidFill>
            <a:srgbClr val="F0F4FB"/>
          </a:solidFill>
          <a:ln w="9525">
            <a:solidFill>
              <a:srgbClr val="DCE4F2"/>
            </a:solidFill>
            <a:prstDash val="solid"/>
          </a:ln>
        </p:spPr>
      </p:sp>
      <p:sp>
        <p:nvSpPr>
          <p:cNvPr id="7" name="Text 4"/>
          <p:cNvSpPr/>
          <p:nvPr/>
        </p:nvSpPr>
        <p:spPr>
          <a:xfrm>
            <a:off x="731520" y="5138928"/>
            <a:ext cx="5943600" cy="1097280"/>
          </a:xfrm>
          <a:prstGeom prst="rect">
            <a:avLst/>
          </a:prstGeom>
          <a:noFill/>
          <a:ln/>
        </p:spPr>
        <p:txBody>
          <a:bodyPr wrap="square" lIns="0" tIns="0" rIns="0" bIns="0" rtlCol="0" anchor="t"/>
          <a:lstStyle/>
          <a:p>
            <a:pPr indent="0" marL="0">
              <a:buNone/>
            </a:pPr>
            <a:r>
              <a:rPr lang="en-US" sz="1150" b="1" dirty="0">
                <a:solidFill>
                  <a:srgbClr val="273044"/>
                </a:solidFill>
                <a:latin typeface="Calibri" pitchFamily="34" charset="0"/>
                <a:ea typeface="Calibri" pitchFamily="34" charset="-122"/>
                <a:cs typeface="Calibri" pitchFamily="34" charset="-120"/>
              </a:rPr>
              <a:t>Observed: </a:t>
            </a:r>
            <a:pPr indent="0" marL="0">
              <a:buNone/>
            </a:pPr>
            <a:r>
              <a:rPr lang="en-US" sz="1150" dirty="0">
                <a:solidFill>
                  <a:srgbClr val="273044"/>
                </a:solidFill>
                <a:latin typeface="Calibri" pitchFamily="34" charset="0"/>
                <a:ea typeface="Calibri" pitchFamily="34" charset="-122"/>
                <a:cs typeface="Calibri" pitchFamily="34" charset="-120"/>
              </a:rPr>
              <a:t>10 epochs in 4.5 minutes on an Intel Core Ultra 7 CPU (no GPU). The NPU on modern laptops does not help — PyTorch training has no NPU backend; NPUs are inference accelerators.</a:t>
            </a:r>
            <a:endParaRPr lang="en-US" sz="1150" dirty="0"/>
          </a:p>
        </p:txBody>
      </p:sp>
      <p:sp>
        <p:nvSpPr>
          <p:cNvPr id="8" name="Shape 5"/>
          <p:cNvSpPr/>
          <p:nvPr/>
        </p:nvSpPr>
        <p:spPr>
          <a:xfrm>
            <a:off x="7452360" y="1463040"/>
            <a:ext cx="4023360" cy="914400"/>
          </a:xfrm>
          <a:prstGeom prst="roundRect">
            <a:avLst>
              <a:gd name="adj" fmla="val 7000"/>
            </a:avLst>
          </a:prstGeom>
          <a:solidFill>
            <a:srgbClr val="FFFFFF"/>
          </a:solidFill>
          <a:ln w="9525">
            <a:solidFill>
              <a:srgbClr val="DCE4F2"/>
            </a:solidFill>
            <a:prstDash val="solid"/>
          </a:ln>
        </p:spPr>
      </p:sp>
      <p:pic>
        <p:nvPicPr>
          <p:cNvPr id="9" name="Image 0" descr="deck-assets/ultralytics.png">    </p:cNvPr>
          <p:cNvPicPr>
            <a:picLocks noChangeAspect="1"/>
          </p:cNvPicPr>
          <p:nvPr/>
        </p:nvPicPr>
        <p:blipFill>
          <a:blip r:embed="rId1"/>
          <a:stretch>
            <a:fillRect/>
          </a:stretch>
        </p:blipFill>
        <p:spPr>
          <a:xfrm>
            <a:off x="9272016" y="1572768"/>
            <a:ext cx="384048" cy="384048"/>
          </a:xfrm>
          <a:prstGeom prst="rect">
            <a:avLst/>
          </a:prstGeom>
        </p:spPr>
      </p:pic>
      <p:sp>
        <p:nvSpPr>
          <p:cNvPr id="10" name="Text 6"/>
          <p:cNvSpPr/>
          <p:nvPr/>
        </p:nvSpPr>
        <p:spPr>
          <a:xfrm>
            <a:off x="7488936" y="1975104"/>
            <a:ext cx="395020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YOLOv8n · pretrained on COCO (buy)</a:t>
            </a:r>
            <a:endParaRPr lang="en-US" sz="1100" dirty="0"/>
          </a:p>
        </p:txBody>
      </p:sp>
      <p:sp>
        <p:nvSpPr>
          <p:cNvPr id="11" name="Text 7"/>
          <p:cNvSpPr/>
          <p:nvPr/>
        </p:nvSpPr>
        <p:spPr>
          <a:xfrm>
            <a:off x="7488936" y="2249424"/>
            <a:ext cx="395020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ultralytics + pytorch</a:t>
            </a:r>
            <a:endParaRPr lang="en-US" sz="850" dirty="0"/>
          </a:p>
        </p:txBody>
      </p:sp>
      <p:sp>
        <p:nvSpPr>
          <p:cNvPr id="12" name="Shape 8"/>
          <p:cNvSpPr/>
          <p:nvPr/>
        </p:nvSpPr>
        <p:spPr>
          <a:xfrm>
            <a:off x="9464040" y="2377440"/>
            <a:ext cx="0" cy="274320"/>
          </a:xfrm>
          <a:prstGeom prst="line">
            <a:avLst/>
          </a:prstGeom>
          <a:noFill/>
          <a:ln w="22225">
            <a:solidFill>
              <a:srgbClr val="63708A"/>
            </a:solidFill>
            <a:prstDash val="solid"/>
            <a:tailEnd type="triangle"/>
          </a:ln>
        </p:spPr>
      </p:sp>
      <p:sp>
        <p:nvSpPr>
          <p:cNvPr id="13" name="Shape 9"/>
          <p:cNvSpPr/>
          <p:nvPr/>
        </p:nvSpPr>
        <p:spPr>
          <a:xfrm>
            <a:off x="7452360" y="2651760"/>
            <a:ext cx="4023360" cy="914400"/>
          </a:xfrm>
          <a:prstGeom prst="roundRect">
            <a:avLst>
              <a:gd name="adj" fmla="val 7000"/>
            </a:avLst>
          </a:prstGeom>
          <a:solidFill>
            <a:srgbClr val="FFFFFF"/>
          </a:solidFill>
          <a:ln w="9525">
            <a:solidFill>
              <a:srgbClr val="DCE4F2"/>
            </a:solidFill>
            <a:prstDash val="solid"/>
          </a:ln>
        </p:spPr>
      </p:sp>
      <p:pic>
        <p:nvPicPr>
          <p:cNvPr id="14" name="Image 1" descr="deck-assets/pytorch.png">    </p:cNvPr>
          <p:cNvPicPr>
            <a:picLocks noChangeAspect="1"/>
          </p:cNvPicPr>
          <p:nvPr/>
        </p:nvPicPr>
        <p:blipFill>
          <a:blip r:embed="rId2"/>
          <a:stretch>
            <a:fillRect/>
          </a:stretch>
        </p:blipFill>
        <p:spPr>
          <a:xfrm>
            <a:off x="9272016" y="2761488"/>
            <a:ext cx="384048" cy="384048"/>
          </a:xfrm>
          <a:prstGeom prst="rect">
            <a:avLst/>
          </a:prstGeom>
        </p:spPr>
      </p:pic>
      <p:sp>
        <p:nvSpPr>
          <p:cNvPr id="15" name="Text 10"/>
          <p:cNvSpPr/>
          <p:nvPr/>
        </p:nvSpPr>
        <p:spPr>
          <a:xfrm>
            <a:off x="7488936" y="3163824"/>
            <a:ext cx="395020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Fine-tune 10 epochs on task data</a:t>
            </a:r>
            <a:endParaRPr lang="en-US" sz="1100" dirty="0"/>
          </a:p>
        </p:txBody>
      </p:sp>
      <p:sp>
        <p:nvSpPr>
          <p:cNvPr id="16" name="Text 11"/>
          <p:cNvSpPr/>
          <p:nvPr/>
        </p:nvSpPr>
        <p:spPr>
          <a:xfrm>
            <a:off x="7488936" y="3438144"/>
            <a:ext cx="395020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transfer learning · CPU</a:t>
            </a:r>
            <a:endParaRPr lang="en-US" sz="850" dirty="0"/>
          </a:p>
        </p:txBody>
      </p:sp>
      <p:sp>
        <p:nvSpPr>
          <p:cNvPr id="17" name="Shape 12"/>
          <p:cNvSpPr/>
          <p:nvPr/>
        </p:nvSpPr>
        <p:spPr>
          <a:xfrm>
            <a:off x="9464040" y="3566160"/>
            <a:ext cx="0" cy="274320"/>
          </a:xfrm>
          <a:prstGeom prst="line">
            <a:avLst/>
          </a:prstGeom>
          <a:noFill/>
          <a:ln w="22225">
            <a:solidFill>
              <a:srgbClr val="63708A"/>
            </a:solidFill>
            <a:prstDash val="solid"/>
            <a:tailEnd type="triangle"/>
          </a:ln>
        </p:spPr>
      </p:sp>
      <p:sp>
        <p:nvSpPr>
          <p:cNvPr id="18" name="Shape 13"/>
          <p:cNvSpPr/>
          <p:nvPr/>
        </p:nvSpPr>
        <p:spPr>
          <a:xfrm>
            <a:off x="7452360" y="3840480"/>
            <a:ext cx="4023360" cy="914400"/>
          </a:xfrm>
          <a:prstGeom prst="roundRect">
            <a:avLst>
              <a:gd name="adj" fmla="val 7000"/>
            </a:avLst>
          </a:prstGeom>
          <a:solidFill>
            <a:srgbClr val="FFFFFF"/>
          </a:solidFill>
          <a:ln w="9525">
            <a:solidFill>
              <a:srgbClr val="DCE4F2"/>
            </a:solidFill>
            <a:prstDash val="solid"/>
          </a:ln>
        </p:spPr>
      </p:sp>
      <p:pic>
        <p:nvPicPr>
          <p:cNvPr id="19" name="Image 2" descr="deck-assets/mlflow.png">    </p:cNvPr>
          <p:cNvPicPr>
            <a:picLocks noChangeAspect="1"/>
          </p:cNvPicPr>
          <p:nvPr/>
        </p:nvPicPr>
        <p:blipFill>
          <a:blip r:embed="rId3"/>
          <a:stretch>
            <a:fillRect/>
          </a:stretch>
        </p:blipFill>
        <p:spPr>
          <a:xfrm>
            <a:off x="9272016" y="3950208"/>
            <a:ext cx="384048" cy="384048"/>
          </a:xfrm>
          <a:prstGeom prst="rect">
            <a:avLst/>
          </a:prstGeom>
        </p:spPr>
      </p:pic>
      <p:sp>
        <p:nvSpPr>
          <p:cNvPr id="20" name="Text 14"/>
          <p:cNvSpPr/>
          <p:nvPr/>
        </p:nvSpPr>
        <p:spPr>
          <a:xfrm>
            <a:off x="7488936" y="4352544"/>
            <a:ext cx="395020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Params + metrics + artifacts → MLflow</a:t>
            </a:r>
            <a:endParaRPr lang="en-US" sz="1100" dirty="0"/>
          </a:p>
        </p:txBody>
      </p:sp>
      <p:sp>
        <p:nvSpPr>
          <p:cNvPr id="21" name="Text 15"/>
          <p:cNvSpPr/>
          <p:nvPr/>
        </p:nvSpPr>
        <p:spPr>
          <a:xfrm>
            <a:off x="7488936" y="4626864"/>
            <a:ext cx="395020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every run reproducible</a:t>
            </a:r>
            <a:endParaRPr lang="en-US" sz="850" dirty="0"/>
          </a:p>
        </p:txBody>
      </p:sp>
      <p:sp>
        <p:nvSpPr>
          <p:cNvPr id="22" name="Shape 16"/>
          <p:cNvSpPr/>
          <p:nvPr/>
        </p:nvSpPr>
        <p:spPr>
          <a:xfrm>
            <a:off x="9464040" y="4754880"/>
            <a:ext cx="0" cy="274320"/>
          </a:xfrm>
          <a:prstGeom prst="line">
            <a:avLst/>
          </a:prstGeom>
          <a:noFill/>
          <a:ln w="22225">
            <a:solidFill>
              <a:srgbClr val="63708A"/>
            </a:solidFill>
            <a:prstDash val="solid"/>
            <a:tailEnd type="triangle"/>
          </a:ln>
        </p:spPr>
      </p:sp>
      <p:sp>
        <p:nvSpPr>
          <p:cNvPr id="23" name="Shape 17"/>
          <p:cNvSpPr/>
          <p:nvPr/>
        </p:nvSpPr>
        <p:spPr>
          <a:xfrm>
            <a:off x="7452360" y="5029200"/>
            <a:ext cx="4023360" cy="914400"/>
          </a:xfrm>
          <a:prstGeom prst="roundRect">
            <a:avLst>
              <a:gd name="adj" fmla="val 7000"/>
            </a:avLst>
          </a:prstGeom>
          <a:solidFill>
            <a:srgbClr val="FFFFFF"/>
          </a:solidFill>
          <a:ln w="9525">
            <a:solidFill>
              <a:srgbClr val="DCE4F2"/>
            </a:solidFill>
            <a:prstDash val="solid"/>
          </a:ln>
        </p:spPr>
      </p:sp>
      <p:pic>
        <p:nvPicPr>
          <p:cNvPr id="24" name="Image 3" descr="deck-assets/onnx.png">    </p:cNvPr>
          <p:cNvPicPr>
            <a:picLocks noChangeAspect="1"/>
          </p:cNvPicPr>
          <p:nvPr/>
        </p:nvPicPr>
        <p:blipFill>
          <a:blip r:embed="rId4"/>
          <a:stretch>
            <a:fillRect/>
          </a:stretch>
        </p:blipFill>
        <p:spPr>
          <a:xfrm>
            <a:off x="9272016" y="5138928"/>
            <a:ext cx="384048" cy="384048"/>
          </a:xfrm>
          <a:prstGeom prst="rect">
            <a:avLst/>
          </a:prstGeom>
        </p:spPr>
      </p:pic>
      <p:sp>
        <p:nvSpPr>
          <p:cNvPr id="25" name="Text 18"/>
          <p:cNvSpPr/>
          <p:nvPr/>
        </p:nvSpPr>
        <p:spPr>
          <a:xfrm>
            <a:off x="7488936" y="5541264"/>
            <a:ext cx="395020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Export best.pt → model.onnx (opset 12)</a:t>
            </a:r>
            <a:endParaRPr lang="en-US" sz="1100" dirty="0"/>
          </a:p>
        </p:txBody>
      </p:sp>
      <p:sp>
        <p:nvSpPr>
          <p:cNvPr id="26" name="Text 19"/>
          <p:cNvSpPr/>
          <p:nvPr/>
        </p:nvSpPr>
        <p:spPr>
          <a:xfrm>
            <a:off x="7488936" y="5815584"/>
            <a:ext cx="395020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framework-free deployment artifact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STAGE 1B · VERIFY</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The quality gate: no metric, no registration</a:t>
            </a:r>
            <a:endParaRPr lang="en-US" sz="2700" dirty="0"/>
          </a:p>
        </p:txBody>
      </p:sp>
      <p:sp>
        <p:nvSpPr>
          <p:cNvPr id="4" name="Shape 2"/>
          <p:cNvSpPr/>
          <p:nvPr/>
        </p:nvSpPr>
        <p:spPr>
          <a:xfrm>
            <a:off x="548640" y="1600200"/>
            <a:ext cx="2011680" cy="1097280"/>
          </a:xfrm>
          <a:prstGeom prst="roundRect">
            <a:avLst>
              <a:gd name="adj" fmla="val 5833"/>
            </a:avLst>
          </a:prstGeom>
          <a:solidFill>
            <a:srgbClr val="FFFFFF"/>
          </a:solidFill>
          <a:ln w="9525">
            <a:solidFill>
              <a:srgbClr val="DCE4F2"/>
            </a:solidFill>
            <a:prstDash val="solid"/>
          </a:ln>
        </p:spPr>
      </p:sp>
      <p:pic>
        <p:nvPicPr>
          <p:cNvPr id="5" name="Image 0" descr="deck-assets/pytorch.png">    </p:cNvPr>
          <p:cNvPicPr>
            <a:picLocks noChangeAspect="1"/>
          </p:cNvPicPr>
          <p:nvPr/>
        </p:nvPicPr>
        <p:blipFill>
          <a:blip r:embed="rId1"/>
          <a:stretch>
            <a:fillRect/>
          </a:stretch>
        </p:blipFill>
        <p:spPr>
          <a:xfrm>
            <a:off x="1362456" y="1709928"/>
            <a:ext cx="384048" cy="384048"/>
          </a:xfrm>
          <a:prstGeom prst="rect">
            <a:avLst/>
          </a:prstGeom>
        </p:spPr>
      </p:pic>
      <p:sp>
        <p:nvSpPr>
          <p:cNvPr id="6" name="Text 3"/>
          <p:cNvSpPr/>
          <p:nvPr/>
        </p:nvSpPr>
        <p:spPr>
          <a:xfrm>
            <a:off x="585216" y="2112264"/>
            <a:ext cx="193852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Validate best.pt</a:t>
            </a:r>
            <a:endParaRPr lang="en-US" sz="1100" dirty="0"/>
          </a:p>
        </p:txBody>
      </p:sp>
      <p:sp>
        <p:nvSpPr>
          <p:cNvPr id="7" name="Text 4"/>
          <p:cNvSpPr/>
          <p:nvPr/>
        </p:nvSpPr>
        <p:spPr>
          <a:xfrm>
            <a:off x="585216" y="2386584"/>
            <a:ext cx="193852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held-out split</a:t>
            </a:r>
            <a:endParaRPr lang="en-US" sz="850" dirty="0"/>
          </a:p>
        </p:txBody>
      </p:sp>
      <p:sp>
        <p:nvSpPr>
          <p:cNvPr id="8" name="Shape 5"/>
          <p:cNvSpPr/>
          <p:nvPr/>
        </p:nvSpPr>
        <p:spPr>
          <a:xfrm>
            <a:off x="2560320" y="2148840"/>
            <a:ext cx="365760" cy="0"/>
          </a:xfrm>
          <a:prstGeom prst="line">
            <a:avLst/>
          </a:prstGeom>
          <a:noFill/>
          <a:ln w="22225">
            <a:solidFill>
              <a:srgbClr val="63708A"/>
            </a:solidFill>
            <a:prstDash val="solid"/>
            <a:tailEnd type="triangle"/>
          </a:ln>
        </p:spPr>
      </p:sp>
      <p:sp>
        <p:nvSpPr>
          <p:cNvPr id="9" name="Shape 6"/>
          <p:cNvSpPr/>
          <p:nvPr/>
        </p:nvSpPr>
        <p:spPr>
          <a:xfrm>
            <a:off x="2971800" y="1600200"/>
            <a:ext cx="2286000" cy="1097280"/>
          </a:xfrm>
          <a:prstGeom prst="roundRect">
            <a:avLst>
              <a:gd name="adj" fmla="val 5833"/>
            </a:avLst>
          </a:prstGeom>
          <a:solidFill>
            <a:srgbClr val="FFF4EC"/>
          </a:solidFill>
          <a:ln w="9525">
            <a:solidFill>
              <a:srgbClr val="E8590C"/>
            </a:solidFill>
            <a:prstDash val="solid"/>
          </a:ln>
        </p:spPr>
      </p:sp>
      <p:sp>
        <p:nvSpPr>
          <p:cNvPr id="10" name="Text 7"/>
          <p:cNvSpPr/>
          <p:nvPr/>
        </p:nvSpPr>
        <p:spPr>
          <a:xfrm>
            <a:off x="2971800" y="1828800"/>
            <a:ext cx="2286000" cy="365760"/>
          </a:xfrm>
          <a:prstGeom prst="rect">
            <a:avLst/>
          </a:prstGeom>
          <a:noFill/>
          <a:ln/>
        </p:spPr>
        <p:txBody>
          <a:bodyPr wrap="square" lIns="0" tIns="0" rIns="0" bIns="0" rtlCol="0" anchor="ctr"/>
          <a:lstStyle/>
          <a:p>
            <a:pPr algn="ctr" indent="0" marL="0">
              <a:buNone/>
            </a:pPr>
            <a:r>
              <a:rPr lang="en-US" sz="1400" b="1" dirty="0">
                <a:solidFill>
                  <a:srgbClr val="E8590C"/>
                </a:solidFill>
                <a:latin typeface="Calibri" pitchFamily="34" charset="0"/>
                <a:ea typeface="Calibri" pitchFamily="34" charset="-122"/>
                <a:cs typeface="Calibri" pitchFamily="34" charset="-120"/>
              </a:rPr>
              <a:t>mAP@50 ≥ 0.45 ?</a:t>
            </a:r>
            <a:endParaRPr lang="en-US" sz="1400" dirty="0"/>
          </a:p>
        </p:txBody>
      </p:sp>
      <p:sp>
        <p:nvSpPr>
          <p:cNvPr id="11" name="Text 8"/>
          <p:cNvSpPr/>
          <p:nvPr/>
        </p:nvSpPr>
        <p:spPr>
          <a:xfrm>
            <a:off x="2971800" y="2212848"/>
            <a:ext cx="2286000" cy="274320"/>
          </a:xfrm>
          <a:prstGeom prst="rect">
            <a:avLst/>
          </a:prstGeom>
          <a:noFill/>
          <a:ln/>
        </p:spPr>
        <p:txBody>
          <a:bodyPr wrap="square" lIns="0" tIns="0" rIns="0" bIns="0" rtlCol="0" anchor="ctr"/>
          <a:lstStyle/>
          <a:p>
            <a:pPr algn="ctr" indent="0" marL="0">
              <a:buNone/>
            </a:pPr>
            <a:r>
              <a:rPr lang="en-US" sz="950" dirty="0">
                <a:solidFill>
                  <a:srgbClr val="63708A"/>
                </a:solidFill>
                <a:latin typeface="Calibri" pitchFamily="34" charset="0"/>
                <a:ea typeface="Calibri" pitchFamily="34" charset="-122"/>
                <a:cs typeface="Calibri" pitchFamily="34" charset="-120"/>
              </a:rPr>
              <a:t>automated gate in train.py</a:t>
            </a:r>
            <a:endParaRPr lang="en-US" sz="950" dirty="0"/>
          </a:p>
        </p:txBody>
      </p:sp>
      <p:sp>
        <p:nvSpPr>
          <p:cNvPr id="12" name="Shape 9"/>
          <p:cNvSpPr/>
          <p:nvPr/>
        </p:nvSpPr>
        <p:spPr>
          <a:xfrm>
            <a:off x="5257800" y="2148840"/>
            <a:ext cx="365760" cy="0"/>
          </a:xfrm>
          <a:prstGeom prst="line">
            <a:avLst/>
          </a:prstGeom>
          <a:noFill/>
          <a:ln w="22225">
            <a:solidFill>
              <a:srgbClr val="2C7A3D"/>
            </a:solidFill>
            <a:prstDash val="solid"/>
            <a:tailEnd type="triangle"/>
          </a:ln>
        </p:spPr>
      </p:sp>
      <p:sp>
        <p:nvSpPr>
          <p:cNvPr id="13" name="Shape 10"/>
          <p:cNvSpPr/>
          <p:nvPr/>
        </p:nvSpPr>
        <p:spPr>
          <a:xfrm>
            <a:off x="5669280" y="1600200"/>
            <a:ext cx="2377440" cy="1097280"/>
          </a:xfrm>
          <a:prstGeom prst="roundRect">
            <a:avLst>
              <a:gd name="adj" fmla="val 5833"/>
            </a:avLst>
          </a:prstGeom>
          <a:solidFill>
            <a:srgbClr val="FFFFFF"/>
          </a:solidFill>
          <a:ln w="9525">
            <a:solidFill>
              <a:srgbClr val="DCE4F2"/>
            </a:solidFill>
            <a:prstDash val="solid"/>
          </a:ln>
        </p:spPr>
      </p:sp>
      <p:pic>
        <p:nvPicPr>
          <p:cNvPr id="14" name="Image 1" descr="deck-assets/onnx.png">    </p:cNvPr>
          <p:cNvPicPr>
            <a:picLocks noChangeAspect="1"/>
          </p:cNvPicPr>
          <p:nvPr/>
        </p:nvPicPr>
        <p:blipFill>
          <a:blip r:embed="rId2"/>
          <a:stretch>
            <a:fillRect/>
          </a:stretch>
        </p:blipFill>
        <p:spPr>
          <a:xfrm>
            <a:off x="6665976" y="1709928"/>
            <a:ext cx="384048" cy="384048"/>
          </a:xfrm>
          <a:prstGeom prst="rect">
            <a:avLst/>
          </a:prstGeom>
        </p:spPr>
      </p:pic>
      <p:sp>
        <p:nvSpPr>
          <p:cNvPr id="15" name="Text 11"/>
          <p:cNvSpPr/>
          <p:nvPr/>
        </p:nvSpPr>
        <p:spPr>
          <a:xfrm>
            <a:off x="5705856" y="2112264"/>
            <a:ext cx="23042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PASS → export + register</a:t>
            </a:r>
            <a:endParaRPr lang="en-US" sz="1100" dirty="0"/>
          </a:p>
        </p:txBody>
      </p:sp>
      <p:sp>
        <p:nvSpPr>
          <p:cNvPr id="16" name="Text 12"/>
          <p:cNvSpPr/>
          <p:nvPr/>
        </p:nvSpPr>
        <p:spPr>
          <a:xfrm>
            <a:off x="5705856" y="2386584"/>
            <a:ext cx="23042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cv-detector v1 · alias: candidate</a:t>
            </a:r>
            <a:endParaRPr lang="en-US" sz="850" dirty="0"/>
          </a:p>
        </p:txBody>
      </p:sp>
      <p:sp>
        <p:nvSpPr>
          <p:cNvPr id="17" name="Shape 13"/>
          <p:cNvSpPr/>
          <p:nvPr/>
        </p:nvSpPr>
        <p:spPr>
          <a:xfrm>
            <a:off x="4114800" y="2697480"/>
            <a:ext cx="0" cy="457200"/>
          </a:xfrm>
          <a:prstGeom prst="line">
            <a:avLst/>
          </a:prstGeom>
          <a:noFill/>
          <a:ln w="22225">
            <a:solidFill>
              <a:srgbClr val="B3261E"/>
            </a:solidFill>
            <a:prstDash val="solid"/>
            <a:tailEnd type="triangle"/>
          </a:ln>
        </p:spPr>
      </p:sp>
      <p:sp>
        <p:nvSpPr>
          <p:cNvPr id="18" name="Shape 14"/>
          <p:cNvSpPr/>
          <p:nvPr/>
        </p:nvSpPr>
        <p:spPr>
          <a:xfrm>
            <a:off x="2971800" y="3200400"/>
            <a:ext cx="2286000" cy="777240"/>
          </a:xfrm>
          <a:prstGeom prst="roundRect">
            <a:avLst>
              <a:gd name="adj" fmla="val 8235"/>
            </a:avLst>
          </a:prstGeom>
          <a:solidFill>
            <a:srgbClr val="FDECEA"/>
          </a:solidFill>
          <a:ln w="9525">
            <a:solidFill>
              <a:srgbClr val="B3261E"/>
            </a:solidFill>
            <a:prstDash val="solid"/>
          </a:ln>
        </p:spPr>
      </p:sp>
      <p:sp>
        <p:nvSpPr>
          <p:cNvPr id="19" name="Text 15"/>
          <p:cNvSpPr/>
          <p:nvPr/>
        </p:nvSpPr>
        <p:spPr>
          <a:xfrm>
            <a:off x="2971800" y="3291840"/>
            <a:ext cx="2286000" cy="320040"/>
          </a:xfrm>
          <a:prstGeom prst="rect">
            <a:avLst/>
          </a:prstGeom>
          <a:noFill/>
          <a:ln/>
        </p:spPr>
        <p:txBody>
          <a:bodyPr wrap="square" lIns="0" tIns="0" rIns="0" bIns="0" rtlCol="0" anchor="ctr"/>
          <a:lstStyle/>
          <a:p>
            <a:pPr algn="ctr" indent="0" marL="0">
              <a:buNone/>
            </a:pPr>
            <a:r>
              <a:rPr lang="en-US" sz="1250" b="1" dirty="0">
                <a:solidFill>
                  <a:srgbClr val="B3261E"/>
                </a:solidFill>
                <a:latin typeface="Calibri" pitchFamily="34" charset="0"/>
                <a:ea typeface="Calibri" pitchFamily="34" charset="-122"/>
                <a:cs typeface="Calibri" pitchFamily="34" charset="-120"/>
              </a:rPr>
              <a:t>FAIL → exit 1</a:t>
            </a:r>
            <a:endParaRPr lang="en-US" sz="1250" dirty="0"/>
          </a:p>
        </p:txBody>
      </p:sp>
      <p:sp>
        <p:nvSpPr>
          <p:cNvPr id="20" name="Text 16"/>
          <p:cNvSpPr/>
          <p:nvPr/>
        </p:nvSpPr>
        <p:spPr>
          <a:xfrm>
            <a:off x="2971800" y="3611880"/>
            <a:ext cx="2286000" cy="274320"/>
          </a:xfrm>
          <a:prstGeom prst="rect">
            <a:avLst/>
          </a:prstGeom>
          <a:noFill/>
          <a:ln/>
        </p:spPr>
        <p:txBody>
          <a:bodyPr wrap="square" lIns="0" tIns="0" rIns="0" bIns="0" rtlCol="0" anchor="ctr"/>
          <a:lstStyle/>
          <a:p>
            <a:pPr algn="ctr" indent="0" marL="0">
              <a:buNone/>
            </a:pPr>
            <a:r>
              <a:rPr lang="en-US" sz="900" dirty="0">
                <a:solidFill>
                  <a:srgbClr val="63708A"/>
                </a:solidFill>
                <a:latin typeface="Calibri" pitchFamily="34" charset="0"/>
                <a:ea typeface="Calibri" pitchFamily="34" charset="-122"/>
                <a:cs typeface="Calibri" pitchFamily="34" charset="-120"/>
              </a:rPr>
              <a:t>CI marks run red; nothing ships</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549640" y="1600200"/>
          <a:ext cx="3017520" cy="914400"/>
        </p:xfrm>
        <a:graphic>
          <a:graphicData uri="http://schemas.openxmlformats.org/drawingml/2006/table">
            <a:tbl>
              <a:tblPr/>
              <a:tblGrid>
                <a:gridCol w="1645920"/>
                <a:gridCol w="1371600"/>
              </a:tblGrid>
              <a:tr h="420624">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1E276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v1 result</a:t>
                      </a:r>
                      <a:endParaRPr lang="en-US" sz="11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1E2761"/>
                    </a:solidFill>
                  </a:tcPr>
                </a:tc>
              </a:tr>
              <a:tr h="420624">
                <a:tc>
                  <a:txBody>
                    <a:bodyPr/>
                    <a:lstStyle/>
                    <a:p>
                      <a:pPr algn="ctr" indent="0" marL="0">
                        <a:buNone/>
                      </a:pPr>
                      <a:r>
                        <a:rPr lang="en-US" sz="1200" b="1" dirty="0">
                          <a:solidFill>
                            <a:srgbClr val="273044"/>
                          </a:solidFill>
                          <a:latin typeface="Calibri" pitchFamily="34" charset="0"/>
                          <a:ea typeface="Calibri" pitchFamily="34" charset="-122"/>
                          <a:cs typeface="Calibri" pitchFamily="34" charset="-120"/>
                        </a:rPr>
                        <a:t>mAP@50</a:t>
                      </a:r>
                      <a:endParaRPr lang="en-US" sz="12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73044"/>
                          </a:solidFill>
                          <a:latin typeface="Calibri" pitchFamily="34" charset="0"/>
                          <a:ea typeface="Calibri" pitchFamily="34" charset="-122"/>
                          <a:cs typeface="Calibri" pitchFamily="34" charset="-120"/>
                        </a:rPr>
                        <a:t>0.703</a:t>
                      </a:r>
                      <a:endParaRPr lang="en-US" sz="12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r>
              <a:tr h="420624">
                <a:tc>
                  <a:txBody>
                    <a:bodyPr/>
                    <a:lstStyle/>
                    <a:p>
                      <a:pPr algn="ctr" indent="0" marL="0">
                        <a:buNone/>
                      </a:pPr>
                      <a:r>
                        <a:rPr lang="en-US" sz="1200" dirty="0">
                          <a:solidFill>
                            <a:srgbClr val="273044"/>
                          </a:solidFill>
                          <a:latin typeface="Calibri" pitchFamily="34" charset="0"/>
                          <a:ea typeface="Calibri" pitchFamily="34" charset="-122"/>
                          <a:cs typeface="Calibri" pitchFamily="34" charset="-120"/>
                        </a:rPr>
                        <a:t>mAP@50–95</a:t>
                      </a:r>
                      <a:endParaRPr lang="en-US" sz="12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algn="ctr" indent="0" marL="0">
                        <a:buNone/>
                      </a:pPr>
                      <a:r>
                        <a:rPr lang="en-US" sz="1200" dirty="0">
                          <a:solidFill>
                            <a:srgbClr val="273044"/>
                          </a:solidFill>
                          <a:latin typeface="Calibri" pitchFamily="34" charset="0"/>
                          <a:ea typeface="Calibri" pitchFamily="34" charset="-122"/>
                          <a:cs typeface="Calibri" pitchFamily="34" charset="-120"/>
                        </a:rPr>
                        <a:t>0.528</a:t>
                      </a:r>
                      <a:endParaRPr lang="en-US" sz="12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r>
              <a:tr h="420624">
                <a:tc>
                  <a:txBody>
                    <a:bodyPr/>
                    <a:lstStyle/>
                    <a:p>
                      <a:pPr algn="ctr" indent="0" marL="0">
                        <a:buNone/>
                      </a:pPr>
                      <a:r>
                        <a:rPr lang="en-US" sz="1200" dirty="0">
                          <a:solidFill>
                            <a:srgbClr val="273044"/>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73044"/>
                          </a:solidFill>
                          <a:latin typeface="Calibri" pitchFamily="34" charset="0"/>
                          <a:ea typeface="Calibri" pitchFamily="34" charset="-122"/>
                          <a:cs typeface="Calibri" pitchFamily="34" charset="-120"/>
                        </a:rPr>
                        <a:t>0.739</a:t>
                      </a:r>
                      <a:endParaRPr lang="en-US" sz="12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r>
              <a:tr h="420624">
                <a:tc>
                  <a:txBody>
                    <a:bodyPr/>
                    <a:lstStyle/>
                    <a:p>
                      <a:pPr algn="ctr" indent="0" marL="0">
                        <a:buNone/>
                      </a:pPr>
                      <a:r>
                        <a:rPr lang="en-US" sz="1200" dirty="0">
                          <a:solidFill>
                            <a:srgbClr val="273044"/>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algn="ctr" indent="0" marL="0">
                        <a:buNone/>
                      </a:pPr>
                      <a:r>
                        <a:rPr lang="en-US" sz="1200" dirty="0">
                          <a:solidFill>
                            <a:srgbClr val="273044"/>
                          </a:solidFill>
                          <a:latin typeface="Calibri" pitchFamily="34" charset="0"/>
                          <a:ea typeface="Calibri" pitchFamily="34" charset="-122"/>
                          <a:cs typeface="Calibri" pitchFamily="34" charset="-120"/>
                        </a:rPr>
                        <a:t>0.633</a:t>
                      </a:r>
                      <a:endParaRPr lang="en-US" sz="120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r>
            </a:tbl>
          </a:graphicData>
        </a:graphic>
      </p:graphicFrame>
      <p:sp>
        <p:nvSpPr>
          <p:cNvPr id="22" name="Shape 17"/>
          <p:cNvSpPr/>
          <p:nvPr/>
        </p:nvSpPr>
        <p:spPr>
          <a:xfrm>
            <a:off x="548640" y="4434840"/>
            <a:ext cx="11018520" cy="1828800"/>
          </a:xfrm>
          <a:prstGeom prst="roundRect">
            <a:avLst>
              <a:gd name="adj" fmla="val 3500"/>
            </a:avLst>
          </a:prstGeom>
          <a:solidFill>
            <a:srgbClr val="F0F4FB"/>
          </a:solidFill>
          <a:ln w="9525">
            <a:solidFill>
              <a:srgbClr val="DCE4F2"/>
            </a:solidFill>
            <a:prstDash val="solid"/>
          </a:ln>
        </p:spPr>
      </p:sp>
      <p:sp>
        <p:nvSpPr>
          <p:cNvPr id="23" name="Text 18"/>
          <p:cNvSpPr/>
          <p:nvPr/>
        </p:nvSpPr>
        <p:spPr>
          <a:xfrm>
            <a:off x="777240" y="4617720"/>
            <a:ext cx="10515600" cy="1554480"/>
          </a:xfrm>
          <a:prstGeom prst="rect">
            <a:avLst/>
          </a:prstGeom>
          <a:noFill/>
          <a:ln/>
        </p:spPr>
        <p:txBody>
          <a:bodyPr wrap="square" lIns="0" tIns="0" rIns="0" bIns="0" rtlCol="0" anchor="t"/>
          <a:lstStyle/>
          <a:p>
            <a:pPr indent="0" marL="0">
              <a:buNone/>
            </a:pPr>
            <a:r>
              <a:rPr lang="en-US" sz="1200" b="1" dirty="0">
                <a:solidFill>
                  <a:srgbClr val="273044"/>
                </a:solidFill>
                <a:latin typeface="Calibri" pitchFamily="34" charset="0"/>
                <a:ea typeface="Calibri" pitchFamily="34" charset="-122"/>
                <a:cs typeface="Calibri" pitchFamily="34" charset="-120"/>
              </a:rPr>
              <a:t>The honest caveat this project surfaced: </a:t>
            </a:r>
            <a:pPr indent="0" marL="0">
              <a:buNone/>
            </a:pPr>
            <a:r>
              <a:rPr lang="en-US" sz="1200" dirty="0">
                <a:solidFill>
                  <a:srgbClr val="273044"/>
                </a:solidFill>
                <a:latin typeface="Calibri" pitchFamily="34" charset="0"/>
                <a:ea typeface="Calibri" pitchFamily="34" charset="-122"/>
                <a:cs typeface="Calibri" pitchFamily="34" charset="-120"/>
              </a:rPr>
              <a:t>the gate passed at 0.703, yet the deployed model labeled a bus as an “airplane” (0.68 confidence) on the first smoke test. A 128-image validation set produces a real but weak gate — fine-tuning had partially eroded classes the pretrained model knew (catastrophic forgetting). Lesson: quality gates are necessary, not sufficient; pair them with slice-level evals and qualitative checks on real inputs before promotion.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STAGE 1C · REGISTRY</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Model + data versioning: aliases as the deployment contract</a:t>
            </a:r>
            <a:endParaRPr lang="en-US" sz="2700" dirty="0"/>
          </a:p>
        </p:txBody>
      </p:sp>
      <p:sp>
        <p:nvSpPr>
          <p:cNvPr id="4" name="Shape 2"/>
          <p:cNvSpPr/>
          <p:nvPr/>
        </p:nvSpPr>
        <p:spPr>
          <a:xfrm>
            <a:off x="548640" y="1554480"/>
            <a:ext cx="2103120" cy="1143000"/>
          </a:xfrm>
          <a:prstGeom prst="roundRect">
            <a:avLst>
              <a:gd name="adj" fmla="val 5600"/>
            </a:avLst>
          </a:prstGeom>
          <a:solidFill>
            <a:srgbClr val="FFFFFF"/>
          </a:solidFill>
          <a:ln w="9525">
            <a:solidFill>
              <a:srgbClr val="DCE4F2"/>
            </a:solidFill>
            <a:prstDash val="solid"/>
          </a:ln>
        </p:spPr>
      </p:sp>
      <p:pic>
        <p:nvPicPr>
          <p:cNvPr id="5" name="Image 0" descr="deck-assets/mlflow.png">    </p:cNvPr>
          <p:cNvPicPr>
            <a:picLocks noChangeAspect="1"/>
          </p:cNvPicPr>
          <p:nvPr/>
        </p:nvPicPr>
        <p:blipFill>
          <a:blip r:embed="rId1"/>
          <a:stretch>
            <a:fillRect/>
          </a:stretch>
        </p:blipFill>
        <p:spPr>
          <a:xfrm>
            <a:off x="1408176" y="1664208"/>
            <a:ext cx="384048" cy="384048"/>
          </a:xfrm>
          <a:prstGeom prst="rect">
            <a:avLst/>
          </a:prstGeom>
        </p:spPr>
      </p:pic>
      <p:sp>
        <p:nvSpPr>
          <p:cNvPr id="6" name="Text 3"/>
          <p:cNvSpPr/>
          <p:nvPr/>
        </p:nvSpPr>
        <p:spPr>
          <a:xfrm>
            <a:off x="585216" y="2066544"/>
            <a:ext cx="202996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Run</a:t>
            </a:r>
            <a:endParaRPr lang="en-US" sz="1100" dirty="0"/>
          </a:p>
        </p:txBody>
      </p:sp>
      <p:sp>
        <p:nvSpPr>
          <p:cNvPr id="7" name="Text 4"/>
          <p:cNvSpPr/>
          <p:nvPr/>
        </p:nvSpPr>
        <p:spPr>
          <a:xfrm>
            <a:off x="585216" y="2340864"/>
            <a:ext cx="202996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params · metrics · ONNX artifact</a:t>
            </a:r>
            <a:endParaRPr lang="en-US" sz="850" dirty="0"/>
          </a:p>
        </p:txBody>
      </p:sp>
      <p:sp>
        <p:nvSpPr>
          <p:cNvPr id="8" name="Shape 5"/>
          <p:cNvSpPr/>
          <p:nvPr/>
        </p:nvSpPr>
        <p:spPr>
          <a:xfrm>
            <a:off x="2651760" y="2121408"/>
            <a:ext cx="365760" cy="0"/>
          </a:xfrm>
          <a:prstGeom prst="line">
            <a:avLst/>
          </a:prstGeom>
          <a:noFill/>
          <a:ln w="22225">
            <a:solidFill>
              <a:srgbClr val="63708A"/>
            </a:solidFill>
            <a:prstDash val="solid"/>
            <a:tailEnd type="triangle"/>
          </a:ln>
        </p:spPr>
      </p:sp>
      <p:sp>
        <p:nvSpPr>
          <p:cNvPr id="9" name="Shape 6"/>
          <p:cNvSpPr/>
          <p:nvPr/>
        </p:nvSpPr>
        <p:spPr>
          <a:xfrm>
            <a:off x="3063240" y="1554480"/>
            <a:ext cx="2103120" cy="1143000"/>
          </a:xfrm>
          <a:prstGeom prst="roundRect">
            <a:avLst>
              <a:gd name="adj" fmla="val 5600"/>
            </a:avLst>
          </a:prstGeom>
          <a:solidFill>
            <a:srgbClr val="FFFFFF"/>
          </a:solidFill>
          <a:ln w="9525">
            <a:solidFill>
              <a:srgbClr val="DCE4F2"/>
            </a:solidFill>
            <a:prstDash val="solid"/>
          </a:ln>
        </p:spPr>
      </p:sp>
      <p:pic>
        <p:nvPicPr>
          <p:cNvPr id="10" name="Image 1" descr="deck-assets/mlflow.png">    </p:cNvPr>
          <p:cNvPicPr>
            <a:picLocks noChangeAspect="1"/>
          </p:cNvPicPr>
          <p:nvPr/>
        </p:nvPicPr>
        <p:blipFill>
          <a:blip r:embed="rId2"/>
          <a:stretch>
            <a:fillRect/>
          </a:stretch>
        </p:blipFill>
        <p:spPr>
          <a:xfrm>
            <a:off x="3922776" y="1664208"/>
            <a:ext cx="384048" cy="384048"/>
          </a:xfrm>
          <a:prstGeom prst="rect">
            <a:avLst/>
          </a:prstGeom>
        </p:spPr>
      </p:pic>
      <p:sp>
        <p:nvSpPr>
          <p:cNvPr id="11" name="Text 7"/>
          <p:cNvSpPr/>
          <p:nvPr/>
        </p:nvSpPr>
        <p:spPr>
          <a:xfrm>
            <a:off x="3099816" y="2066544"/>
            <a:ext cx="202996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Model version</a:t>
            </a:r>
            <a:endParaRPr lang="en-US" sz="1100" dirty="0"/>
          </a:p>
        </p:txBody>
      </p:sp>
      <p:sp>
        <p:nvSpPr>
          <p:cNvPr id="12" name="Text 8"/>
          <p:cNvSpPr/>
          <p:nvPr/>
        </p:nvSpPr>
        <p:spPr>
          <a:xfrm>
            <a:off x="3099816" y="2340864"/>
            <a:ext cx="202996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cv-detector v1, v2, …</a:t>
            </a:r>
            <a:endParaRPr lang="en-US" sz="850" dirty="0"/>
          </a:p>
        </p:txBody>
      </p:sp>
      <p:sp>
        <p:nvSpPr>
          <p:cNvPr id="13" name="Shape 9"/>
          <p:cNvSpPr/>
          <p:nvPr/>
        </p:nvSpPr>
        <p:spPr>
          <a:xfrm>
            <a:off x="5166360" y="2121408"/>
            <a:ext cx="365760" cy="0"/>
          </a:xfrm>
          <a:prstGeom prst="line">
            <a:avLst/>
          </a:prstGeom>
          <a:noFill/>
          <a:ln w="22225">
            <a:solidFill>
              <a:srgbClr val="63708A"/>
            </a:solidFill>
            <a:prstDash val="solid"/>
            <a:tailEnd type="triangle"/>
          </a:ln>
        </p:spPr>
      </p:sp>
      <p:sp>
        <p:nvSpPr>
          <p:cNvPr id="14" name="Shape 10"/>
          <p:cNvSpPr/>
          <p:nvPr/>
        </p:nvSpPr>
        <p:spPr>
          <a:xfrm>
            <a:off x="5577840" y="1554480"/>
            <a:ext cx="2377440" cy="1143000"/>
          </a:xfrm>
          <a:prstGeom prst="roundRect">
            <a:avLst>
              <a:gd name="adj" fmla="val 5600"/>
            </a:avLst>
          </a:prstGeom>
          <a:solidFill>
            <a:srgbClr val="EAF4EC"/>
          </a:solidFill>
          <a:ln w="9525">
            <a:solidFill>
              <a:srgbClr val="2C7A3D"/>
            </a:solidFill>
            <a:prstDash val="solid"/>
          </a:ln>
        </p:spPr>
      </p:sp>
      <p:sp>
        <p:nvSpPr>
          <p:cNvPr id="15" name="Text 11"/>
          <p:cNvSpPr/>
          <p:nvPr/>
        </p:nvSpPr>
        <p:spPr>
          <a:xfrm>
            <a:off x="5577840" y="1783080"/>
            <a:ext cx="2377440" cy="365760"/>
          </a:xfrm>
          <a:prstGeom prst="rect">
            <a:avLst/>
          </a:prstGeom>
          <a:noFill/>
          <a:ln/>
        </p:spPr>
        <p:txBody>
          <a:bodyPr wrap="square" lIns="0" tIns="0" rIns="0" bIns="0" rtlCol="0" anchor="ctr"/>
          <a:lstStyle/>
          <a:p>
            <a:pPr algn="ctr" indent="0" marL="0">
              <a:buNone/>
            </a:pPr>
            <a:r>
              <a:rPr lang="en-US" sz="1350" b="1" dirty="0">
                <a:solidFill>
                  <a:srgbClr val="2C7A3D"/>
                </a:solidFill>
                <a:latin typeface="Calibri" pitchFamily="34" charset="0"/>
                <a:ea typeface="Calibri" pitchFamily="34" charset="-122"/>
                <a:cs typeface="Calibri" pitchFamily="34" charset="-120"/>
              </a:rPr>
              <a:t>alias: candidate</a:t>
            </a:r>
            <a:endParaRPr lang="en-US" sz="1350" dirty="0"/>
          </a:p>
        </p:txBody>
      </p:sp>
      <p:sp>
        <p:nvSpPr>
          <p:cNvPr id="16" name="Text 12"/>
          <p:cNvSpPr/>
          <p:nvPr/>
        </p:nvSpPr>
        <p:spPr>
          <a:xfrm>
            <a:off x="5577840" y="2176272"/>
            <a:ext cx="2377440" cy="274320"/>
          </a:xfrm>
          <a:prstGeom prst="rect">
            <a:avLst/>
          </a:prstGeom>
          <a:noFill/>
          <a:ln/>
        </p:spPr>
        <p:txBody>
          <a:bodyPr wrap="square" lIns="0" tIns="0" rIns="0" bIns="0" rtlCol="0" anchor="ctr"/>
          <a:lstStyle/>
          <a:p>
            <a:pPr algn="ctr" indent="0" marL="0">
              <a:buNone/>
            </a:pPr>
            <a:r>
              <a:rPr lang="en-US" sz="950" dirty="0">
                <a:solidFill>
                  <a:srgbClr val="63708A"/>
                </a:solidFill>
                <a:latin typeface="Calibri" pitchFamily="34" charset="0"/>
                <a:ea typeface="Calibri" pitchFamily="34" charset="-122"/>
                <a:cs typeface="Calibri" pitchFamily="34" charset="-120"/>
              </a:rPr>
              <a:t>auto-set by the training gate</a:t>
            </a:r>
            <a:endParaRPr lang="en-US" sz="950" dirty="0"/>
          </a:p>
        </p:txBody>
      </p:sp>
      <p:sp>
        <p:nvSpPr>
          <p:cNvPr id="17" name="Shape 13"/>
          <p:cNvSpPr/>
          <p:nvPr/>
        </p:nvSpPr>
        <p:spPr>
          <a:xfrm>
            <a:off x="7955280" y="2121408"/>
            <a:ext cx="365760" cy="0"/>
          </a:xfrm>
          <a:prstGeom prst="line">
            <a:avLst/>
          </a:prstGeom>
          <a:noFill/>
          <a:ln w="22225">
            <a:solidFill>
              <a:srgbClr val="63708A"/>
            </a:solidFill>
            <a:prstDash val="solid"/>
            <a:tailEnd type="triangle"/>
          </a:ln>
        </p:spPr>
      </p:sp>
      <p:sp>
        <p:nvSpPr>
          <p:cNvPr id="18" name="Shape 14"/>
          <p:cNvSpPr/>
          <p:nvPr/>
        </p:nvSpPr>
        <p:spPr>
          <a:xfrm>
            <a:off x="8366760" y="1554480"/>
            <a:ext cx="3108960" cy="1143000"/>
          </a:xfrm>
          <a:prstGeom prst="roundRect">
            <a:avLst>
              <a:gd name="adj" fmla="val 5600"/>
            </a:avLst>
          </a:prstGeom>
          <a:solidFill>
            <a:srgbClr val="1E2761"/>
          </a:solidFill>
          <a:ln w="9525">
            <a:solidFill>
              <a:srgbClr val="DCE4F2"/>
            </a:solidFill>
            <a:prstDash val="solid"/>
          </a:ln>
        </p:spPr>
      </p:sp>
      <p:sp>
        <p:nvSpPr>
          <p:cNvPr id="19" name="Text 15"/>
          <p:cNvSpPr/>
          <p:nvPr/>
        </p:nvSpPr>
        <p:spPr>
          <a:xfrm>
            <a:off x="8366760" y="1783080"/>
            <a:ext cx="3108960"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alias: production</a:t>
            </a:r>
            <a:endParaRPr lang="en-US" sz="1350" dirty="0"/>
          </a:p>
        </p:txBody>
      </p:sp>
      <p:sp>
        <p:nvSpPr>
          <p:cNvPr id="20" name="Text 16"/>
          <p:cNvSpPr/>
          <p:nvPr/>
        </p:nvSpPr>
        <p:spPr>
          <a:xfrm>
            <a:off x="8366760" y="2176272"/>
            <a:ext cx="3108960" cy="274320"/>
          </a:xfrm>
          <a:prstGeom prst="rect">
            <a:avLst/>
          </a:prstGeom>
          <a:noFill/>
          <a:ln/>
        </p:spPr>
        <p:txBody>
          <a:bodyPr wrap="square" lIns="0" tIns="0" rIns="0" bIns="0" rtlCol="0" anchor="ctr"/>
          <a:lstStyle/>
          <a:p>
            <a:pPr algn="ctr" indent="0" marL="0">
              <a:buNone/>
            </a:pPr>
            <a:r>
              <a:rPr lang="en-US" sz="950" dirty="0">
                <a:solidFill>
                  <a:srgbClr val="CADCFC"/>
                </a:solidFill>
                <a:latin typeface="Calibri" pitchFamily="34" charset="0"/>
                <a:ea typeface="Calibri" pitchFamily="34" charset="-122"/>
                <a:cs typeface="Calibri" pitchFamily="34" charset="-120"/>
              </a:rPr>
              <a:t>human promotion: make promote VERSION=n</a:t>
            </a:r>
            <a:endParaRPr lang="en-US" sz="950" dirty="0"/>
          </a:p>
        </p:txBody>
      </p:sp>
      <p:sp>
        <p:nvSpPr>
          <p:cNvPr id="21" name="Text 17"/>
          <p:cNvSpPr/>
          <p:nvPr/>
        </p:nvSpPr>
        <p:spPr>
          <a:xfrm>
            <a:off x="548640" y="2880360"/>
            <a:ext cx="10972800" cy="502920"/>
          </a:xfrm>
          <a:prstGeom prst="rect">
            <a:avLst/>
          </a:prstGeom>
          <a:noFill/>
          <a:ln/>
        </p:spPr>
        <p:txBody>
          <a:bodyPr wrap="square" lIns="0" tIns="0" rIns="0" bIns="0" rtlCol="0" anchor="ctr"/>
          <a:lstStyle/>
          <a:p>
            <a:pPr indent="0" marL="0">
              <a:buNone/>
            </a:pPr>
            <a:r>
              <a:rPr lang="en-US" sz="1250" i="1" dirty="0">
                <a:solidFill>
                  <a:srgbClr val="63708A"/>
                </a:solidFill>
                <a:latin typeface="Calibri" pitchFamily="34" charset="0"/>
                <a:ea typeface="Calibri" pitchFamily="34" charset="-122"/>
                <a:cs typeface="Calibri" pitchFamily="34" charset="-120"/>
              </a:rPr>
              <a:t>Deployment always resolves an alias — never “the latest run”. Rollback = repoint the alias. Promotion is auditable, reversible, and decoupled from training.</a:t>
            </a:r>
            <a:endParaRPr lang="en-US" sz="1250" dirty="0"/>
          </a:p>
        </p:txBody>
      </p:sp>
      <p:sp>
        <p:nvSpPr>
          <p:cNvPr id="22" name="Shape 18"/>
          <p:cNvSpPr/>
          <p:nvPr/>
        </p:nvSpPr>
        <p:spPr>
          <a:xfrm>
            <a:off x="548640" y="3657600"/>
            <a:ext cx="5394960" cy="2606040"/>
          </a:xfrm>
          <a:prstGeom prst="roundRect">
            <a:avLst>
              <a:gd name="adj" fmla="val 2456"/>
            </a:avLst>
          </a:prstGeom>
          <a:solidFill>
            <a:srgbClr val="F0F4FB"/>
          </a:solidFill>
          <a:ln w="9525">
            <a:solidFill>
              <a:srgbClr val="DCE4F2"/>
            </a:solidFill>
            <a:prstDash val="solid"/>
          </a:ln>
        </p:spPr>
      </p:sp>
      <p:pic>
        <p:nvPicPr>
          <p:cNvPr id="23" name="Image 2" descr="deck-assets/dvc.png">    </p:cNvPr>
          <p:cNvPicPr>
            <a:picLocks noChangeAspect="1"/>
          </p:cNvPicPr>
          <p:nvPr/>
        </p:nvPicPr>
        <p:blipFill>
          <a:blip r:embed="rId3"/>
          <a:stretch>
            <a:fillRect/>
          </a:stretch>
        </p:blipFill>
        <p:spPr>
          <a:xfrm>
            <a:off x="777240" y="3840480"/>
            <a:ext cx="411480" cy="411480"/>
          </a:xfrm>
          <a:prstGeom prst="rect">
            <a:avLst/>
          </a:prstGeom>
        </p:spPr>
      </p:pic>
      <p:sp>
        <p:nvSpPr>
          <p:cNvPr id="24" name="Text 19"/>
          <p:cNvSpPr/>
          <p:nvPr/>
        </p:nvSpPr>
        <p:spPr>
          <a:xfrm>
            <a:off x="1325880" y="3877056"/>
            <a:ext cx="4480560" cy="36576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Data versioning — DVC over S3</a:t>
            </a:r>
            <a:endParaRPr lang="en-US" sz="1450" dirty="0"/>
          </a:p>
        </p:txBody>
      </p:sp>
      <p:sp>
        <p:nvSpPr>
          <p:cNvPr id="25" name="Text 20"/>
          <p:cNvSpPr/>
          <p:nvPr/>
        </p:nvSpPr>
        <p:spPr>
          <a:xfrm>
            <a:off x="777240" y="4389120"/>
            <a:ext cx="4937760" cy="1737360"/>
          </a:xfrm>
          <a:prstGeom prst="rect">
            <a:avLst/>
          </a:prstGeom>
          <a:noFill/>
          <a:ln/>
        </p:spPr>
        <p:txBody>
          <a:bodyPr wrap="square" lIns="0" tIns="0" rIns="0" bIns="0" rtlCol="0" anchor="t"/>
          <a:lstStyle/>
          <a:p>
            <a:pPr marL="127000" indent="-127000">
              <a:spcAft>
                <a:spcPts val="800"/>
              </a:spcAft>
              <a:buSzPct val="100000"/>
              <a:buChar char="•"/>
            </a:pPr>
            <a:r>
              <a:rPr lang="en-US" sz="1150" dirty="0">
                <a:solidFill>
                  <a:srgbClr val="273044"/>
                </a:solidFill>
                <a:latin typeface="Calibri" pitchFamily="34" charset="0"/>
                <a:ea typeface="Calibri" pitchFamily="34" charset="-122"/>
                <a:cs typeface="Calibri" pitchFamily="34" charset="-120"/>
              </a:rPr>
              <a:t>dvc add data/ pins an immutable dataset hash into git; bytes live in S3</a:t>
            </a:r>
            <a:endParaRPr lang="en-US" sz="1150" dirty="0"/>
          </a:p>
          <a:p>
            <a:pPr marL="127000" indent="-127000">
              <a:spcAft>
                <a:spcPts val="800"/>
              </a:spcAft>
              <a:buSzPct val="100000"/>
              <a:buChar char="•"/>
            </a:pPr>
            <a:r>
              <a:rPr lang="en-US" sz="1150" dirty="0">
                <a:solidFill>
                  <a:srgbClr val="273044"/>
                </a:solidFill>
                <a:latin typeface="Calibri" pitchFamily="34" charset="0"/>
                <a:ea typeface="Calibri" pitchFamily="34" charset="-122"/>
                <a:cs typeface="Calibri" pitchFamily="34" charset="-120"/>
              </a:rPr>
              <a:t>dvc repro re-runs training only when code, params, or data actually changed</a:t>
            </a:r>
            <a:endParaRPr lang="en-US" sz="1150" dirty="0"/>
          </a:p>
          <a:p>
            <a:pPr marL="127000" indent="-127000">
              <a:spcAft>
                <a:spcPts val="800"/>
              </a:spcAft>
              <a:buSzPct val="100000"/>
              <a:buChar char="•"/>
            </a:pPr>
            <a:r>
              <a:rPr lang="en-US" sz="1150" dirty="0">
                <a:solidFill>
                  <a:srgbClr val="273044"/>
                </a:solidFill>
                <a:latin typeface="Calibri" pitchFamily="34" charset="0"/>
                <a:ea typeface="Calibri" pitchFamily="34" charset="-122"/>
                <a:cs typeface="Calibri" pitchFamily="34" charset="-120"/>
              </a:rPr>
              <a:t>Answers the audit question “exactly which data trained v2?” with a commit hash</a:t>
            </a:r>
            <a:endParaRPr lang="en-US" sz="1150" dirty="0"/>
          </a:p>
        </p:txBody>
      </p:sp>
      <p:sp>
        <p:nvSpPr>
          <p:cNvPr id="26" name="Shape 21"/>
          <p:cNvSpPr/>
          <p:nvPr/>
        </p:nvSpPr>
        <p:spPr>
          <a:xfrm>
            <a:off x="6172200" y="3657600"/>
            <a:ext cx="5532120" cy="2606040"/>
          </a:xfrm>
          <a:prstGeom prst="roundRect">
            <a:avLst>
              <a:gd name="adj" fmla="val 2456"/>
            </a:avLst>
          </a:prstGeom>
          <a:solidFill>
            <a:srgbClr val="FFFFFF"/>
          </a:solidFill>
          <a:ln w="9525">
            <a:solidFill>
              <a:srgbClr val="DCE4F2"/>
            </a:solidFill>
            <a:prstDash val="solid"/>
          </a:ln>
        </p:spPr>
      </p:sp>
      <p:sp>
        <p:nvSpPr>
          <p:cNvPr id="27" name="Text 22"/>
          <p:cNvSpPr/>
          <p:nvPr/>
        </p:nvSpPr>
        <p:spPr>
          <a:xfrm>
            <a:off x="6400800" y="3840480"/>
            <a:ext cx="5029200" cy="36576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Ops notes from the build</a:t>
            </a:r>
            <a:endParaRPr lang="en-US" sz="1450" dirty="0"/>
          </a:p>
        </p:txBody>
      </p:sp>
      <p:sp>
        <p:nvSpPr>
          <p:cNvPr id="28" name="Text 23"/>
          <p:cNvSpPr/>
          <p:nvPr/>
        </p:nvSpPr>
        <p:spPr>
          <a:xfrm>
            <a:off x="6400800" y="4297680"/>
            <a:ext cx="5074920" cy="1828800"/>
          </a:xfrm>
          <a:prstGeom prst="rect">
            <a:avLst/>
          </a:prstGeom>
          <a:noFill/>
          <a:ln/>
        </p:spPr>
        <p:txBody>
          <a:bodyPr wrap="square" lIns="0" tIns="0" rIns="0" bIns="0" rtlCol="0" anchor="t"/>
          <a:lstStyle/>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MLflow server runs in-cluster (1 pod, SQLite on EBS; artifacts on the same volume) — right-sized for one engineer, swap to RDS Postgres + S3-with-IRSA for teams</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MLflow 3.x server needed --workers=1 and a 2 GiB limit — default multi-worker boot OOM-killed the pod repeatedly</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Client/server major versions must match: 3.x client against 2.x server broke registration with a missing endpoint (404)</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STAGE 2 · DEPLOY</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From registry alias to running pod</a:t>
            </a:r>
            <a:endParaRPr lang="en-US" sz="2700" dirty="0"/>
          </a:p>
        </p:txBody>
      </p:sp>
      <p:sp>
        <p:nvSpPr>
          <p:cNvPr id="4" name="Shape 2"/>
          <p:cNvSpPr/>
          <p:nvPr/>
        </p:nvSpPr>
        <p:spPr>
          <a:xfrm>
            <a:off x="548640" y="1463040"/>
            <a:ext cx="1920240" cy="1234440"/>
          </a:xfrm>
          <a:prstGeom prst="roundRect">
            <a:avLst>
              <a:gd name="adj" fmla="val 5185"/>
            </a:avLst>
          </a:prstGeom>
          <a:solidFill>
            <a:srgbClr val="FFFFFF"/>
          </a:solidFill>
          <a:ln w="9525">
            <a:solidFill>
              <a:srgbClr val="DCE4F2"/>
            </a:solidFill>
            <a:prstDash val="solid"/>
          </a:ln>
        </p:spPr>
      </p:sp>
      <p:pic>
        <p:nvPicPr>
          <p:cNvPr id="5" name="Image 0" descr="deck-assets/mlflow.png">    </p:cNvPr>
          <p:cNvPicPr>
            <a:picLocks noChangeAspect="1"/>
          </p:cNvPicPr>
          <p:nvPr/>
        </p:nvPicPr>
        <p:blipFill>
          <a:blip r:embed="rId1"/>
          <a:stretch>
            <a:fillRect/>
          </a:stretch>
        </p:blipFill>
        <p:spPr>
          <a:xfrm>
            <a:off x="1316736" y="1572768"/>
            <a:ext cx="384048" cy="384048"/>
          </a:xfrm>
          <a:prstGeom prst="rect">
            <a:avLst/>
          </a:prstGeom>
        </p:spPr>
      </p:pic>
      <p:sp>
        <p:nvSpPr>
          <p:cNvPr id="6" name="Text 3"/>
          <p:cNvSpPr/>
          <p:nvPr/>
        </p:nvSpPr>
        <p:spPr>
          <a:xfrm>
            <a:off x="585216"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make fetch-model</a:t>
            </a:r>
            <a:endParaRPr lang="en-US" sz="1100" dirty="0"/>
          </a:p>
        </p:txBody>
      </p:sp>
      <p:sp>
        <p:nvSpPr>
          <p:cNvPr id="7" name="Text 4"/>
          <p:cNvSpPr/>
          <p:nvPr/>
        </p:nvSpPr>
        <p:spPr>
          <a:xfrm>
            <a:off x="585216"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resolve alias → download ONNX</a:t>
            </a:r>
            <a:endParaRPr lang="en-US" sz="850" dirty="0"/>
          </a:p>
        </p:txBody>
      </p:sp>
      <p:sp>
        <p:nvSpPr>
          <p:cNvPr id="8" name="Shape 5"/>
          <p:cNvSpPr/>
          <p:nvPr/>
        </p:nvSpPr>
        <p:spPr>
          <a:xfrm>
            <a:off x="2468880" y="2084832"/>
            <a:ext cx="384048" cy="0"/>
          </a:xfrm>
          <a:prstGeom prst="line">
            <a:avLst/>
          </a:prstGeom>
          <a:noFill/>
          <a:ln w="22225">
            <a:solidFill>
              <a:srgbClr val="63708A"/>
            </a:solidFill>
            <a:prstDash val="solid"/>
            <a:tailEnd type="triangle"/>
          </a:ln>
        </p:spPr>
      </p:sp>
      <p:sp>
        <p:nvSpPr>
          <p:cNvPr id="9" name="Shape 6"/>
          <p:cNvSpPr/>
          <p:nvPr/>
        </p:nvSpPr>
        <p:spPr>
          <a:xfrm>
            <a:off x="2852928" y="1463040"/>
            <a:ext cx="1920240" cy="1234440"/>
          </a:xfrm>
          <a:prstGeom prst="roundRect">
            <a:avLst>
              <a:gd name="adj" fmla="val 5185"/>
            </a:avLst>
          </a:prstGeom>
          <a:solidFill>
            <a:srgbClr val="FFFFFF"/>
          </a:solidFill>
          <a:ln w="9525">
            <a:solidFill>
              <a:srgbClr val="DCE4F2"/>
            </a:solidFill>
            <a:prstDash val="solid"/>
          </a:ln>
        </p:spPr>
      </p:sp>
      <p:pic>
        <p:nvPicPr>
          <p:cNvPr id="10" name="Image 1" descr="deck-assets/docker.png">    </p:cNvPr>
          <p:cNvPicPr>
            <a:picLocks noChangeAspect="1"/>
          </p:cNvPicPr>
          <p:nvPr/>
        </p:nvPicPr>
        <p:blipFill>
          <a:blip r:embed="rId2"/>
          <a:stretch>
            <a:fillRect/>
          </a:stretch>
        </p:blipFill>
        <p:spPr>
          <a:xfrm>
            <a:off x="3621024" y="1572768"/>
            <a:ext cx="384048" cy="384048"/>
          </a:xfrm>
          <a:prstGeom prst="rect">
            <a:avLst/>
          </a:prstGeom>
        </p:spPr>
      </p:pic>
      <p:sp>
        <p:nvSpPr>
          <p:cNvPr id="11" name="Text 7"/>
          <p:cNvSpPr/>
          <p:nvPr/>
        </p:nvSpPr>
        <p:spPr>
          <a:xfrm>
            <a:off x="2889504"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make build</a:t>
            </a:r>
            <a:endParaRPr lang="en-US" sz="1100" dirty="0"/>
          </a:p>
        </p:txBody>
      </p:sp>
      <p:sp>
        <p:nvSpPr>
          <p:cNvPr id="12" name="Text 8"/>
          <p:cNvSpPr/>
          <p:nvPr/>
        </p:nvSpPr>
        <p:spPr>
          <a:xfrm>
            <a:off x="2889504"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bake model into slim python:3.11 image</a:t>
            </a:r>
            <a:endParaRPr lang="en-US" sz="850" dirty="0"/>
          </a:p>
        </p:txBody>
      </p:sp>
      <p:sp>
        <p:nvSpPr>
          <p:cNvPr id="13" name="Shape 9"/>
          <p:cNvSpPr/>
          <p:nvPr/>
        </p:nvSpPr>
        <p:spPr>
          <a:xfrm>
            <a:off x="4773168" y="2084832"/>
            <a:ext cx="384048" cy="0"/>
          </a:xfrm>
          <a:prstGeom prst="line">
            <a:avLst/>
          </a:prstGeom>
          <a:noFill/>
          <a:ln w="22225">
            <a:solidFill>
              <a:srgbClr val="63708A"/>
            </a:solidFill>
            <a:prstDash val="solid"/>
            <a:tailEnd type="triangle"/>
          </a:ln>
        </p:spPr>
      </p:sp>
      <p:sp>
        <p:nvSpPr>
          <p:cNvPr id="14" name="Shape 10"/>
          <p:cNvSpPr/>
          <p:nvPr/>
        </p:nvSpPr>
        <p:spPr>
          <a:xfrm>
            <a:off x="5157216" y="1463040"/>
            <a:ext cx="1920240" cy="1234440"/>
          </a:xfrm>
          <a:prstGeom prst="roundRect">
            <a:avLst>
              <a:gd name="adj" fmla="val 5185"/>
            </a:avLst>
          </a:prstGeom>
          <a:solidFill>
            <a:srgbClr val="FFFFFF"/>
          </a:solidFill>
          <a:ln w="9525">
            <a:solidFill>
              <a:srgbClr val="DCE4F2"/>
            </a:solidFill>
            <a:prstDash val="solid"/>
          </a:ln>
        </p:spPr>
      </p:sp>
      <p:pic>
        <p:nvPicPr>
          <p:cNvPr id="15" name="Image 2" descr="deck-assets/aws.png">    </p:cNvPr>
          <p:cNvPicPr>
            <a:picLocks noChangeAspect="1"/>
          </p:cNvPicPr>
          <p:nvPr/>
        </p:nvPicPr>
        <p:blipFill>
          <a:blip r:embed="rId3"/>
          <a:stretch>
            <a:fillRect/>
          </a:stretch>
        </p:blipFill>
        <p:spPr>
          <a:xfrm>
            <a:off x="5925312" y="1572768"/>
            <a:ext cx="384048" cy="384048"/>
          </a:xfrm>
          <a:prstGeom prst="rect">
            <a:avLst/>
          </a:prstGeom>
        </p:spPr>
      </p:pic>
      <p:sp>
        <p:nvSpPr>
          <p:cNvPr id="16" name="Text 11"/>
          <p:cNvSpPr/>
          <p:nvPr/>
        </p:nvSpPr>
        <p:spPr>
          <a:xfrm>
            <a:off x="5193792"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make push</a:t>
            </a:r>
            <a:endParaRPr lang="en-US" sz="1100" dirty="0"/>
          </a:p>
        </p:txBody>
      </p:sp>
      <p:sp>
        <p:nvSpPr>
          <p:cNvPr id="17" name="Text 12"/>
          <p:cNvSpPr/>
          <p:nvPr/>
        </p:nvSpPr>
        <p:spPr>
          <a:xfrm>
            <a:off x="5193792"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ECR · login via aws ecr get-login-password</a:t>
            </a:r>
            <a:endParaRPr lang="en-US" sz="850" dirty="0"/>
          </a:p>
        </p:txBody>
      </p:sp>
      <p:sp>
        <p:nvSpPr>
          <p:cNvPr id="18" name="Shape 13"/>
          <p:cNvSpPr/>
          <p:nvPr/>
        </p:nvSpPr>
        <p:spPr>
          <a:xfrm>
            <a:off x="7077456" y="2084832"/>
            <a:ext cx="384048" cy="0"/>
          </a:xfrm>
          <a:prstGeom prst="line">
            <a:avLst/>
          </a:prstGeom>
          <a:noFill/>
          <a:ln w="22225">
            <a:solidFill>
              <a:srgbClr val="63708A"/>
            </a:solidFill>
            <a:prstDash val="solid"/>
            <a:tailEnd type="triangle"/>
          </a:ln>
        </p:spPr>
      </p:sp>
      <p:sp>
        <p:nvSpPr>
          <p:cNvPr id="19" name="Shape 14"/>
          <p:cNvSpPr/>
          <p:nvPr/>
        </p:nvSpPr>
        <p:spPr>
          <a:xfrm>
            <a:off x="7461504" y="1463040"/>
            <a:ext cx="1920240" cy="1234440"/>
          </a:xfrm>
          <a:prstGeom prst="roundRect">
            <a:avLst>
              <a:gd name="adj" fmla="val 5185"/>
            </a:avLst>
          </a:prstGeom>
          <a:solidFill>
            <a:srgbClr val="FFFFFF"/>
          </a:solidFill>
          <a:ln w="9525">
            <a:solidFill>
              <a:srgbClr val="DCE4F2"/>
            </a:solidFill>
            <a:prstDash val="solid"/>
          </a:ln>
        </p:spPr>
      </p:sp>
      <p:pic>
        <p:nvPicPr>
          <p:cNvPr id="20" name="Image 3" descr="deck-assets/kubernetes.png">    </p:cNvPr>
          <p:cNvPicPr>
            <a:picLocks noChangeAspect="1"/>
          </p:cNvPicPr>
          <p:nvPr/>
        </p:nvPicPr>
        <p:blipFill>
          <a:blip r:embed="rId4"/>
          <a:stretch>
            <a:fillRect/>
          </a:stretch>
        </p:blipFill>
        <p:spPr>
          <a:xfrm>
            <a:off x="8229600" y="1572768"/>
            <a:ext cx="384048" cy="384048"/>
          </a:xfrm>
          <a:prstGeom prst="rect">
            <a:avLst/>
          </a:prstGeom>
        </p:spPr>
      </p:pic>
      <p:sp>
        <p:nvSpPr>
          <p:cNvPr id="21" name="Text 15"/>
          <p:cNvSpPr/>
          <p:nvPr/>
        </p:nvSpPr>
        <p:spPr>
          <a:xfrm>
            <a:off x="7498080"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make deploy</a:t>
            </a:r>
            <a:endParaRPr lang="en-US" sz="1100" dirty="0"/>
          </a:p>
        </p:txBody>
      </p:sp>
      <p:sp>
        <p:nvSpPr>
          <p:cNvPr id="22" name="Text 16"/>
          <p:cNvSpPr/>
          <p:nvPr/>
        </p:nvSpPr>
        <p:spPr>
          <a:xfrm>
            <a:off x="7498080"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kubectl apply · rollout status</a:t>
            </a:r>
            <a:endParaRPr lang="en-US" sz="850" dirty="0"/>
          </a:p>
        </p:txBody>
      </p:sp>
      <p:sp>
        <p:nvSpPr>
          <p:cNvPr id="23" name="Shape 17"/>
          <p:cNvSpPr/>
          <p:nvPr/>
        </p:nvSpPr>
        <p:spPr>
          <a:xfrm>
            <a:off x="9381744" y="2084832"/>
            <a:ext cx="384048" cy="0"/>
          </a:xfrm>
          <a:prstGeom prst="line">
            <a:avLst/>
          </a:prstGeom>
          <a:noFill/>
          <a:ln w="22225">
            <a:solidFill>
              <a:srgbClr val="63708A"/>
            </a:solidFill>
            <a:prstDash val="solid"/>
            <a:tailEnd type="triangle"/>
          </a:ln>
        </p:spPr>
      </p:sp>
      <p:sp>
        <p:nvSpPr>
          <p:cNvPr id="24" name="Shape 18"/>
          <p:cNvSpPr/>
          <p:nvPr/>
        </p:nvSpPr>
        <p:spPr>
          <a:xfrm>
            <a:off x="9765792" y="1463040"/>
            <a:ext cx="1920240" cy="1234440"/>
          </a:xfrm>
          <a:prstGeom prst="roundRect">
            <a:avLst>
              <a:gd name="adj" fmla="val 5185"/>
            </a:avLst>
          </a:prstGeom>
          <a:solidFill>
            <a:srgbClr val="FFFFFF"/>
          </a:solidFill>
          <a:ln w="9525">
            <a:solidFill>
              <a:srgbClr val="DCE4F2"/>
            </a:solidFill>
            <a:prstDash val="solid"/>
          </a:ln>
        </p:spPr>
      </p:sp>
      <p:pic>
        <p:nvPicPr>
          <p:cNvPr id="25" name="Image 4" descr="deck-assets/fastapi.png">    </p:cNvPr>
          <p:cNvPicPr>
            <a:picLocks noChangeAspect="1"/>
          </p:cNvPicPr>
          <p:nvPr/>
        </p:nvPicPr>
        <p:blipFill>
          <a:blip r:embed="rId5"/>
          <a:stretch>
            <a:fillRect/>
          </a:stretch>
        </p:blipFill>
        <p:spPr>
          <a:xfrm>
            <a:off x="10533888" y="1572768"/>
            <a:ext cx="384048" cy="384048"/>
          </a:xfrm>
          <a:prstGeom prst="rect">
            <a:avLst/>
          </a:prstGeom>
        </p:spPr>
      </p:pic>
      <p:sp>
        <p:nvSpPr>
          <p:cNvPr id="26" name="Text 19"/>
          <p:cNvSpPr/>
          <p:nvPr/>
        </p:nvSpPr>
        <p:spPr>
          <a:xfrm>
            <a:off x="9802368"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cv-serving pod</a:t>
            </a:r>
            <a:endParaRPr lang="en-US" sz="1100" dirty="0"/>
          </a:p>
        </p:txBody>
      </p:sp>
      <p:sp>
        <p:nvSpPr>
          <p:cNvPr id="27" name="Text 20"/>
          <p:cNvSpPr/>
          <p:nvPr/>
        </p:nvSpPr>
        <p:spPr>
          <a:xfrm>
            <a:off x="9802368"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probes green → traffic</a:t>
            </a:r>
            <a:endParaRPr lang="en-US" sz="850" dirty="0"/>
          </a:p>
        </p:txBody>
      </p:sp>
      <p:sp>
        <p:nvSpPr>
          <p:cNvPr id="28" name="Shape 21"/>
          <p:cNvSpPr/>
          <p:nvPr/>
        </p:nvSpPr>
        <p:spPr>
          <a:xfrm>
            <a:off x="548640" y="3063240"/>
            <a:ext cx="5394960" cy="3200400"/>
          </a:xfrm>
          <a:prstGeom prst="roundRect">
            <a:avLst>
              <a:gd name="adj" fmla="val 2000"/>
            </a:avLst>
          </a:prstGeom>
          <a:solidFill>
            <a:srgbClr val="F0F4FB"/>
          </a:solidFill>
          <a:ln w="9525">
            <a:solidFill>
              <a:srgbClr val="DCE4F2"/>
            </a:solidFill>
            <a:prstDash val="solid"/>
          </a:ln>
        </p:spPr>
      </p:sp>
      <p:sp>
        <p:nvSpPr>
          <p:cNvPr id="29" name="Text 22"/>
          <p:cNvSpPr/>
          <p:nvPr/>
        </p:nvSpPr>
        <p:spPr>
          <a:xfrm>
            <a:off x="777240" y="3246120"/>
            <a:ext cx="49377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What kubectl apply ships (k8s/)</a:t>
            </a:r>
            <a:endParaRPr lang="en-US" sz="1400" dirty="0"/>
          </a:p>
        </p:txBody>
      </p:sp>
      <p:sp>
        <p:nvSpPr>
          <p:cNvPr id="30" name="Text 23"/>
          <p:cNvSpPr/>
          <p:nvPr/>
        </p:nvSpPr>
        <p:spPr>
          <a:xfrm>
            <a:off x="777240" y="3657600"/>
            <a:ext cx="4983480" cy="2514600"/>
          </a:xfrm>
          <a:prstGeom prst="rect">
            <a:avLst/>
          </a:prstGeom>
          <a:noFill/>
          <a:ln/>
        </p:spPr>
        <p:txBody>
          <a:bodyPr wrap="square" lIns="0" tIns="0" rIns="0" bIns="0" rtlCol="0" anchor="t"/>
          <a:lstStyle/>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Deployment — 1 replica, liveness + readiness probes on /healthz, CPU/mem requests + limits</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Service — stable virtual IP for the pod</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ServiceMonitor — tells the Prometheus operator to scrape /metrics every 15 s</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PersistentVolumeClaim — gp3 EBS for prediction logs (the drift feed)</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CronJob — hourly Evidently drift detector</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PrometheusRule — six alert definitions (next slides)</a:t>
            </a:r>
            <a:endParaRPr lang="en-US" sz="1100" dirty="0"/>
          </a:p>
        </p:txBody>
      </p:sp>
      <p:sp>
        <p:nvSpPr>
          <p:cNvPr id="31" name="Shape 24"/>
          <p:cNvSpPr/>
          <p:nvPr/>
        </p:nvSpPr>
        <p:spPr>
          <a:xfrm>
            <a:off x="6172200" y="3063240"/>
            <a:ext cx="5532120" cy="3200400"/>
          </a:xfrm>
          <a:prstGeom prst="roundRect">
            <a:avLst>
              <a:gd name="adj" fmla="val 2000"/>
            </a:avLst>
          </a:prstGeom>
          <a:solidFill>
            <a:srgbClr val="FFFFFF"/>
          </a:solidFill>
          <a:ln w="9525">
            <a:solidFill>
              <a:srgbClr val="DCE4F2"/>
            </a:solidFill>
            <a:prstDash val="solid"/>
          </a:ln>
        </p:spPr>
      </p:sp>
      <p:sp>
        <p:nvSpPr>
          <p:cNvPr id="32" name="Text 25"/>
          <p:cNvSpPr/>
          <p:nvPr/>
        </p:nvSpPr>
        <p:spPr>
          <a:xfrm>
            <a:off x="6400800" y="3246120"/>
            <a:ext cx="50292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Decisions that made it work</a:t>
            </a:r>
            <a:endParaRPr lang="en-US" sz="1400" dirty="0"/>
          </a:p>
        </p:txBody>
      </p:sp>
      <p:sp>
        <p:nvSpPr>
          <p:cNvPr id="33" name="Text 26"/>
          <p:cNvSpPr/>
          <p:nvPr/>
        </p:nvSpPr>
        <p:spPr>
          <a:xfrm>
            <a:off x="6400800" y="3657600"/>
            <a:ext cx="5074920" cy="2514600"/>
          </a:xfrm>
          <a:prstGeom prst="rect">
            <a:avLst/>
          </a:prstGeom>
          <a:noFill/>
          <a:ln/>
        </p:spPr>
        <p:txBody>
          <a:bodyPr wrap="square" lIns="0" tIns="0" rIns="0" bIns="0" rtlCol="0" anchor="t"/>
          <a:lstStyle/>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Model baked into the image — immutable, rollback-friendly; an initContainer pulling from the registry is the scale-up path</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Deploy order matters: the monitoring stack must exist before ServiceMonitor/PrometheusRule manifests — CRDs first (we hit this)</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EKS shipped no default StorageClass — PVCs sat Pending until a gp3 (ebs.csi.aws.com) default class was created</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ONNX Runtime on CPU: 185 ms median — no GPU nodes needed for demo traffic</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STAGE 2 · SERVING INTERNALS</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~200 owned lines: FastAPI + ONNX Runtime</a:t>
            </a:r>
            <a:endParaRPr lang="en-US" sz="2700" dirty="0"/>
          </a:p>
        </p:txBody>
      </p:sp>
      <p:sp>
        <p:nvSpPr>
          <p:cNvPr id="4" name="Shape 2"/>
          <p:cNvSpPr/>
          <p:nvPr/>
        </p:nvSpPr>
        <p:spPr>
          <a:xfrm>
            <a:off x="548640" y="1371600"/>
            <a:ext cx="3749040" cy="4846320"/>
          </a:xfrm>
          <a:prstGeom prst="roundRect">
            <a:avLst>
              <a:gd name="adj" fmla="val 1707"/>
            </a:avLst>
          </a:prstGeom>
          <a:solidFill>
            <a:srgbClr val="F0F4FB"/>
          </a:solidFill>
          <a:ln w="9525">
            <a:solidFill>
              <a:srgbClr val="DCE4F2"/>
            </a:solidFill>
            <a:prstDash val="solid"/>
          </a:ln>
        </p:spPr>
      </p:sp>
      <p:sp>
        <p:nvSpPr>
          <p:cNvPr id="5" name="Text 3"/>
          <p:cNvSpPr/>
          <p:nvPr/>
        </p:nvSpPr>
        <p:spPr>
          <a:xfrm>
            <a:off x="777240" y="1536192"/>
            <a:ext cx="32918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Request path</a:t>
            </a:r>
            <a:endParaRPr lang="en-US" sz="1400" dirty="0"/>
          </a:p>
        </p:txBody>
      </p:sp>
      <p:sp>
        <p:nvSpPr>
          <p:cNvPr id="6" name="Shape 4"/>
          <p:cNvSpPr/>
          <p:nvPr/>
        </p:nvSpPr>
        <p:spPr>
          <a:xfrm>
            <a:off x="777240" y="1938528"/>
            <a:ext cx="3291840" cy="713232"/>
          </a:xfrm>
          <a:prstGeom prst="roundRect">
            <a:avLst>
              <a:gd name="adj" fmla="val 8974"/>
            </a:avLst>
          </a:prstGeom>
          <a:solidFill>
            <a:srgbClr val="FFFFFF"/>
          </a:solidFill>
          <a:ln w="9525">
            <a:solidFill>
              <a:srgbClr val="DCE4F2"/>
            </a:solidFill>
            <a:prstDash val="solid"/>
          </a:ln>
        </p:spPr>
      </p:sp>
      <p:sp>
        <p:nvSpPr>
          <p:cNvPr id="7" name="Text 5"/>
          <p:cNvSpPr/>
          <p:nvPr/>
        </p:nvSpPr>
        <p:spPr>
          <a:xfrm>
            <a:off x="914400" y="2011680"/>
            <a:ext cx="3017520" cy="274320"/>
          </a:xfrm>
          <a:prstGeom prst="rect">
            <a:avLst/>
          </a:prstGeom>
          <a:noFill/>
          <a:ln/>
        </p:spPr>
        <p:txBody>
          <a:bodyPr wrap="square" lIns="0" tIns="0" rIns="0" bIns="0" rtlCol="0" anchor="ctr"/>
          <a:lstStyle/>
          <a:p>
            <a:pPr indent="0" marL="0">
              <a:buNone/>
            </a:pPr>
            <a:r>
              <a:rPr lang="en-US" sz="1150" b="1" dirty="0">
                <a:solidFill>
                  <a:srgbClr val="273044"/>
                </a:solidFill>
                <a:latin typeface="Calibri" pitchFamily="34" charset="0"/>
                <a:ea typeface="Calibri" pitchFamily="34" charset="-122"/>
                <a:cs typeface="Calibri" pitchFamily="34" charset="-120"/>
              </a:rPr>
              <a:t>POST /predict</a:t>
            </a:r>
            <a:endParaRPr lang="en-US" sz="1150" dirty="0"/>
          </a:p>
        </p:txBody>
      </p:sp>
      <p:sp>
        <p:nvSpPr>
          <p:cNvPr id="8" name="Text 6"/>
          <p:cNvSpPr/>
          <p:nvPr/>
        </p:nvSpPr>
        <p:spPr>
          <a:xfrm>
            <a:off x="914400" y="2304288"/>
            <a:ext cx="3017520" cy="274320"/>
          </a:xfrm>
          <a:prstGeom prst="rect">
            <a:avLst/>
          </a:prstGeom>
          <a:noFill/>
          <a:ln/>
        </p:spPr>
        <p:txBody>
          <a:bodyPr wrap="square" lIns="0" tIns="0" rIns="0" bIns="0" rtlCol="0" anchor="ctr"/>
          <a:lstStyle/>
          <a:p>
            <a:pPr indent="0" marL="0">
              <a:buNone/>
            </a:pPr>
            <a:r>
              <a:rPr lang="en-US" sz="900" dirty="0">
                <a:solidFill>
                  <a:srgbClr val="63708A"/>
                </a:solidFill>
                <a:latin typeface="Calibri" pitchFamily="34" charset="0"/>
                <a:ea typeface="Calibri" pitchFamily="34" charset="-122"/>
                <a:cs typeface="Calibri" pitchFamily="34" charset="-120"/>
              </a:rPr>
              <a:t>multipart image upload</a:t>
            </a:r>
            <a:endParaRPr lang="en-US" sz="900" dirty="0"/>
          </a:p>
        </p:txBody>
      </p:sp>
      <p:sp>
        <p:nvSpPr>
          <p:cNvPr id="9" name="Shape 7"/>
          <p:cNvSpPr/>
          <p:nvPr/>
        </p:nvSpPr>
        <p:spPr>
          <a:xfrm>
            <a:off x="2423160" y="2651760"/>
            <a:ext cx="0" cy="146304"/>
          </a:xfrm>
          <a:prstGeom prst="line">
            <a:avLst/>
          </a:prstGeom>
          <a:noFill/>
          <a:ln w="22225">
            <a:solidFill>
              <a:srgbClr val="63708A"/>
            </a:solidFill>
            <a:prstDash val="solid"/>
            <a:tailEnd type="triangle"/>
          </a:ln>
        </p:spPr>
      </p:sp>
      <p:sp>
        <p:nvSpPr>
          <p:cNvPr id="10" name="Shape 8"/>
          <p:cNvSpPr/>
          <p:nvPr/>
        </p:nvSpPr>
        <p:spPr>
          <a:xfrm>
            <a:off x="777240" y="2798064"/>
            <a:ext cx="3291840" cy="713232"/>
          </a:xfrm>
          <a:prstGeom prst="roundRect">
            <a:avLst>
              <a:gd name="adj" fmla="val 8974"/>
            </a:avLst>
          </a:prstGeom>
          <a:solidFill>
            <a:srgbClr val="FFFFFF"/>
          </a:solidFill>
          <a:ln w="9525">
            <a:solidFill>
              <a:srgbClr val="DCE4F2"/>
            </a:solidFill>
            <a:prstDash val="solid"/>
          </a:ln>
        </p:spPr>
      </p:sp>
      <p:sp>
        <p:nvSpPr>
          <p:cNvPr id="11" name="Text 9"/>
          <p:cNvSpPr/>
          <p:nvPr/>
        </p:nvSpPr>
        <p:spPr>
          <a:xfrm>
            <a:off x="914400" y="2871216"/>
            <a:ext cx="3017520" cy="274320"/>
          </a:xfrm>
          <a:prstGeom prst="rect">
            <a:avLst/>
          </a:prstGeom>
          <a:noFill/>
          <a:ln/>
        </p:spPr>
        <p:txBody>
          <a:bodyPr wrap="square" lIns="0" tIns="0" rIns="0" bIns="0" rtlCol="0" anchor="ctr"/>
          <a:lstStyle/>
          <a:p>
            <a:pPr indent="0" marL="0">
              <a:buNone/>
            </a:pPr>
            <a:r>
              <a:rPr lang="en-US" sz="1150" b="1" dirty="0">
                <a:solidFill>
                  <a:srgbClr val="273044"/>
                </a:solidFill>
                <a:latin typeface="Calibri" pitchFamily="34" charset="0"/>
                <a:ea typeface="Calibri" pitchFamily="34" charset="-122"/>
                <a:cs typeface="Calibri" pitchFamily="34" charset="-120"/>
              </a:rPr>
              <a:t>Preprocess</a:t>
            </a:r>
            <a:endParaRPr lang="en-US" sz="1150" dirty="0"/>
          </a:p>
        </p:txBody>
      </p:sp>
      <p:sp>
        <p:nvSpPr>
          <p:cNvPr id="12" name="Text 10"/>
          <p:cNvSpPr/>
          <p:nvPr/>
        </p:nvSpPr>
        <p:spPr>
          <a:xfrm>
            <a:off x="914400" y="3163824"/>
            <a:ext cx="3017520" cy="274320"/>
          </a:xfrm>
          <a:prstGeom prst="rect">
            <a:avLst/>
          </a:prstGeom>
          <a:noFill/>
          <a:ln/>
        </p:spPr>
        <p:txBody>
          <a:bodyPr wrap="square" lIns="0" tIns="0" rIns="0" bIns="0" rtlCol="0" anchor="ctr"/>
          <a:lstStyle/>
          <a:p>
            <a:pPr indent="0" marL="0">
              <a:buNone/>
            </a:pPr>
            <a:r>
              <a:rPr lang="en-US" sz="900" dirty="0">
                <a:solidFill>
                  <a:srgbClr val="63708A"/>
                </a:solidFill>
                <a:latin typeface="Calibri" pitchFamily="34" charset="0"/>
                <a:ea typeface="Calibri" pitchFamily="34" charset="-122"/>
                <a:cs typeface="Calibri" pitchFamily="34" charset="-120"/>
              </a:rPr>
              <a:t>resize 640² · normalize · CHW</a:t>
            </a:r>
            <a:endParaRPr lang="en-US" sz="900" dirty="0"/>
          </a:p>
        </p:txBody>
      </p:sp>
      <p:sp>
        <p:nvSpPr>
          <p:cNvPr id="13" name="Shape 11"/>
          <p:cNvSpPr/>
          <p:nvPr/>
        </p:nvSpPr>
        <p:spPr>
          <a:xfrm>
            <a:off x="2423160" y="3511296"/>
            <a:ext cx="0" cy="146304"/>
          </a:xfrm>
          <a:prstGeom prst="line">
            <a:avLst/>
          </a:prstGeom>
          <a:noFill/>
          <a:ln w="22225">
            <a:solidFill>
              <a:srgbClr val="63708A"/>
            </a:solidFill>
            <a:prstDash val="solid"/>
            <a:tailEnd type="triangle"/>
          </a:ln>
        </p:spPr>
      </p:sp>
      <p:sp>
        <p:nvSpPr>
          <p:cNvPr id="14" name="Shape 12"/>
          <p:cNvSpPr/>
          <p:nvPr/>
        </p:nvSpPr>
        <p:spPr>
          <a:xfrm>
            <a:off x="777240" y="3657600"/>
            <a:ext cx="3291840" cy="713232"/>
          </a:xfrm>
          <a:prstGeom prst="roundRect">
            <a:avLst>
              <a:gd name="adj" fmla="val 8974"/>
            </a:avLst>
          </a:prstGeom>
          <a:solidFill>
            <a:srgbClr val="FFFFFF"/>
          </a:solidFill>
          <a:ln w="9525">
            <a:solidFill>
              <a:srgbClr val="DCE4F2"/>
            </a:solidFill>
            <a:prstDash val="solid"/>
          </a:ln>
        </p:spPr>
      </p:sp>
      <p:sp>
        <p:nvSpPr>
          <p:cNvPr id="15" name="Text 13"/>
          <p:cNvSpPr/>
          <p:nvPr/>
        </p:nvSpPr>
        <p:spPr>
          <a:xfrm>
            <a:off x="914400" y="3730752"/>
            <a:ext cx="3017520" cy="274320"/>
          </a:xfrm>
          <a:prstGeom prst="rect">
            <a:avLst/>
          </a:prstGeom>
          <a:noFill/>
          <a:ln/>
        </p:spPr>
        <p:txBody>
          <a:bodyPr wrap="square" lIns="0" tIns="0" rIns="0" bIns="0" rtlCol="0" anchor="ctr"/>
          <a:lstStyle/>
          <a:p>
            <a:pPr indent="0" marL="0">
              <a:buNone/>
            </a:pPr>
            <a:r>
              <a:rPr lang="en-US" sz="1150" b="1" dirty="0">
                <a:solidFill>
                  <a:srgbClr val="273044"/>
                </a:solidFill>
                <a:latin typeface="Calibri" pitchFamily="34" charset="0"/>
                <a:ea typeface="Calibri" pitchFamily="34" charset="-122"/>
                <a:cs typeface="Calibri" pitchFamily="34" charset="-120"/>
              </a:rPr>
              <a:t>ONNX Runtime</a:t>
            </a:r>
            <a:endParaRPr lang="en-US" sz="1150" dirty="0"/>
          </a:p>
        </p:txBody>
      </p:sp>
      <p:sp>
        <p:nvSpPr>
          <p:cNvPr id="16" name="Text 14"/>
          <p:cNvSpPr/>
          <p:nvPr/>
        </p:nvSpPr>
        <p:spPr>
          <a:xfrm>
            <a:off x="914400" y="4023360"/>
            <a:ext cx="3017520" cy="274320"/>
          </a:xfrm>
          <a:prstGeom prst="rect">
            <a:avLst/>
          </a:prstGeom>
          <a:noFill/>
          <a:ln/>
        </p:spPr>
        <p:txBody>
          <a:bodyPr wrap="square" lIns="0" tIns="0" rIns="0" bIns="0" rtlCol="0" anchor="ctr"/>
          <a:lstStyle/>
          <a:p>
            <a:pPr indent="0" marL="0">
              <a:buNone/>
            </a:pPr>
            <a:r>
              <a:rPr lang="en-US" sz="900" dirty="0">
                <a:solidFill>
                  <a:srgbClr val="63708A"/>
                </a:solidFill>
                <a:latin typeface="Calibri" pitchFamily="34" charset="0"/>
                <a:ea typeface="Calibri" pitchFamily="34" charset="-122"/>
                <a:cs typeface="Calibri" pitchFamily="34" charset="-120"/>
              </a:rPr>
              <a:t>(1, 84, 8400) raw head</a:t>
            </a:r>
            <a:endParaRPr lang="en-US" sz="900" dirty="0"/>
          </a:p>
        </p:txBody>
      </p:sp>
      <p:sp>
        <p:nvSpPr>
          <p:cNvPr id="17" name="Shape 15"/>
          <p:cNvSpPr/>
          <p:nvPr/>
        </p:nvSpPr>
        <p:spPr>
          <a:xfrm>
            <a:off x="2423160" y="4370832"/>
            <a:ext cx="0" cy="146304"/>
          </a:xfrm>
          <a:prstGeom prst="line">
            <a:avLst/>
          </a:prstGeom>
          <a:noFill/>
          <a:ln w="22225">
            <a:solidFill>
              <a:srgbClr val="63708A"/>
            </a:solidFill>
            <a:prstDash val="solid"/>
            <a:tailEnd type="triangle"/>
          </a:ln>
        </p:spPr>
      </p:sp>
      <p:sp>
        <p:nvSpPr>
          <p:cNvPr id="18" name="Shape 16"/>
          <p:cNvSpPr/>
          <p:nvPr/>
        </p:nvSpPr>
        <p:spPr>
          <a:xfrm>
            <a:off x="777240" y="4517136"/>
            <a:ext cx="3291840" cy="713232"/>
          </a:xfrm>
          <a:prstGeom prst="roundRect">
            <a:avLst>
              <a:gd name="adj" fmla="val 8974"/>
            </a:avLst>
          </a:prstGeom>
          <a:solidFill>
            <a:srgbClr val="FFFFFF"/>
          </a:solidFill>
          <a:ln w="9525">
            <a:solidFill>
              <a:srgbClr val="DCE4F2"/>
            </a:solidFill>
            <a:prstDash val="solid"/>
          </a:ln>
        </p:spPr>
      </p:sp>
      <p:sp>
        <p:nvSpPr>
          <p:cNvPr id="19" name="Text 17"/>
          <p:cNvSpPr/>
          <p:nvPr/>
        </p:nvSpPr>
        <p:spPr>
          <a:xfrm>
            <a:off x="914400" y="4590288"/>
            <a:ext cx="3017520" cy="274320"/>
          </a:xfrm>
          <a:prstGeom prst="rect">
            <a:avLst/>
          </a:prstGeom>
          <a:noFill/>
          <a:ln/>
        </p:spPr>
        <p:txBody>
          <a:bodyPr wrap="square" lIns="0" tIns="0" rIns="0" bIns="0" rtlCol="0" anchor="ctr"/>
          <a:lstStyle/>
          <a:p>
            <a:pPr indent="0" marL="0">
              <a:buNone/>
            </a:pPr>
            <a:r>
              <a:rPr lang="en-US" sz="1150" b="1" dirty="0">
                <a:solidFill>
                  <a:srgbClr val="273044"/>
                </a:solidFill>
                <a:latin typeface="Calibri" pitchFamily="34" charset="0"/>
                <a:ea typeface="Calibri" pitchFamily="34" charset="-122"/>
                <a:cs typeface="Calibri" pitchFamily="34" charset="-120"/>
              </a:rPr>
              <a:t>Decode + NMS</a:t>
            </a:r>
            <a:endParaRPr lang="en-US" sz="1150" dirty="0"/>
          </a:p>
        </p:txBody>
      </p:sp>
      <p:sp>
        <p:nvSpPr>
          <p:cNvPr id="20" name="Text 18"/>
          <p:cNvSpPr/>
          <p:nvPr/>
        </p:nvSpPr>
        <p:spPr>
          <a:xfrm>
            <a:off x="914400" y="4882896"/>
            <a:ext cx="3017520" cy="274320"/>
          </a:xfrm>
          <a:prstGeom prst="rect">
            <a:avLst/>
          </a:prstGeom>
          <a:noFill/>
          <a:ln/>
        </p:spPr>
        <p:txBody>
          <a:bodyPr wrap="square" lIns="0" tIns="0" rIns="0" bIns="0" rtlCol="0" anchor="ctr"/>
          <a:lstStyle/>
          <a:p>
            <a:pPr indent="0" marL="0">
              <a:buNone/>
            </a:pPr>
            <a:r>
              <a:rPr lang="en-US" sz="900" dirty="0">
                <a:solidFill>
                  <a:srgbClr val="63708A"/>
                </a:solidFill>
                <a:latin typeface="Calibri" pitchFamily="34" charset="0"/>
                <a:ea typeface="Calibri" pitchFamily="34" charset="-122"/>
                <a:cs typeface="Calibri" pitchFamily="34" charset="-120"/>
              </a:rPr>
              <a:t>confidence ≥ 0.35 · IoU 0.45 (numpy)</a:t>
            </a:r>
            <a:endParaRPr lang="en-US" sz="900" dirty="0"/>
          </a:p>
        </p:txBody>
      </p:sp>
      <p:sp>
        <p:nvSpPr>
          <p:cNvPr id="21" name="Shape 19"/>
          <p:cNvSpPr/>
          <p:nvPr/>
        </p:nvSpPr>
        <p:spPr>
          <a:xfrm>
            <a:off x="2423160" y="5230368"/>
            <a:ext cx="0" cy="146304"/>
          </a:xfrm>
          <a:prstGeom prst="line">
            <a:avLst/>
          </a:prstGeom>
          <a:noFill/>
          <a:ln w="22225">
            <a:solidFill>
              <a:srgbClr val="63708A"/>
            </a:solidFill>
            <a:prstDash val="solid"/>
            <a:tailEnd type="triangle"/>
          </a:ln>
        </p:spPr>
      </p:sp>
      <p:sp>
        <p:nvSpPr>
          <p:cNvPr id="22" name="Shape 20"/>
          <p:cNvSpPr/>
          <p:nvPr/>
        </p:nvSpPr>
        <p:spPr>
          <a:xfrm>
            <a:off x="777240" y="5376672"/>
            <a:ext cx="3291840" cy="713232"/>
          </a:xfrm>
          <a:prstGeom prst="roundRect">
            <a:avLst>
              <a:gd name="adj" fmla="val 8974"/>
            </a:avLst>
          </a:prstGeom>
          <a:solidFill>
            <a:srgbClr val="FFFFFF"/>
          </a:solidFill>
          <a:ln w="9525">
            <a:solidFill>
              <a:srgbClr val="DCE4F2"/>
            </a:solidFill>
            <a:prstDash val="solid"/>
          </a:ln>
        </p:spPr>
      </p:sp>
      <p:sp>
        <p:nvSpPr>
          <p:cNvPr id="23" name="Text 21"/>
          <p:cNvSpPr/>
          <p:nvPr/>
        </p:nvSpPr>
        <p:spPr>
          <a:xfrm>
            <a:off x="914400" y="5449824"/>
            <a:ext cx="3017520" cy="274320"/>
          </a:xfrm>
          <a:prstGeom prst="rect">
            <a:avLst/>
          </a:prstGeom>
          <a:noFill/>
          <a:ln/>
        </p:spPr>
        <p:txBody>
          <a:bodyPr wrap="square" lIns="0" tIns="0" rIns="0" bIns="0" rtlCol="0" anchor="ctr"/>
          <a:lstStyle/>
          <a:p>
            <a:pPr indent="0" marL="0">
              <a:buNone/>
            </a:pPr>
            <a:r>
              <a:rPr lang="en-US" sz="1150" b="1" dirty="0">
                <a:solidFill>
                  <a:srgbClr val="273044"/>
                </a:solidFill>
                <a:latin typeface="Calibri" pitchFamily="34" charset="0"/>
                <a:ea typeface="Calibri" pitchFamily="34" charset="-122"/>
                <a:cs typeface="Calibri" pitchFamily="34" charset="-120"/>
              </a:rPr>
              <a:t>JSON out</a:t>
            </a:r>
            <a:endParaRPr lang="en-US" sz="1150" dirty="0"/>
          </a:p>
        </p:txBody>
      </p:sp>
      <p:sp>
        <p:nvSpPr>
          <p:cNvPr id="24" name="Text 22"/>
          <p:cNvSpPr/>
          <p:nvPr/>
        </p:nvSpPr>
        <p:spPr>
          <a:xfrm>
            <a:off x="914400" y="5742432"/>
            <a:ext cx="3017520" cy="274320"/>
          </a:xfrm>
          <a:prstGeom prst="rect">
            <a:avLst/>
          </a:prstGeom>
          <a:noFill/>
          <a:ln/>
        </p:spPr>
        <p:txBody>
          <a:bodyPr wrap="square" lIns="0" tIns="0" rIns="0" bIns="0" rtlCol="0" anchor="ctr"/>
          <a:lstStyle/>
          <a:p>
            <a:pPr indent="0" marL="0">
              <a:buNone/>
            </a:pPr>
            <a:r>
              <a:rPr lang="en-US" sz="900" dirty="0">
                <a:solidFill>
                  <a:srgbClr val="63708A"/>
                </a:solidFill>
                <a:latin typeface="Calibri" pitchFamily="34" charset="0"/>
                <a:ea typeface="Calibri" pitchFamily="34" charset="-122"/>
                <a:cs typeface="Calibri" pitchFamily="34" charset="-120"/>
              </a:rPr>
              <a:t>class · confidence · box · latency · model_version</a:t>
            </a:r>
            <a:endParaRPr lang="en-US" sz="900" dirty="0"/>
          </a:p>
        </p:txBody>
      </p:sp>
      <p:sp>
        <p:nvSpPr>
          <p:cNvPr id="25" name="Shape 23"/>
          <p:cNvSpPr/>
          <p:nvPr/>
        </p:nvSpPr>
        <p:spPr>
          <a:xfrm>
            <a:off x="4480560" y="1371600"/>
            <a:ext cx="3657600" cy="4846320"/>
          </a:xfrm>
          <a:prstGeom prst="roundRect">
            <a:avLst>
              <a:gd name="adj" fmla="val 1750"/>
            </a:avLst>
          </a:prstGeom>
          <a:solidFill>
            <a:srgbClr val="FFFFFF"/>
          </a:solidFill>
          <a:ln w="9525">
            <a:solidFill>
              <a:srgbClr val="DCE4F2"/>
            </a:solidFill>
            <a:prstDash val="solid"/>
          </a:ln>
        </p:spPr>
      </p:sp>
      <p:pic>
        <p:nvPicPr>
          <p:cNvPr id="26" name="Image 0" descr="deck-assets/prometheus.png">    </p:cNvPr>
          <p:cNvPicPr>
            <a:picLocks noChangeAspect="1"/>
          </p:cNvPicPr>
          <p:nvPr/>
        </p:nvPicPr>
        <p:blipFill>
          <a:blip r:embed="rId1"/>
          <a:stretch>
            <a:fillRect/>
          </a:stretch>
        </p:blipFill>
        <p:spPr>
          <a:xfrm>
            <a:off x="4709160" y="1517904"/>
            <a:ext cx="365760" cy="365760"/>
          </a:xfrm>
          <a:prstGeom prst="rect">
            <a:avLst/>
          </a:prstGeom>
        </p:spPr>
      </p:pic>
      <p:sp>
        <p:nvSpPr>
          <p:cNvPr id="27" name="Text 24"/>
          <p:cNvSpPr/>
          <p:nvPr/>
        </p:nvSpPr>
        <p:spPr>
          <a:xfrm>
            <a:off x="5212080" y="1554480"/>
            <a:ext cx="2834640" cy="45720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Instrumentation (every request)</a:t>
            </a:r>
            <a:endParaRPr lang="en-US" sz="1350" dirty="0"/>
          </a:p>
        </p:txBody>
      </p:sp>
      <p:sp>
        <p:nvSpPr>
          <p:cNvPr id="28" name="Text 25"/>
          <p:cNvSpPr/>
          <p:nvPr/>
        </p:nvSpPr>
        <p:spPr>
          <a:xfrm>
            <a:off x="4709160" y="2148840"/>
            <a:ext cx="3246120" cy="3840480"/>
          </a:xfrm>
          <a:prstGeom prst="rect">
            <a:avLst/>
          </a:prstGeom>
          <a:noFill/>
          <a:ln/>
        </p:spPr>
        <p:txBody>
          <a:bodyPr wrap="square" lIns="0" tIns="0" rIns="0" bIns="0" rtlCol="0" anchor="t"/>
          <a:lstStyle/>
          <a:p>
            <a:pPr marL="127000" indent="-127000">
              <a:spcAft>
                <a:spcPts val="700"/>
              </a:spcAft>
              <a:buSzPct val="100000"/>
              <a:buChar char="•"/>
            </a:pPr>
            <a:r>
              <a:rPr lang="en-US" sz="1050" dirty="0">
                <a:solidFill>
                  <a:srgbClr val="273044"/>
                </a:solidFill>
                <a:latin typeface="Calibri" pitchFamily="34" charset="0"/>
                <a:ea typeface="Calibri" pitchFamily="34" charset="-122"/>
                <a:cs typeface="Calibri" pitchFamily="34" charset="-120"/>
              </a:rPr>
              <a:t>inference_requests_total{status} — traffic + error rate</a:t>
            </a:r>
            <a:endParaRPr lang="en-US" sz="1050" dirty="0"/>
          </a:p>
          <a:p>
            <a:pPr marL="127000" indent="-127000">
              <a:spcAft>
                <a:spcPts val="700"/>
              </a:spcAft>
              <a:buSzPct val="100000"/>
              <a:buChar char="•"/>
            </a:pPr>
            <a:r>
              <a:rPr lang="en-US" sz="1050" dirty="0">
                <a:solidFill>
                  <a:srgbClr val="273044"/>
                </a:solidFill>
                <a:latin typeface="Calibri" pitchFamily="34" charset="0"/>
                <a:ea typeface="Calibri" pitchFamily="34" charset="-122"/>
                <a:cs typeface="Calibri" pitchFamily="34" charset="-120"/>
              </a:rPr>
              <a:t>inference_latency_seconds histogram — p50/p95 SLOs</a:t>
            </a:r>
            <a:endParaRPr lang="en-US" sz="1050" dirty="0"/>
          </a:p>
          <a:p>
            <a:pPr marL="127000" indent="-127000">
              <a:spcAft>
                <a:spcPts val="700"/>
              </a:spcAft>
              <a:buSzPct val="100000"/>
              <a:buChar char="•"/>
            </a:pPr>
            <a:r>
              <a:rPr lang="en-US" sz="1050" dirty="0">
                <a:solidFill>
                  <a:srgbClr val="273044"/>
                </a:solidFill>
                <a:latin typeface="Calibri" pitchFamily="34" charset="0"/>
                <a:ea typeface="Calibri" pitchFamily="34" charset="-122"/>
                <a:cs typeface="Calibri" pitchFamily="34" charset="-120"/>
              </a:rPr>
              <a:t>detections_total{class_name} — what the model sees</a:t>
            </a:r>
            <a:endParaRPr lang="en-US" sz="1050" dirty="0"/>
          </a:p>
          <a:p>
            <a:pPr marL="127000" indent="-127000">
              <a:spcAft>
                <a:spcPts val="700"/>
              </a:spcAft>
              <a:buSzPct val="100000"/>
              <a:buChar char="•"/>
            </a:pPr>
            <a:r>
              <a:rPr lang="en-US" sz="1050" dirty="0">
                <a:solidFill>
                  <a:srgbClr val="273044"/>
                </a:solidFill>
                <a:latin typeface="Calibri" pitchFamily="34" charset="0"/>
                <a:ea typeface="Calibri" pitchFamily="34" charset="-122"/>
                <a:cs typeface="Calibri" pitchFamily="34" charset="-120"/>
              </a:rPr>
              <a:t>detection_confidence histogram — decay early-warning</a:t>
            </a:r>
            <a:endParaRPr lang="en-US" sz="1050" dirty="0"/>
          </a:p>
          <a:p>
            <a:pPr marL="127000" indent="-127000">
              <a:spcAft>
                <a:spcPts val="700"/>
              </a:spcAft>
              <a:buSzPct val="100000"/>
              <a:buChar char="•"/>
            </a:pPr>
            <a:r>
              <a:rPr lang="en-US" sz="1050" dirty="0">
                <a:solidFill>
                  <a:srgbClr val="273044"/>
                </a:solidFill>
                <a:latin typeface="Calibri" pitchFamily="34" charset="0"/>
                <a:ea typeface="Calibri" pitchFamily="34" charset="-122"/>
                <a:cs typeface="Calibri" pitchFamily="34" charset="-120"/>
              </a:rPr>
              <a:t>model_version_info gauge — which version answered</a:t>
            </a:r>
            <a:endParaRPr lang="en-US" sz="1050" dirty="0"/>
          </a:p>
          <a:p>
            <a:pPr marL="127000" indent="-127000">
              <a:spcAft>
                <a:spcPts val="700"/>
              </a:spcAft>
              <a:buSzPct val="100000"/>
              <a:buChar char="•"/>
            </a:pPr>
            <a:r>
              <a:rPr lang="en-US" sz="1050" b="1" dirty="0">
                <a:solidFill>
                  <a:srgbClr val="273044"/>
                </a:solidFill>
                <a:latin typeface="Calibri" pitchFamily="34" charset="0"/>
                <a:ea typeface="Calibri" pitchFamily="34" charset="-122"/>
                <a:cs typeface="Calibri" pitchFamily="34" charset="-120"/>
              </a:rPr>
              <a:t>+ JSONL feature log per request: brightness, contrast, resolution, detection count, mean confidence, top class — the drift detector’s input</a:t>
            </a:r>
            <a:endParaRPr lang="en-US" sz="1050" dirty="0"/>
          </a:p>
        </p:txBody>
      </p:sp>
      <p:sp>
        <p:nvSpPr>
          <p:cNvPr id="29" name="Shape 26"/>
          <p:cNvSpPr/>
          <p:nvPr/>
        </p:nvSpPr>
        <p:spPr>
          <a:xfrm>
            <a:off x="8321040" y="1371600"/>
            <a:ext cx="3383280" cy="4846320"/>
          </a:xfrm>
          <a:prstGeom prst="roundRect">
            <a:avLst>
              <a:gd name="adj" fmla="val 1892"/>
            </a:avLst>
          </a:prstGeom>
          <a:solidFill>
            <a:srgbClr val="1B2340"/>
          </a:solidFill>
          <a:ln w="9525">
            <a:solidFill>
              <a:srgbClr val="DCE4F2"/>
            </a:solidFill>
            <a:prstDash val="solid"/>
          </a:ln>
        </p:spPr>
      </p:sp>
      <p:sp>
        <p:nvSpPr>
          <p:cNvPr id="30" name="Text 27"/>
          <p:cNvSpPr/>
          <p:nvPr/>
        </p:nvSpPr>
        <p:spPr>
          <a:xfrm>
            <a:off x="8549640" y="1517904"/>
            <a:ext cx="2926080" cy="320040"/>
          </a:xfrm>
          <a:prstGeom prst="rect">
            <a:avLst/>
          </a:prstGeom>
          <a:noFill/>
          <a:ln/>
        </p:spPr>
        <p:txBody>
          <a:bodyPr wrap="square" lIns="0" tIns="0" rIns="0" bIns="0" rtlCol="0" anchor="ctr"/>
          <a:lstStyle/>
          <a:p>
            <a:pPr indent="0" marL="0">
              <a:buNone/>
            </a:pPr>
            <a:r>
              <a:rPr lang="en-US" sz="1250" b="1" dirty="0">
                <a:solidFill>
                  <a:srgbClr val="CADCFC"/>
                </a:solidFill>
                <a:latin typeface="Calibri" pitchFamily="34" charset="0"/>
                <a:ea typeface="Calibri" pitchFamily="34" charset="-122"/>
                <a:cs typeface="Calibri" pitchFamily="34" charset="-120"/>
              </a:rPr>
              <a:t>First live response (bus photo)</a:t>
            </a:r>
            <a:endParaRPr lang="en-US" sz="1250" dirty="0"/>
          </a:p>
        </p:txBody>
      </p:sp>
      <p:sp>
        <p:nvSpPr>
          <p:cNvPr id="31" name="Text 28"/>
          <p:cNvSpPr/>
          <p:nvPr/>
        </p:nvSpPr>
        <p:spPr>
          <a:xfrm>
            <a:off x="8549640" y="1920240"/>
            <a:ext cx="2971800" cy="3291840"/>
          </a:xfrm>
          <a:prstGeom prst="rect">
            <a:avLst/>
          </a:prstGeom>
          <a:noFill/>
          <a:ln/>
        </p:spPr>
        <p:txBody>
          <a:bodyPr wrap="square" lIns="0" tIns="0" rIns="0" bIns="0" rtlCol="0" anchor="t"/>
          <a:lstStyle/>
          <a:p>
            <a:pPr indent="0" marL="0">
              <a:buNone/>
            </a:pPr>
            <a:r>
              <a:rPr lang="en-US" sz="950" dirty="0">
                <a:solidFill>
                  <a:srgbClr val="D8E2F8"/>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 "detections": [</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  {"class_name": "person",</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   "confidence": 0.9152, ...},</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  {"class_name": "person",</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   "confidence": 0.9070, ...},</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  {"class_name": "person",</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   "confidence": 0.8719, ...},</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  {"class_name": "airplane",</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   "confidence": 0.6775, ...},</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 ],</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 "latency_ms": 184.6,</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 "model_version": "1"</a:t>
            </a:r>
            <a:endParaRPr lang="en-US" sz="950" dirty="0"/>
          </a:p>
          <a:p>
            <a:pPr indent="0" marL="0">
              <a:buNone/>
            </a:pPr>
            <a:r>
              <a:rPr lang="en-US" sz="950" dirty="0">
                <a:solidFill>
                  <a:srgbClr val="D8E2F8"/>
                </a:solidFill>
                <a:latin typeface="Courier New" pitchFamily="34" charset="0"/>
                <a:ea typeface="Courier New" pitchFamily="34" charset="-122"/>
                <a:cs typeface="Courier New" pitchFamily="34" charset="-120"/>
              </a:rPr>
              <a:t>}</a:t>
            </a:r>
            <a:endParaRPr lang="en-US" sz="950" dirty="0"/>
          </a:p>
        </p:txBody>
      </p:sp>
      <p:sp>
        <p:nvSpPr>
          <p:cNvPr id="32" name="Text 29"/>
          <p:cNvSpPr/>
          <p:nvPr/>
        </p:nvSpPr>
        <p:spPr>
          <a:xfrm>
            <a:off x="8549640" y="5394960"/>
            <a:ext cx="2971800" cy="685800"/>
          </a:xfrm>
          <a:prstGeom prst="rect">
            <a:avLst/>
          </a:prstGeom>
          <a:noFill/>
          <a:ln/>
        </p:spPr>
        <p:txBody>
          <a:bodyPr wrap="square" lIns="0" tIns="0" rIns="0" bIns="0" rtlCol="0" anchor="t"/>
          <a:lstStyle/>
          <a:p>
            <a:pPr indent="0" marL="0">
              <a:buNone/>
            </a:pPr>
            <a:r>
              <a:rPr lang="en-US" sz="1000" i="1" dirty="0">
                <a:solidFill>
                  <a:srgbClr val="F3B27A"/>
                </a:solidFill>
                <a:latin typeface="Calibri" pitchFamily="34" charset="0"/>
                <a:ea typeface="Calibri" pitchFamily="34" charset="-122"/>
                <a:cs typeface="Calibri" pitchFamily="34" charset="-120"/>
              </a:rPr>
              <a:t>⚠ the “airplane” is the bus — see Verify slide: gates ≠ ground truth.</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STAGE 2 · CI/CD</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GitHub Actions: keyless, gated, reproducible</a:t>
            </a:r>
            <a:endParaRPr lang="en-US" sz="2700" dirty="0"/>
          </a:p>
        </p:txBody>
      </p:sp>
      <p:sp>
        <p:nvSpPr>
          <p:cNvPr id="4" name="Shape 2"/>
          <p:cNvSpPr/>
          <p:nvPr/>
        </p:nvSpPr>
        <p:spPr>
          <a:xfrm>
            <a:off x="548640" y="1463040"/>
            <a:ext cx="1920240" cy="1280160"/>
          </a:xfrm>
          <a:prstGeom prst="roundRect">
            <a:avLst>
              <a:gd name="adj" fmla="val 5000"/>
            </a:avLst>
          </a:prstGeom>
          <a:solidFill>
            <a:srgbClr val="FFFFFF"/>
          </a:solidFill>
          <a:ln w="9525">
            <a:solidFill>
              <a:srgbClr val="DCE4F2"/>
            </a:solidFill>
            <a:prstDash val="solid"/>
          </a:ln>
        </p:spPr>
      </p:sp>
      <p:pic>
        <p:nvPicPr>
          <p:cNvPr id="5" name="Image 0" descr="deck-assets/github.png">    </p:cNvPr>
          <p:cNvPicPr>
            <a:picLocks noChangeAspect="1"/>
          </p:cNvPicPr>
          <p:nvPr/>
        </p:nvPicPr>
        <p:blipFill>
          <a:blip r:embed="rId1"/>
          <a:stretch>
            <a:fillRect/>
          </a:stretch>
        </p:blipFill>
        <p:spPr>
          <a:xfrm>
            <a:off x="1316736" y="1572768"/>
            <a:ext cx="384048" cy="384048"/>
          </a:xfrm>
          <a:prstGeom prst="rect">
            <a:avLst/>
          </a:prstGeom>
        </p:spPr>
      </p:pic>
      <p:sp>
        <p:nvSpPr>
          <p:cNvPr id="6" name="Text 3"/>
          <p:cNvSpPr/>
          <p:nvPr/>
        </p:nvSpPr>
        <p:spPr>
          <a:xfrm>
            <a:off x="585216"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push / PR</a:t>
            </a:r>
            <a:endParaRPr lang="en-US" sz="1100" dirty="0"/>
          </a:p>
        </p:txBody>
      </p:sp>
      <p:sp>
        <p:nvSpPr>
          <p:cNvPr id="7" name="Text 4"/>
          <p:cNvSpPr/>
          <p:nvPr/>
        </p:nvSpPr>
        <p:spPr>
          <a:xfrm>
            <a:off x="585216"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trigger</a:t>
            </a:r>
            <a:endParaRPr lang="en-US" sz="850" dirty="0"/>
          </a:p>
        </p:txBody>
      </p:sp>
      <p:sp>
        <p:nvSpPr>
          <p:cNvPr id="8" name="Shape 5"/>
          <p:cNvSpPr/>
          <p:nvPr/>
        </p:nvSpPr>
        <p:spPr>
          <a:xfrm>
            <a:off x="2468880" y="2103120"/>
            <a:ext cx="384048" cy="0"/>
          </a:xfrm>
          <a:prstGeom prst="line">
            <a:avLst/>
          </a:prstGeom>
          <a:noFill/>
          <a:ln w="22225">
            <a:solidFill>
              <a:srgbClr val="63708A"/>
            </a:solidFill>
            <a:prstDash val="solid"/>
            <a:tailEnd type="triangle"/>
          </a:ln>
        </p:spPr>
      </p:sp>
      <p:sp>
        <p:nvSpPr>
          <p:cNvPr id="9" name="Shape 6"/>
          <p:cNvSpPr/>
          <p:nvPr/>
        </p:nvSpPr>
        <p:spPr>
          <a:xfrm>
            <a:off x="2852928" y="1463040"/>
            <a:ext cx="1920240" cy="1280160"/>
          </a:xfrm>
          <a:prstGeom prst="roundRect">
            <a:avLst>
              <a:gd name="adj" fmla="val 5000"/>
            </a:avLst>
          </a:prstGeom>
          <a:solidFill>
            <a:srgbClr val="FFFFFF"/>
          </a:solidFill>
          <a:ln w="9525">
            <a:solidFill>
              <a:srgbClr val="DCE4F2"/>
            </a:solidFill>
            <a:prstDash val="solid"/>
          </a:ln>
        </p:spPr>
      </p:sp>
      <p:pic>
        <p:nvPicPr>
          <p:cNvPr id="10" name="Image 1" descr="deck-assets/python.png">    </p:cNvPr>
          <p:cNvPicPr>
            <a:picLocks noChangeAspect="1"/>
          </p:cNvPicPr>
          <p:nvPr/>
        </p:nvPicPr>
        <p:blipFill>
          <a:blip r:embed="rId2"/>
          <a:stretch>
            <a:fillRect/>
          </a:stretch>
        </p:blipFill>
        <p:spPr>
          <a:xfrm>
            <a:off x="3621024" y="1572768"/>
            <a:ext cx="384048" cy="384048"/>
          </a:xfrm>
          <a:prstGeom prst="rect">
            <a:avLst/>
          </a:prstGeom>
        </p:spPr>
      </p:pic>
      <p:sp>
        <p:nvSpPr>
          <p:cNvPr id="11" name="Text 7"/>
          <p:cNvSpPr/>
          <p:nvPr/>
        </p:nvSpPr>
        <p:spPr>
          <a:xfrm>
            <a:off x="2889504"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lint + syntax + manifest validation</a:t>
            </a:r>
            <a:endParaRPr lang="en-US" sz="1100" dirty="0"/>
          </a:p>
        </p:txBody>
      </p:sp>
      <p:sp>
        <p:nvSpPr>
          <p:cNvPr id="12" name="Text 8"/>
          <p:cNvSpPr/>
          <p:nvPr/>
        </p:nvSpPr>
        <p:spPr>
          <a:xfrm>
            <a:off x="2889504"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ruff · py_compile · yaml</a:t>
            </a:r>
            <a:endParaRPr lang="en-US" sz="850" dirty="0"/>
          </a:p>
        </p:txBody>
      </p:sp>
      <p:sp>
        <p:nvSpPr>
          <p:cNvPr id="13" name="Shape 9"/>
          <p:cNvSpPr/>
          <p:nvPr/>
        </p:nvSpPr>
        <p:spPr>
          <a:xfrm>
            <a:off x="4773168" y="2103120"/>
            <a:ext cx="384048" cy="0"/>
          </a:xfrm>
          <a:prstGeom prst="line">
            <a:avLst/>
          </a:prstGeom>
          <a:noFill/>
          <a:ln w="22225">
            <a:solidFill>
              <a:srgbClr val="63708A"/>
            </a:solidFill>
            <a:prstDash val="solid"/>
            <a:tailEnd type="triangle"/>
          </a:ln>
        </p:spPr>
      </p:sp>
      <p:sp>
        <p:nvSpPr>
          <p:cNvPr id="14" name="Shape 10"/>
          <p:cNvSpPr/>
          <p:nvPr/>
        </p:nvSpPr>
        <p:spPr>
          <a:xfrm>
            <a:off x="5157216" y="1463040"/>
            <a:ext cx="1920240" cy="1280160"/>
          </a:xfrm>
          <a:prstGeom prst="roundRect">
            <a:avLst>
              <a:gd name="adj" fmla="val 5000"/>
            </a:avLst>
          </a:prstGeom>
          <a:solidFill>
            <a:srgbClr val="FFFFFF"/>
          </a:solidFill>
          <a:ln w="9525">
            <a:solidFill>
              <a:srgbClr val="DCE4F2"/>
            </a:solidFill>
            <a:prstDash val="solid"/>
          </a:ln>
        </p:spPr>
      </p:sp>
      <p:pic>
        <p:nvPicPr>
          <p:cNvPr id="15" name="Image 2" descr="deck-assets/githubactions.png">    </p:cNvPr>
          <p:cNvPicPr>
            <a:picLocks noChangeAspect="1"/>
          </p:cNvPicPr>
          <p:nvPr/>
        </p:nvPicPr>
        <p:blipFill>
          <a:blip r:embed="rId3"/>
          <a:stretch>
            <a:fillRect/>
          </a:stretch>
        </p:blipFill>
        <p:spPr>
          <a:xfrm>
            <a:off x="5925312" y="1572768"/>
            <a:ext cx="384048" cy="384048"/>
          </a:xfrm>
          <a:prstGeom prst="rect">
            <a:avLst/>
          </a:prstGeom>
        </p:spPr>
      </p:pic>
      <p:sp>
        <p:nvSpPr>
          <p:cNvPr id="16" name="Text 11"/>
          <p:cNvSpPr/>
          <p:nvPr/>
        </p:nvSpPr>
        <p:spPr>
          <a:xfrm>
            <a:off x="5193792"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OIDC → AssumeRole</a:t>
            </a:r>
            <a:endParaRPr lang="en-US" sz="1100" dirty="0"/>
          </a:p>
        </p:txBody>
      </p:sp>
      <p:sp>
        <p:nvSpPr>
          <p:cNvPr id="17" name="Text 12"/>
          <p:cNvSpPr/>
          <p:nvPr/>
        </p:nvSpPr>
        <p:spPr>
          <a:xfrm>
            <a:off x="5193792"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no static AWS keys in GitHub</a:t>
            </a:r>
            <a:endParaRPr lang="en-US" sz="850" dirty="0"/>
          </a:p>
        </p:txBody>
      </p:sp>
      <p:sp>
        <p:nvSpPr>
          <p:cNvPr id="18" name="Shape 13"/>
          <p:cNvSpPr/>
          <p:nvPr/>
        </p:nvSpPr>
        <p:spPr>
          <a:xfrm>
            <a:off x="7077456" y="2103120"/>
            <a:ext cx="384048" cy="0"/>
          </a:xfrm>
          <a:prstGeom prst="line">
            <a:avLst/>
          </a:prstGeom>
          <a:noFill/>
          <a:ln w="22225">
            <a:solidFill>
              <a:srgbClr val="63708A"/>
            </a:solidFill>
            <a:prstDash val="solid"/>
            <a:tailEnd type="triangle"/>
          </a:ln>
        </p:spPr>
      </p:sp>
      <p:sp>
        <p:nvSpPr>
          <p:cNvPr id="19" name="Shape 14"/>
          <p:cNvSpPr/>
          <p:nvPr/>
        </p:nvSpPr>
        <p:spPr>
          <a:xfrm>
            <a:off x="7461504" y="1463040"/>
            <a:ext cx="1920240" cy="1280160"/>
          </a:xfrm>
          <a:prstGeom prst="roundRect">
            <a:avLst>
              <a:gd name="adj" fmla="val 5000"/>
            </a:avLst>
          </a:prstGeom>
          <a:solidFill>
            <a:srgbClr val="FFFFFF"/>
          </a:solidFill>
          <a:ln w="9525">
            <a:solidFill>
              <a:srgbClr val="DCE4F2"/>
            </a:solidFill>
            <a:prstDash val="solid"/>
          </a:ln>
        </p:spPr>
      </p:sp>
      <p:pic>
        <p:nvPicPr>
          <p:cNvPr id="20" name="Image 3" descr="deck-assets/docker.png">    </p:cNvPr>
          <p:cNvPicPr>
            <a:picLocks noChangeAspect="1"/>
          </p:cNvPicPr>
          <p:nvPr/>
        </p:nvPicPr>
        <p:blipFill>
          <a:blip r:embed="rId4"/>
          <a:stretch>
            <a:fillRect/>
          </a:stretch>
        </p:blipFill>
        <p:spPr>
          <a:xfrm>
            <a:off x="8229600" y="1572768"/>
            <a:ext cx="384048" cy="384048"/>
          </a:xfrm>
          <a:prstGeom prst="rect">
            <a:avLst/>
          </a:prstGeom>
        </p:spPr>
      </p:pic>
      <p:sp>
        <p:nvSpPr>
          <p:cNvPr id="21" name="Text 15"/>
          <p:cNvSpPr/>
          <p:nvPr/>
        </p:nvSpPr>
        <p:spPr>
          <a:xfrm>
            <a:off x="7498080"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build + push</a:t>
            </a:r>
            <a:endParaRPr lang="en-US" sz="1100" dirty="0"/>
          </a:p>
        </p:txBody>
      </p:sp>
      <p:sp>
        <p:nvSpPr>
          <p:cNvPr id="22" name="Text 16"/>
          <p:cNvSpPr/>
          <p:nvPr/>
        </p:nvSpPr>
        <p:spPr>
          <a:xfrm>
            <a:off x="7498080"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serving &amp; drift images → ECR, tagged by commit SHA</a:t>
            </a:r>
            <a:endParaRPr lang="en-US" sz="850" dirty="0"/>
          </a:p>
        </p:txBody>
      </p:sp>
      <p:sp>
        <p:nvSpPr>
          <p:cNvPr id="23" name="Shape 17"/>
          <p:cNvSpPr/>
          <p:nvPr/>
        </p:nvSpPr>
        <p:spPr>
          <a:xfrm>
            <a:off x="9381744" y="2103120"/>
            <a:ext cx="384048" cy="0"/>
          </a:xfrm>
          <a:prstGeom prst="line">
            <a:avLst/>
          </a:prstGeom>
          <a:noFill/>
          <a:ln w="22225">
            <a:solidFill>
              <a:srgbClr val="63708A"/>
            </a:solidFill>
            <a:prstDash val="solid"/>
            <a:tailEnd type="triangle"/>
          </a:ln>
        </p:spPr>
      </p:sp>
      <p:sp>
        <p:nvSpPr>
          <p:cNvPr id="24" name="Shape 18"/>
          <p:cNvSpPr/>
          <p:nvPr/>
        </p:nvSpPr>
        <p:spPr>
          <a:xfrm>
            <a:off x="9765792" y="1463040"/>
            <a:ext cx="1920240" cy="1280160"/>
          </a:xfrm>
          <a:prstGeom prst="roundRect">
            <a:avLst>
              <a:gd name="adj" fmla="val 5000"/>
            </a:avLst>
          </a:prstGeom>
          <a:solidFill>
            <a:srgbClr val="FFFFFF"/>
          </a:solidFill>
          <a:ln w="9525">
            <a:solidFill>
              <a:srgbClr val="DCE4F2"/>
            </a:solidFill>
            <a:prstDash val="solid"/>
          </a:ln>
        </p:spPr>
      </p:sp>
      <p:pic>
        <p:nvPicPr>
          <p:cNvPr id="25" name="Image 4" descr="deck-assets/kubernetes.png">    </p:cNvPr>
          <p:cNvPicPr>
            <a:picLocks noChangeAspect="1"/>
          </p:cNvPicPr>
          <p:nvPr/>
        </p:nvPicPr>
        <p:blipFill>
          <a:blip r:embed="rId5"/>
          <a:stretch>
            <a:fillRect/>
          </a:stretch>
        </p:blipFill>
        <p:spPr>
          <a:xfrm>
            <a:off x="10533888" y="1572768"/>
            <a:ext cx="384048" cy="384048"/>
          </a:xfrm>
          <a:prstGeom prst="rect">
            <a:avLst/>
          </a:prstGeom>
        </p:spPr>
      </p:pic>
      <p:sp>
        <p:nvSpPr>
          <p:cNvPr id="26" name="Text 19"/>
          <p:cNvSpPr/>
          <p:nvPr/>
        </p:nvSpPr>
        <p:spPr>
          <a:xfrm>
            <a:off x="9802368"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deploy</a:t>
            </a:r>
            <a:endParaRPr lang="en-US" sz="1100" dirty="0"/>
          </a:p>
        </p:txBody>
      </p:sp>
      <p:sp>
        <p:nvSpPr>
          <p:cNvPr id="27" name="Text 20"/>
          <p:cNvSpPr/>
          <p:nvPr/>
        </p:nvSpPr>
        <p:spPr>
          <a:xfrm>
            <a:off x="9802368"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kubectl set image · rollout status</a:t>
            </a:r>
            <a:endParaRPr lang="en-US" sz="850" dirty="0"/>
          </a:p>
        </p:txBody>
      </p:sp>
      <p:sp>
        <p:nvSpPr>
          <p:cNvPr id="28" name="Shape 21"/>
          <p:cNvSpPr/>
          <p:nvPr/>
        </p:nvSpPr>
        <p:spPr>
          <a:xfrm>
            <a:off x="548640" y="3108960"/>
            <a:ext cx="5394960" cy="3063240"/>
          </a:xfrm>
          <a:prstGeom prst="roundRect">
            <a:avLst>
              <a:gd name="adj" fmla="val 2090"/>
            </a:avLst>
          </a:prstGeom>
          <a:solidFill>
            <a:srgbClr val="F0F4FB"/>
          </a:solidFill>
          <a:ln w="9525">
            <a:solidFill>
              <a:srgbClr val="DCE4F2"/>
            </a:solidFill>
            <a:prstDash val="solid"/>
          </a:ln>
        </p:spPr>
      </p:sp>
      <p:sp>
        <p:nvSpPr>
          <p:cNvPr id="29" name="Text 22"/>
          <p:cNvSpPr/>
          <p:nvPr/>
        </p:nvSpPr>
        <p:spPr>
          <a:xfrm>
            <a:off x="777240" y="3273552"/>
            <a:ext cx="493776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Why OIDC matters</a:t>
            </a:r>
            <a:endParaRPr lang="en-US" sz="1400" dirty="0"/>
          </a:p>
        </p:txBody>
      </p:sp>
      <p:sp>
        <p:nvSpPr>
          <p:cNvPr id="30" name="Text 23"/>
          <p:cNvSpPr/>
          <p:nvPr/>
        </p:nvSpPr>
        <p:spPr>
          <a:xfrm>
            <a:off x="777240" y="3657600"/>
            <a:ext cx="4983480" cy="2377440"/>
          </a:xfrm>
          <a:prstGeom prst="rect">
            <a:avLst/>
          </a:prstGeom>
          <a:noFill/>
          <a:ln/>
        </p:spPr>
        <p:txBody>
          <a:bodyPr wrap="square" lIns="0" tIns="0" rIns="0" bIns="0" rtlCol="0" anchor="t"/>
          <a:lstStyle/>
          <a:p>
            <a:pPr indent="0" marL="0">
              <a:buNone/>
            </a:pPr>
            <a:r>
              <a:rPr lang="en-US" sz="1200" dirty="0">
                <a:solidFill>
                  <a:srgbClr val="273044"/>
                </a:solidFill>
                <a:latin typeface="Calibri" pitchFamily="34" charset="0"/>
                <a:ea typeface="Calibri" pitchFamily="34" charset="-122"/>
                <a:cs typeface="Calibri" pitchFamily="34" charset="-120"/>
              </a:rPr>
              <a:t>The workflow exchanges a short-lived GitHub-signed token for an AWS role session. Nothing to leak, nothing to rotate: the classic “AWS keys in repo secrets” failure mode is structurally removed. Images are tagged with the commit SHA — every running container maps to an exact source state.</a:t>
            </a:r>
            <a:endParaRPr lang="en-US" sz="1200" dirty="0"/>
          </a:p>
        </p:txBody>
      </p:sp>
      <p:sp>
        <p:nvSpPr>
          <p:cNvPr id="31" name="Shape 24"/>
          <p:cNvSpPr/>
          <p:nvPr/>
        </p:nvSpPr>
        <p:spPr>
          <a:xfrm>
            <a:off x="6172200" y="3108960"/>
            <a:ext cx="5532120" cy="3063240"/>
          </a:xfrm>
          <a:prstGeom prst="roundRect">
            <a:avLst>
              <a:gd name="adj" fmla="val 2090"/>
            </a:avLst>
          </a:prstGeom>
          <a:solidFill>
            <a:srgbClr val="FFFFFF"/>
          </a:solidFill>
          <a:ln w="9525">
            <a:solidFill>
              <a:srgbClr val="DCE4F2"/>
            </a:solidFill>
            <a:prstDash val="solid"/>
          </a:ln>
        </p:spPr>
      </p:sp>
      <p:sp>
        <p:nvSpPr>
          <p:cNvPr id="32" name="Text 25"/>
          <p:cNvSpPr/>
          <p:nvPr/>
        </p:nvSpPr>
        <p:spPr>
          <a:xfrm>
            <a:off x="6400800" y="3273552"/>
            <a:ext cx="50292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Second workflow: retrain on demand</a:t>
            </a:r>
            <a:endParaRPr lang="en-US" sz="1400" dirty="0"/>
          </a:p>
        </p:txBody>
      </p:sp>
      <p:sp>
        <p:nvSpPr>
          <p:cNvPr id="33" name="Text 26"/>
          <p:cNvSpPr/>
          <p:nvPr/>
        </p:nvSpPr>
        <p:spPr>
          <a:xfrm>
            <a:off x="6400800" y="3703320"/>
            <a:ext cx="5074920" cy="2286000"/>
          </a:xfrm>
          <a:prstGeom prst="rect">
            <a:avLst/>
          </a:prstGeom>
          <a:noFill/>
          <a:ln/>
        </p:spPr>
        <p:txBody>
          <a:bodyPr wrap="square" lIns="0" tIns="0" rIns="0" bIns="0" rtlCol="0" anchor="t"/>
          <a:lstStyle/>
          <a:p>
            <a:pPr marL="127000" indent="-127000">
              <a:spcAft>
                <a:spcPts val="800"/>
              </a:spcAft>
              <a:buSzPct val="100000"/>
              <a:buChar char="•"/>
            </a:pPr>
            <a:r>
              <a:rPr lang="en-US" sz="1150" dirty="0">
                <a:solidFill>
                  <a:srgbClr val="273044"/>
                </a:solidFill>
                <a:latin typeface="Calibri" pitchFamily="34" charset="0"/>
                <a:ea typeface="Calibri" pitchFamily="34" charset="-122"/>
                <a:cs typeface="Calibri" pitchFamily="34" charset="-120"/>
              </a:rPr>
              <a:t>workflow_dispatch: a human (or an Alertmanager webhook, once trusted) triggers retraining with chosen epochs</a:t>
            </a:r>
            <a:endParaRPr lang="en-US" sz="1150" dirty="0"/>
          </a:p>
          <a:p>
            <a:pPr marL="127000" indent="-127000">
              <a:spcAft>
                <a:spcPts val="800"/>
              </a:spcAft>
              <a:buSzPct val="100000"/>
              <a:buChar char="•"/>
            </a:pPr>
            <a:r>
              <a:rPr lang="en-US" sz="1150" dirty="0">
                <a:solidFill>
                  <a:srgbClr val="273044"/>
                </a:solidFill>
                <a:latin typeface="Calibri" pitchFamily="34" charset="0"/>
                <a:ea typeface="Calibri" pitchFamily="34" charset="-122"/>
                <a:cs typeface="Calibri" pitchFamily="34" charset="-120"/>
              </a:rPr>
              <a:t>Same train.py, same mAP gate — a failed gate fails the workflow; nothing registers</a:t>
            </a:r>
            <a:endParaRPr lang="en-US" sz="1150" dirty="0"/>
          </a:p>
          <a:p>
            <a:pPr marL="127000" indent="-127000">
              <a:spcAft>
                <a:spcPts val="800"/>
              </a:spcAft>
              <a:buSzPct val="100000"/>
              <a:buChar char="•"/>
            </a:pPr>
            <a:r>
              <a:rPr lang="en-US" sz="1150" dirty="0">
                <a:solidFill>
                  <a:srgbClr val="273044"/>
                </a:solidFill>
                <a:latin typeface="Calibri" pitchFamily="34" charset="0"/>
                <a:ea typeface="Calibri" pitchFamily="34" charset="-122"/>
                <a:cs typeface="Calibri" pitchFamily="34" charset="-120"/>
              </a:rPr>
              <a:t>New version lands as candidate; promotion to production stays a deliberate human act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STAGE 3 · MONITOR</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One Helm release, two kinds of truth</a:t>
            </a:r>
            <a:endParaRPr lang="en-US" sz="2700" dirty="0"/>
          </a:p>
        </p:txBody>
      </p:sp>
      <p:sp>
        <p:nvSpPr>
          <p:cNvPr id="4" name="Shape 2"/>
          <p:cNvSpPr/>
          <p:nvPr/>
        </p:nvSpPr>
        <p:spPr>
          <a:xfrm>
            <a:off x="548640" y="1554480"/>
            <a:ext cx="2103120" cy="1188720"/>
          </a:xfrm>
          <a:prstGeom prst="roundRect">
            <a:avLst>
              <a:gd name="adj" fmla="val 5385"/>
            </a:avLst>
          </a:prstGeom>
          <a:solidFill>
            <a:srgbClr val="FFFFFF"/>
          </a:solidFill>
          <a:ln w="9525">
            <a:solidFill>
              <a:srgbClr val="DCE4F2"/>
            </a:solidFill>
            <a:prstDash val="solid"/>
          </a:ln>
        </p:spPr>
      </p:sp>
      <p:pic>
        <p:nvPicPr>
          <p:cNvPr id="5" name="Image 0" descr="deck-assets/fastapi.png">    </p:cNvPr>
          <p:cNvPicPr>
            <a:picLocks noChangeAspect="1"/>
          </p:cNvPicPr>
          <p:nvPr/>
        </p:nvPicPr>
        <p:blipFill>
          <a:blip r:embed="rId1"/>
          <a:stretch>
            <a:fillRect/>
          </a:stretch>
        </p:blipFill>
        <p:spPr>
          <a:xfrm>
            <a:off x="1408176" y="1664208"/>
            <a:ext cx="384048" cy="384048"/>
          </a:xfrm>
          <a:prstGeom prst="rect">
            <a:avLst/>
          </a:prstGeom>
        </p:spPr>
      </p:pic>
      <p:sp>
        <p:nvSpPr>
          <p:cNvPr id="6" name="Text 3"/>
          <p:cNvSpPr/>
          <p:nvPr/>
        </p:nvSpPr>
        <p:spPr>
          <a:xfrm>
            <a:off x="585216" y="2066544"/>
            <a:ext cx="202996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cv-serving /metrics</a:t>
            </a:r>
            <a:endParaRPr lang="en-US" sz="1100" dirty="0"/>
          </a:p>
        </p:txBody>
      </p:sp>
      <p:sp>
        <p:nvSpPr>
          <p:cNvPr id="7" name="Text 4"/>
          <p:cNvSpPr/>
          <p:nvPr/>
        </p:nvSpPr>
        <p:spPr>
          <a:xfrm>
            <a:off x="585216" y="2340864"/>
            <a:ext cx="202996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custom model metrics</a:t>
            </a:r>
            <a:endParaRPr lang="en-US" sz="850" dirty="0"/>
          </a:p>
        </p:txBody>
      </p:sp>
      <p:sp>
        <p:nvSpPr>
          <p:cNvPr id="8" name="Shape 5"/>
          <p:cNvSpPr/>
          <p:nvPr/>
        </p:nvSpPr>
        <p:spPr>
          <a:xfrm>
            <a:off x="548640" y="3017520"/>
            <a:ext cx="2103120" cy="1188720"/>
          </a:xfrm>
          <a:prstGeom prst="roundRect">
            <a:avLst>
              <a:gd name="adj" fmla="val 5385"/>
            </a:avLst>
          </a:prstGeom>
          <a:solidFill>
            <a:srgbClr val="FFFFFF"/>
          </a:solidFill>
          <a:ln w="9525">
            <a:solidFill>
              <a:srgbClr val="DCE4F2"/>
            </a:solidFill>
            <a:prstDash val="solid"/>
          </a:ln>
        </p:spPr>
      </p:sp>
      <p:sp>
        <p:nvSpPr>
          <p:cNvPr id="9" name="Shape 6"/>
          <p:cNvSpPr/>
          <p:nvPr/>
        </p:nvSpPr>
        <p:spPr>
          <a:xfrm>
            <a:off x="1216152" y="3127248"/>
            <a:ext cx="768096" cy="329184"/>
          </a:xfrm>
          <a:prstGeom prst="roundRect">
            <a:avLst>
              <a:gd name="adj" fmla="val 13889"/>
            </a:avLst>
          </a:prstGeom>
          <a:solidFill>
            <a:srgbClr val="31407A"/>
          </a:solidFill>
          <a:ln w="6350">
            <a:solidFill>
              <a:srgbClr val="31407A"/>
            </a:solidFill>
            <a:prstDash val="solid"/>
          </a:ln>
        </p:spPr>
      </p:sp>
      <p:sp>
        <p:nvSpPr>
          <p:cNvPr id="10" name="Text 7"/>
          <p:cNvSpPr/>
          <p:nvPr/>
        </p:nvSpPr>
        <p:spPr>
          <a:xfrm>
            <a:off x="1216152" y="3127248"/>
            <a:ext cx="768096"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EVIDENTLY</a:t>
            </a:r>
            <a:endParaRPr lang="en-US" sz="1050" dirty="0"/>
          </a:p>
        </p:txBody>
      </p:sp>
      <p:sp>
        <p:nvSpPr>
          <p:cNvPr id="11" name="Text 8"/>
          <p:cNvSpPr/>
          <p:nvPr/>
        </p:nvSpPr>
        <p:spPr>
          <a:xfrm>
            <a:off x="585216" y="3529584"/>
            <a:ext cx="202996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drift CronJob</a:t>
            </a:r>
            <a:endParaRPr lang="en-US" sz="1100" dirty="0"/>
          </a:p>
        </p:txBody>
      </p:sp>
      <p:sp>
        <p:nvSpPr>
          <p:cNvPr id="12" name="Text 9"/>
          <p:cNvSpPr/>
          <p:nvPr/>
        </p:nvSpPr>
        <p:spPr>
          <a:xfrm>
            <a:off x="585216" y="3803904"/>
            <a:ext cx="202996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batch → Pushgateway</a:t>
            </a:r>
            <a:endParaRPr lang="en-US" sz="850" dirty="0"/>
          </a:p>
        </p:txBody>
      </p:sp>
      <p:sp>
        <p:nvSpPr>
          <p:cNvPr id="13" name="Shape 10"/>
          <p:cNvSpPr/>
          <p:nvPr/>
        </p:nvSpPr>
        <p:spPr>
          <a:xfrm>
            <a:off x="3200400" y="2286000"/>
            <a:ext cx="2286000" cy="1188720"/>
          </a:xfrm>
          <a:prstGeom prst="roundRect">
            <a:avLst>
              <a:gd name="adj" fmla="val 5385"/>
            </a:avLst>
          </a:prstGeom>
          <a:solidFill>
            <a:srgbClr val="FFFFFF"/>
          </a:solidFill>
          <a:ln w="9525">
            <a:solidFill>
              <a:srgbClr val="DCE4F2"/>
            </a:solidFill>
            <a:prstDash val="solid"/>
          </a:ln>
        </p:spPr>
      </p:sp>
      <p:pic>
        <p:nvPicPr>
          <p:cNvPr id="14" name="Image 1" descr="deck-assets/prometheus.png">    </p:cNvPr>
          <p:cNvPicPr>
            <a:picLocks noChangeAspect="1"/>
          </p:cNvPicPr>
          <p:nvPr/>
        </p:nvPicPr>
        <p:blipFill>
          <a:blip r:embed="rId2"/>
          <a:stretch>
            <a:fillRect/>
          </a:stretch>
        </p:blipFill>
        <p:spPr>
          <a:xfrm>
            <a:off x="4151376" y="2395728"/>
            <a:ext cx="384048" cy="384048"/>
          </a:xfrm>
          <a:prstGeom prst="rect">
            <a:avLst/>
          </a:prstGeom>
        </p:spPr>
      </p:pic>
      <p:sp>
        <p:nvSpPr>
          <p:cNvPr id="15" name="Text 11"/>
          <p:cNvSpPr/>
          <p:nvPr/>
        </p:nvSpPr>
        <p:spPr>
          <a:xfrm>
            <a:off x="3236976" y="2798064"/>
            <a:ext cx="221284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Prometheus</a:t>
            </a:r>
            <a:endParaRPr lang="en-US" sz="1100" dirty="0"/>
          </a:p>
        </p:txBody>
      </p:sp>
      <p:sp>
        <p:nvSpPr>
          <p:cNvPr id="16" name="Text 12"/>
          <p:cNvSpPr/>
          <p:nvPr/>
        </p:nvSpPr>
        <p:spPr>
          <a:xfrm>
            <a:off x="3236976" y="3072384"/>
            <a:ext cx="221284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scrape 15 s · 3 d retention</a:t>
            </a:r>
            <a:endParaRPr lang="en-US" sz="850" dirty="0"/>
          </a:p>
        </p:txBody>
      </p:sp>
      <p:sp>
        <p:nvSpPr>
          <p:cNvPr id="17" name="Shape 13"/>
          <p:cNvSpPr/>
          <p:nvPr/>
        </p:nvSpPr>
        <p:spPr>
          <a:xfrm>
            <a:off x="2651760" y="2148840"/>
            <a:ext cx="502920" cy="0"/>
          </a:xfrm>
          <a:prstGeom prst="line">
            <a:avLst/>
          </a:prstGeom>
          <a:noFill/>
          <a:ln w="22225">
            <a:solidFill>
              <a:srgbClr val="63708A"/>
            </a:solidFill>
            <a:prstDash val="solid"/>
            <a:tailEnd type="triangle"/>
          </a:ln>
        </p:spPr>
      </p:sp>
      <p:sp>
        <p:nvSpPr>
          <p:cNvPr id="18" name="Shape 14"/>
          <p:cNvSpPr/>
          <p:nvPr/>
        </p:nvSpPr>
        <p:spPr>
          <a:xfrm>
            <a:off x="2651760" y="3611880"/>
            <a:ext cx="502920" cy="0"/>
          </a:xfrm>
          <a:prstGeom prst="line">
            <a:avLst/>
          </a:prstGeom>
          <a:noFill/>
          <a:ln w="22225">
            <a:solidFill>
              <a:srgbClr val="63708A"/>
            </a:solidFill>
            <a:prstDash val="solid"/>
            <a:tailEnd type="triangle"/>
          </a:ln>
        </p:spPr>
      </p:sp>
      <p:sp>
        <p:nvSpPr>
          <p:cNvPr id="19" name="Shape 15"/>
          <p:cNvSpPr/>
          <p:nvPr/>
        </p:nvSpPr>
        <p:spPr>
          <a:xfrm>
            <a:off x="6035040" y="1554480"/>
            <a:ext cx="2286000" cy="1188720"/>
          </a:xfrm>
          <a:prstGeom prst="roundRect">
            <a:avLst>
              <a:gd name="adj" fmla="val 5385"/>
            </a:avLst>
          </a:prstGeom>
          <a:solidFill>
            <a:srgbClr val="FFFFFF"/>
          </a:solidFill>
          <a:ln w="9525">
            <a:solidFill>
              <a:srgbClr val="DCE4F2"/>
            </a:solidFill>
            <a:prstDash val="solid"/>
          </a:ln>
        </p:spPr>
      </p:sp>
      <p:pic>
        <p:nvPicPr>
          <p:cNvPr id="20" name="Image 2" descr="deck-assets/grafana.png">    </p:cNvPr>
          <p:cNvPicPr>
            <a:picLocks noChangeAspect="1"/>
          </p:cNvPicPr>
          <p:nvPr/>
        </p:nvPicPr>
        <p:blipFill>
          <a:blip r:embed="rId3"/>
          <a:stretch>
            <a:fillRect/>
          </a:stretch>
        </p:blipFill>
        <p:spPr>
          <a:xfrm>
            <a:off x="6986016" y="1664208"/>
            <a:ext cx="384048" cy="384048"/>
          </a:xfrm>
          <a:prstGeom prst="rect">
            <a:avLst/>
          </a:prstGeom>
        </p:spPr>
      </p:pic>
      <p:sp>
        <p:nvSpPr>
          <p:cNvPr id="21" name="Text 16"/>
          <p:cNvSpPr/>
          <p:nvPr/>
        </p:nvSpPr>
        <p:spPr>
          <a:xfrm>
            <a:off x="6071616" y="2066544"/>
            <a:ext cx="221284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Grafana</a:t>
            </a:r>
            <a:endParaRPr lang="en-US" sz="1100" dirty="0"/>
          </a:p>
        </p:txBody>
      </p:sp>
      <p:sp>
        <p:nvSpPr>
          <p:cNvPr id="22" name="Text 17"/>
          <p:cNvSpPr/>
          <p:nvPr/>
        </p:nvSpPr>
        <p:spPr>
          <a:xfrm>
            <a:off x="6071616" y="2340864"/>
            <a:ext cx="221284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CV Model Ops dashboard</a:t>
            </a:r>
            <a:endParaRPr lang="en-US" sz="850" dirty="0"/>
          </a:p>
        </p:txBody>
      </p:sp>
      <p:sp>
        <p:nvSpPr>
          <p:cNvPr id="23" name="Shape 18"/>
          <p:cNvSpPr/>
          <p:nvPr/>
        </p:nvSpPr>
        <p:spPr>
          <a:xfrm>
            <a:off x="6035040" y="3017520"/>
            <a:ext cx="2286000" cy="1188720"/>
          </a:xfrm>
          <a:prstGeom prst="roundRect">
            <a:avLst>
              <a:gd name="adj" fmla="val 5385"/>
            </a:avLst>
          </a:prstGeom>
          <a:solidFill>
            <a:srgbClr val="FFFFFF"/>
          </a:solidFill>
          <a:ln w="9525">
            <a:solidFill>
              <a:srgbClr val="DCE4F2"/>
            </a:solidFill>
            <a:prstDash val="solid"/>
          </a:ln>
        </p:spPr>
      </p:sp>
      <p:pic>
        <p:nvPicPr>
          <p:cNvPr id="24" name="Image 3" descr="deck-assets/alert.png">    </p:cNvPr>
          <p:cNvPicPr>
            <a:picLocks noChangeAspect="1"/>
          </p:cNvPicPr>
          <p:nvPr/>
        </p:nvPicPr>
        <p:blipFill>
          <a:blip r:embed="rId4"/>
          <a:stretch>
            <a:fillRect/>
          </a:stretch>
        </p:blipFill>
        <p:spPr>
          <a:xfrm>
            <a:off x="6986016" y="3127248"/>
            <a:ext cx="384048" cy="384048"/>
          </a:xfrm>
          <a:prstGeom prst="rect">
            <a:avLst/>
          </a:prstGeom>
        </p:spPr>
      </p:pic>
      <p:sp>
        <p:nvSpPr>
          <p:cNvPr id="25" name="Text 19"/>
          <p:cNvSpPr/>
          <p:nvPr/>
        </p:nvSpPr>
        <p:spPr>
          <a:xfrm>
            <a:off x="6071616" y="3529584"/>
            <a:ext cx="221284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Alertmanager</a:t>
            </a:r>
            <a:endParaRPr lang="en-US" sz="1100" dirty="0"/>
          </a:p>
        </p:txBody>
      </p:sp>
      <p:sp>
        <p:nvSpPr>
          <p:cNvPr id="26" name="Text 20"/>
          <p:cNvSpPr/>
          <p:nvPr/>
        </p:nvSpPr>
        <p:spPr>
          <a:xfrm>
            <a:off x="6071616" y="3803904"/>
            <a:ext cx="221284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6 PrometheusRules</a:t>
            </a:r>
            <a:endParaRPr lang="en-US" sz="850" dirty="0"/>
          </a:p>
        </p:txBody>
      </p:sp>
      <p:sp>
        <p:nvSpPr>
          <p:cNvPr id="27" name="Shape 21"/>
          <p:cNvSpPr/>
          <p:nvPr/>
        </p:nvSpPr>
        <p:spPr>
          <a:xfrm>
            <a:off x="5486400" y="2148840"/>
            <a:ext cx="502920" cy="0"/>
          </a:xfrm>
          <a:prstGeom prst="line">
            <a:avLst/>
          </a:prstGeom>
          <a:noFill/>
          <a:ln w="22225">
            <a:solidFill>
              <a:srgbClr val="63708A"/>
            </a:solidFill>
            <a:prstDash val="solid"/>
            <a:tailEnd type="triangle"/>
          </a:ln>
        </p:spPr>
      </p:sp>
      <p:sp>
        <p:nvSpPr>
          <p:cNvPr id="28" name="Shape 22"/>
          <p:cNvSpPr/>
          <p:nvPr/>
        </p:nvSpPr>
        <p:spPr>
          <a:xfrm>
            <a:off x="5486400" y="3611880"/>
            <a:ext cx="502920" cy="0"/>
          </a:xfrm>
          <a:prstGeom prst="line">
            <a:avLst/>
          </a:prstGeom>
          <a:noFill/>
          <a:ln w="22225">
            <a:solidFill>
              <a:srgbClr val="63708A"/>
            </a:solidFill>
            <a:prstDash val="solid"/>
            <a:tailEnd type="triangle"/>
          </a:ln>
        </p:spPr>
      </p:sp>
      <p:sp>
        <p:nvSpPr>
          <p:cNvPr id="29" name="Shape 23"/>
          <p:cNvSpPr/>
          <p:nvPr/>
        </p:nvSpPr>
        <p:spPr>
          <a:xfrm>
            <a:off x="8869680" y="1554480"/>
            <a:ext cx="2834640" cy="2651760"/>
          </a:xfrm>
          <a:prstGeom prst="roundRect">
            <a:avLst>
              <a:gd name="adj" fmla="val 2414"/>
            </a:avLst>
          </a:prstGeom>
          <a:solidFill>
            <a:srgbClr val="F0F4FB"/>
          </a:solidFill>
          <a:ln w="9525">
            <a:solidFill>
              <a:srgbClr val="DCE4F2"/>
            </a:solidFill>
            <a:prstDash val="solid"/>
          </a:ln>
        </p:spPr>
      </p:sp>
      <p:sp>
        <p:nvSpPr>
          <p:cNvPr id="30" name="Text 24"/>
          <p:cNvSpPr/>
          <p:nvPr/>
        </p:nvSpPr>
        <p:spPr>
          <a:xfrm>
            <a:off x="9052560" y="1700784"/>
            <a:ext cx="246888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Installed as one unit</a:t>
            </a:r>
            <a:endParaRPr lang="en-US" sz="1250" dirty="0"/>
          </a:p>
        </p:txBody>
      </p:sp>
      <p:sp>
        <p:nvSpPr>
          <p:cNvPr id="31" name="Text 25"/>
          <p:cNvSpPr/>
          <p:nvPr/>
        </p:nvSpPr>
        <p:spPr>
          <a:xfrm>
            <a:off x="9052560" y="2011680"/>
            <a:ext cx="2514600" cy="2103120"/>
          </a:xfrm>
          <a:prstGeom prst="rect">
            <a:avLst/>
          </a:prstGeom>
          <a:noFill/>
          <a:ln/>
        </p:spPr>
        <p:txBody>
          <a:bodyPr wrap="square" lIns="0" tIns="0" rIns="0" bIns="0" rtlCol="0" anchor="t"/>
          <a:lstStyle/>
          <a:p>
            <a:pPr marL="127000" indent="-127000">
              <a:spcAft>
                <a:spcPts val="600"/>
              </a:spcAft>
              <a:buSzPct val="100000"/>
              <a:buChar char="•"/>
            </a:pPr>
            <a:r>
              <a:rPr lang="en-US" sz="1050" dirty="0">
                <a:solidFill>
                  <a:srgbClr val="273044"/>
                </a:solidFill>
                <a:latin typeface="Calibri" pitchFamily="34" charset="0"/>
                <a:ea typeface="Calibri" pitchFamily="34" charset="-122"/>
                <a:cs typeface="Calibri" pitchFamily="34" charset="-120"/>
              </a:rPr>
              <a:t>helm install kube-prometheus-stack (+ pushgateway)</a:t>
            </a:r>
            <a:endParaRPr lang="en-US" sz="1050" dirty="0"/>
          </a:p>
          <a:p>
            <a:pPr marL="127000" indent="-127000">
              <a:spcAft>
                <a:spcPts val="600"/>
              </a:spcAft>
              <a:buSzPct val="100000"/>
              <a:buChar char="•"/>
            </a:pPr>
            <a:r>
              <a:rPr lang="en-US" sz="1050" dirty="0">
                <a:solidFill>
                  <a:srgbClr val="273044"/>
                </a:solidFill>
                <a:latin typeface="Calibri" pitchFamily="34" charset="0"/>
                <a:ea typeface="Calibri" pitchFamily="34" charset="-122"/>
                <a:cs typeface="Calibri" pitchFamily="34" charset="-120"/>
              </a:rPr>
              <a:t>Grafana sidecar auto-imports any ConfigMap labeled grafana_dashboard — dashboards are code</a:t>
            </a:r>
            <a:endParaRPr lang="en-US" sz="1050" dirty="0"/>
          </a:p>
          <a:p>
            <a:pPr marL="127000" indent="-127000">
              <a:spcAft>
                <a:spcPts val="600"/>
              </a:spcAft>
              <a:buSzPct val="100000"/>
              <a:buChar char="•"/>
            </a:pPr>
            <a:r>
              <a:rPr lang="en-US" sz="1050" dirty="0">
                <a:solidFill>
                  <a:srgbClr val="273044"/>
                </a:solidFill>
                <a:latin typeface="Calibri" pitchFamily="34" charset="0"/>
                <a:ea typeface="Calibri" pitchFamily="34" charset="-122"/>
                <a:cs typeface="Calibri" pitchFamily="34" charset="-120"/>
              </a:rPr>
              <a:t>ServiceMonitor CRD → zero manual scrape config</a:t>
            </a:r>
            <a:endParaRPr lang="en-US" sz="1050" dirty="0"/>
          </a:p>
        </p:txBody>
      </p:sp>
      <p:sp>
        <p:nvSpPr>
          <p:cNvPr id="32" name="Shape 26"/>
          <p:cNvSpPr/>
          <p:nvPr/>
        </p:nvSpPr>
        <p:spPr>
          <a:xfrm>
            <a:off x="548640" y="4572000"/>
            <a:ext cx="11155680" cy="1645920"/>
          </a:xfrm>
          <a:prstGeom prst="roundRect">
            <a:avLst>
              <a:gd name="adj" fmla="val 3889"/>
            </a:avLst>
          </a:prstGeom>
          <a:solidFill>
            <a:srgbClr val="FFFFFF"/>
          </a:solidFill>
          <a:ln w="9525">
            <a:solidFill>
              <a:srgbClr val="DCE4F2"/>
            </a:solidFill>
            <a:prstDash val="solid"/>
          </a:ln>
        </p:spPr>
      </p:sp>
      <p:sp>
        <p:nvSpPr>
          <p:cNvPr id="33" name="Text 27"/>
          <p:cNvSpPr/>
          <p:nvPr/>
        </p:nvSpPr>
        <p:spPr>
          <a:xfrm>
            <a:off x="777240" y="4754880"/>
            <a:ext cx="10698480" cy="1325880"/>
          </a:xfrm>
          <a:prstGeom prst="rect">
            <a:avLst/>
          </a:prstGeom>
          <a:noFill/>
          <a:ln/>
        </p:spPr>
        <p:txBody>
          <a:bodyPr wrap="square" lIns="0" tIns="0" rIns="0" bIns="0" rtlCol="0" anchor="t"/>
          <a:lstStyle/>
          <a:p>
            <a:pPr indent="0" marL="0">
              <a:buNone/>
            </a:pPr>
            <a:r>
              <a:rPr lang="en-US" sz="1250" b="1" dirty="0">
                <a:solidFill>
                  <a:srgbClr val="273044"/>
                </a:solidFill>
                <a:latin typeface="Calibri" pitchFamily="34" charset="0"/>
                <a:ea typeface="Calibri" pitchFamily="34" charset="-122"/>
                <a:cs typeface="Calibri" pitchFamily="34" charset="-120"/>
              </a:rPr>
              <a:t>Two kinds of truth on one pane: </a:t>
            </a:r>
            <a:pPr indent="0" marL="0">
              <a:buNone/>
            </a:pPr>
            <a:r>
              <a:rPr lang="en-US" sz="1250" dirty="0">
                <a:solidFill>
                  <a:srgbClr val="273044"/>
                </a:solidFill>
                <a:latin typeface="Calibri" pitchFamily="34" charset="0"/>
                <a:ea typeface="Calibri" pitchFamily="34" charset="-122"/>
                <a:cs typeface="Calibri" pitchFamily="34" charset="-120"/>
              </a:rPr>
              <a:t>system truth (request rate, p95 latency, error rate, pod up) and model truth (per-class detection rates, confidence distribution, drift share). The second kind is what generic APM never shows you — and it only exists because the serving layer is instrumented from inside.</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STAGE 3 · DASHBOARD</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CV Model Ops — live values from the actual run</a:t>
            </a:r>
            <a:endParaRPr lang="en-US" sz="2700" dirty="0"/>
          </a:p>
        </p:txBody>
      </p:sp>
      <p:sp>
        <p:nvSpPr>
          <p:cNvPr id="4" name="Shape 2"/>
          <p:cNvSpPr/>
          <p:nvPr/>
        </p:nvSpPr>
        <p:spPr>
          <a:xfrm>
            <a:off x="548640" y="1371600"/>
            <a:ext cx="5486400" cy="2651760"/>
          </a:xfrm>
          <a:prstGeom prst="roundRect">
            <a:avLst>
              <a:gd name="adj" fmla="val 2414"/>
            </a:avLst>
          </a:prstGeom>
          <a:solidFill>
            <a:srgbClr val="FFFFFF"/>
          </a:solidFill>
          <a:ln w="9525">
            <a:solidFill>
              <a:srgbClr val="DCE4F2"/>
            </a:solidFill>
            <a:prstDash val="solid"/>
          </a:ln>
        </p:spPr>
      </p:sp>
      <p:graphicFrame>
        <p:nvGraphicFramePr>
          <p:cNvPr id="5" name="Chart 0" descr=""/>
          <p:cNvGraphicFramePr/>
          <p:nvPr/>
        </p:nvGraphicFramePr>
        <p:xfrm>
          <a:off x="685800" y="1481328"/>
          <a:ext cx="5212080" cy="2423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263640" y="1371600"/>
            <a:ext cx="5486400" cy="2651760"/>
          </a:xfrm>
          <a:prstGeom prst="roundRect">
            <a:avLst>
              <a:gd name="adj" fmla="val 2414"/>
            </a:avLst>
          </a:prstGeom>
          <a:solidFill>
            <a:srgbClr val="FFFFFF"/>
          </a:solidFill>
          <a:ln w="9525">
            <a:solidFill>
              <a:srgbClr val="DCE4F2"/>
            </a:solidFill>
            <a:prstDash val="solid"/>
          </a:ln>
        </p:spPr>
      </p:sp>
      <p:graphicFrame>
        <p:nvGraphicFramePr>
          <p:cNvPr id="7" name="Chart 1" descr=""/>
          <p:cNvGraphicFramePr/>
          <p:nvPr/>
        </p:nvGraphicFramePr>
        <p:xfrm>
          <a:off x="6400800" y="1481328"/>
          <a:ext cx="5212080" cy="2423160"/>
        </p:xfrm>
        <a:graphic xmlns:a="http://schemas.openxmlformats.org/drawingml/2006/main">
          <a:graphicData uri="http://schemas.openxmlformats.org/drawingml/2006/chart">
            <c:chart xmlns:c="http://schemas.openxmlformats.org/drawingml/2006/chart" r:id="rId2"/>
          </a:graphicData>
        </a:graphic>
      </p:graphicFrame>
      <p:sp>
        <p:nvSpPr>
          <p:cNvPr id="8" name="Shape 4"/>
          <p:cNvSpPr/>
          <p:nvPr/>
        </p:nvSpPr>
        <p:spPr>
          <a:xfrm>
            <a:off x="548640" y="4297680"/>
            <a:ext cx="2651760" cy="1783080"/>
          </a:xfrm>
          <a:prstGeom prst="roundRect">
            <a:avLst>
              <a:gd name="adj" fmla="val 3590"/>
            </a:avLst>
          </a:prstGeom>
          <a:solidFill>
            <a:srgbClr val="F0F4FB"/>
          </a:solidFill>
          <a:ln w="9525">
            <a:solidFill>
              <a:srgbClr val="DCE4F2"/>
            </a:solidFill>
            <a:prstDash val="solid"/>
          </a:ln>
        </p:spPr>
      </p:sp>
      <p:sp>
        <p:nvSpPr>
          <p:cNvPr id="9" name="Text 5"/>
          <p:cNvSpPr/>
          <p:nvPr/>
        </p:nvSpPr>
        <p:spPr>
          <a:xfrm>
            <a:off x="713232" y="4443984"/>
            <a:ext cx="2286000" cy="685800"/>
          </a:xfrm>
          <a:prstGeom prst="rect">
            <a:avLst/>
          </a:prstGeom>
          <a:noFill/>
          <a:ln/>
        </p:spPr>
        <p:txBody>
          <a:bodyPr wrap="square" lIns="0" tIns="0" rIns="0" bIns="0" rtlCol="0" anchor="ctr"/>
          <a:lstStyle/>
          <a:p>
            <a:pPr indent="0" marL="0">
              <a:buNone/>
            </a:pPr>
            <a:r>
              <a:rPr lang="en-US" sz="3600" b="1" dirty="0">
                <a:solidFill>
                  <a:srgbClr val="E8590C"/>
                </a:solidFill>
                <a:latin typeface="Cambria" pitchFamily="34" charset="0"/>
                <a:ea typeface="Cambria" pitchFamily="34" charset="-122"/>
                <a:cs typeface="Cambria" pitchFamily="34" charset="-120"/>
              </a:rPr>
              <a:t>1</a:t>
            </a:r>
            <a:endParaRPr lang="en-US" sz="3600" dirty="0"/>
          </a:p>
        </p:txBody>
      </p:sp>
      <p:sp>
        <p:nvSpPr>
          <p:cNvPr id="10" name="Text 6"/>
          <p:cNvSpPr/>
          <p:nvPr/>
        </p:nvSpPr>
        <p:spPr>
          <a:xfrm>
            <a:off x="713232" y="5157216"/>
            <a:ext cx="2331720" cy="274320"/>
          </a:xfrm>
          <a:prstGeom prst="rect">
            <a:avLst/>
          </a:prstGeom>
          <a:noFill/>
          <a:ln/>
        </p:spPr>
        <p:txBody>
          <a:bodyPr wrap="square" lIns="0" tIns="0" rIns="0" bIns="0" rtlCol="0" anchor="ctr"/>
          <a:lstStyle/>
          <a:p>
            <a:pPr indent="0" marL="0">
              <a:buNone/>
            </a:pPr>
            <a:r>
              <a:rPr lang="en-US" sz="1100" b="1" dirty="0">
                <a:solidFill>
                  <a:srgbClr val="273044"/>
                </a:solidFill>
                <a:latin typeface="Courier New" pitchFamily="34" charset="0"/>
                <a:ea typeface="Courier New" pitchFamily="34" charset="-122"/>
                <a:cs typeface="Courier New" pitchFamily="34" charset="-120"/>
              </a:rPr>
              <a:t>dataset_drift_detected</a:t>
            </a:r>
            <a:endParaRPr lang="en-US" sz="1100" dirty="0"/>
          </a:p>
        </p:txBody>
      </p:sp>
      <p:sp>
        <p:nvSpPr>
          <p:cNvPr id="11" name="Text 7"/>
          <p:cNvSpPr/>
          <p:nvPr/>
        </p:nvSpPr>
        <p:spPr>
          <a:xfrm>
            <a:off x="713232" y="5458968"/>
            <a:ext cx="2331720" cy="502920"/>
          </a:xfrm>
          <a:prstGeom prst="rect">
            <a:avLst/>
          </a:prstGeom>
          <a:noFill/>
          <a:ln/>
        </p:spPr>
        <p:txBody>
          <a:bodyPr wrap="square" lIns="0" tIns="0" rIns="0" bIns="0" rtlCol="0" anchor="t"/>
          <a:lstStyle/>
          <a:p>
            <a:pPr indent="0" marL="0">
              <a:buNone/>
            </a:pPr>
            <a:r>
              <a:rPr lang="en-US" sz="950" dirty="0">
                <a:solidFill>
                  <a:srgbClr val="63708A"/>
                </a:solidFill>
                <a:latin typeface="Calibri" pitchFamily="34" charset="0"/>
                <a:ea typeface="Calibri" pitchFamily="34" charset="-122"/>
                <a:cs typeface="Calibri" pitchFamily="34" charset="-120"/>
              </a:rPr>
              <a:t>Evidently verdict on corrupted traffic</a:t>
            </a:r>
            <a:endParaRPr lang="en-US" sz="950" dirty="0"/>
          </a:p>
        </p:txBody>
      </p:sp>
      <p:sp>
        <p:nvSpPr>
          <p:cNvPr id="12" name="Shape 8"/>
          <p:cNvSpPr/>
          <p:nvPr/>
        </p:nvSpPr>
        <p:spPr>
          <a:xfrm>
            <a:off x="3383280" y="4297680"/>
            <a:ext cx="2651760" cy="1783080"/>
          </a:xfrm>
          <a:prstGeom prst="roundRect">
            <a:avLst>
              <a:gd name="adj" fmla="val 3590"/>
            </a:avLst>
          </a:prstGeom>
          <a:solidFill>
            <a:srgbClr val="F0F4FB"/>
          </a:solidFill>
          <a:ln w="9525">
            <a:solidFill>
              <a:srgbClr val="DCE4F2"/>
            </a:solidFill>
            <a:prstDash val="solid"/>
          </a:ln>
        </p:spPr>
      </p:sp>
      <p:sp>
        <p:nvSpPr>
          <p:cNvPr id="13" name="Text 9"/>
          <p:cNvSpPr/>
          <p:nvPr/>
        </p:nvSpPr>
        <p:spPr>
          <a:xfrm>
            <a:off x="3547872" y="4443984"/>
            <a:ext cx="2286000" cy="685800"/>
          </a:xfrm>
          <a:prstGeom prst="rect">
            <a:avLst/>
          </a:prstGeom>
          <a:noFill/>
          <a:ln/>
        </p:spPr>
        <p:txBody>
          <a:bodyPr wrap="square" lIns="0" tIns="0" rIns="0" bIns="0" rtlCol="0" anchor="ctr"/>
          <a:lstStyle/>
          <a:p>
            <a:pPr indent="0" marL="0">
              <a:buNone/>
            </a:pPr>
            <a:r>
              <a:rPr lang="en-US" sz="3600" b="1" dirty="0">
                <a:solidFill>
                  <a:srgbClr val="E8590C"/>
                </a:solidFill>
                <a:latin typeface="Cambria" pitchFamily="34" charset="0"/>
                <a:ea typeface="Cambria" pitchFamily="34" charset="-122"/>
                <a:cs typeface="Cambria" pitchFamily="34" charset="-120"/>
              </a:rPr>
              <a:t>0.800</a:t>
            </a:r>
            <a:endParaRPr lang="en-US" sz="3600" dirty="0"/>
          </a:p>
        </p:txBody>
      </p:sp>
      <p:sp>
        <p:nvSpPr>
          <p:cNvPr id="14" name="Text 10"/>
          <p:cNvSpPr/>
          <p:nvPr/>
        </p:nvSpPr>
        <p:spPr>
          <a:xfrm>
            <a:off x="3547872" y="5157216"/>
            <a:ext cx="2331720" cy="274320"/>
          </a:xfrm>
          <a:prstGeom prst="rect">
            <a:avLst/>
          </a:prstGeom>
          <a:noFill/>
          <a:ln/>
        </p:spPr>
        <p:txBody>
          <a:bodyPr wrap="square" lIns="0" tIns="0" rIns="0" bIns="0" rtlCol="0" anchor="ctr"/>
          <a:lstStyle/>
          <a:p>
            <a:pPr indent="0" marL="0">
              <a:buNone/>
            </a:pPr>
            <a:r>
              <a:rPr lang="en-US" sz="1100" b="1" dirty="0">
                <a:solidFill>
                  <a:srgbClr val="273044"/>
                </a:solidFill>
                <a:latin typeface="Courier New" pitchFamily="34" charset="0"/>
                <a:ea typeface="Courier New" pitchFamily="34" charset="-122"/>
                <a:cs typeface="Courier New" pitchFamily="34" charset="-120"/>
              </a:rPr>
              <a:t>drift_share</a:t>
            </a:r>
            <a:endParaRPr lang="en-US" sz="1100" dirty="0"/>
          </a:p>
        </p:txBody>
      </p:sp>
      <p:sp>
        <p:nvSpPr>
          <p:cNvPr id="15" name="Text 11"/>
          <p:cNvSpPr/>
          <p:nvPr/>
        </p:nvSpPr>
        <p:spPr>
          <a:xfrm>
            <a:off x="3547872" y="5458968"/>
            <a:ext cx="2331720" cy="502920"/>
          </a:xfrm>
          <a:prstGeom prst="rect">
            <a:avLst/>
          </a:prstGeom>
          <a:noFill/>
          <a:ln/>
        </p:spPr>
        <p:txBody>
          <a:bodyPr wrap="square" lIns="0" tIns="0" rIns="0" bIns="0" rtlCol="0" anchor="t"/>
          <a:lstStyle/>
          <a:p>
            <a:pPr indent="0" marL="0">
              <a:buNone/>
            </a:pPr>
            <a:r>
              <a:rPr lang="en-US" sz="950" dirty="0">
                <a:solidFill>
                  <a:srgbClr val="63708A"/>
                </a:solidFill>
                <a:latin typeface="Calibri" pitchFamily="34" charset="0"/>
                <a:ea typeface="Calibri" pitchFamily="34" charset="-122"/>
                <a:cs typeface="Calibri" pitchFamily="34" charset="-120"/>
              </a:rPr>
              <a:t>4 of 5 monitored features drifted</a:t>
            </a:r>
            <a:endParaRPr lang="en-US" sz="950" dirty="0"/>
          </a:p>
        </p:txBody>
      </p:sp>
      <p:sp>
        <p:nvSpPr>
          <p:cNvPr id="16" name="Shape 12"/>
          <p:cNvSpPr/>
          <p:nvPr/>
        </p:nvSpPr>
        <p:spPr>
          <a:xfrm>
            <a:off x="6217920" y="4297680"/>
            <a:ext cx="2651760" cy="1783080"/>
          </a:xfrm>
          <a:prstGeom prst="roundRect">
            <a:avLst>
              <a:gd name="adj" fmla="val 3590"/>
            </a:avLst>
          </a:prstGeom>
          <a:solidFill>
            <a:srgbClr val="F0F4FB"/>
          </a:solidFill>
          <a:ln w="9525">
            <a:solidFill>
              <a:srgbClr val="DCE4F2"/>
            </a:solidFill>
            <a:prstDash val="solid"/>
          </a:ln>
        </p:spPr>
      </p:sp>
      <p:sp>
        <p:nvSpPr>
          <p:cNvPr id="17" name="Text 13"/>
          <p:cNvSpPr/>
          <p:nvPr/>
        </p:nvSpPr>
        <p:spPr>
          <a:xfrm>
            <a:off x="6382512" y="4443984"/>
            <a:ext cx="2286000" cy="685800"/>
          </a:xfrm>
          <a:prstGeom prst="rect">
            <a:avLst/>
          </a:prstGeom>
          <a:noFill/>
          <a:ln/>
        </p:spPr>
        <p:txBody>
          <a:bodyPr wrap="square" lIns="0" tIns="0" rIns="0" bIns="0" rtlCol="0" anchor="ctr"/>
          <a:lstStyle/>
          <a:p>
            <a:pPr indent="0" marL="0">
              <a:buNone/>
            </a:pPr>
            <a:r>
              <a:rPr lang="en-US" sz="3600" b="1" dirty="0">
                <a:solidFill>
                  <a:srgbClr val="2C7A3D"/>
                </a:solidFill>
                <a:latin typeface="Cambria" pitchFamily="34" charset="0"/>
                <a:ea typeface="Cambria" pitchFamily="34" charset="-122"/>
                <a:cs typeface="Cambria" pitchFamily="34" charset="-120"/>
              </a:rPr>
              <a:t>0</a:t>
            </a:r>
            <a:endParaRPr lang="en-US" sz="3600" dirty="0"/>
          </a:p>
        </p:txBody>
      </p:sp>
      <p:sp>
        <p:nvSpPr>
          <p:cNvPr id="18" name="Text 14"/>
          <p:cNvSpPr/>
          <p:nvPr/>
        </p:nvSpPr>
        <p:spPr>
          <a:xfrm>
            <a:off x="6382512" y="5157216"/>
            <a:ext cx="2331720" cy="274320"/>
          </a:xfrm>
          <a:prstGeom prst="rect">
            <a:avLst/>
          </a:prstGeom>
          <a:noFill/>
          <a:ln/>
        </p:spPr>
        <p:txBody>
          <a:bodyPr wrap="square" lIns="0" tIns="0" rIns="0" bIns="0" rtlCol="0" anchor="ctr"/>
          <a:lstStyle/>
          <a:p>
            <a:pPr indent="0" marL="0">
              <a:buNone/>
            </a:pPr>
            <a:r>
              <a:rPr lang="en-US" sz="1100" b="1" dirty="0">
                <a:solidFill>
                  <a:srgbClr val="273044"/>
                </a:solidFill>
                <a:latin typeface="Courier New" pitchFamily="34" charset="0"/>
                <a:ea typeface="Courier New" pitchFamily="34" charset="-122"/>
                <a:cs typeface="Courier New" pitchFamily="34" charset="-120"/>
              </a:rPr>
              <a:t>5xx error rate</a:t>
            </a:r>
            <a:endParaRPr lang="en-US" sz="1100" dirty="0"/>
          </a:p>
        </p:txBody>
      </p:sp>
      <p:sp>
        <p:nvSpPr>
          <p:cNvPr id="19" name="Text 15"/>
          <p:cNvSpPr/>
          <p:nvPr/>
        </p:nvSpPr>
        <p:spPr>
          <a:xfrm>
            <a:off x="6382512" y="5458968"/>
            <a:ext cx="2331720" cy="502920"/>
          </a:xfrm>
          <a:prstGeom prst="rect">
            <a:avLst/>
          </a:prstGeom>
          <a:noFill/>
          <a:ln/>
        </p:spPr>
        <p:txBody>
          <a:bodyPr wrap="square" lIns="0" tIns="0" rIns="0" bIns="0" rtlCol="0" anchor="t"/>
          <a:lstStyle/>
          <a:p>
            <a:pPr indent="0" marL="0">
              <a:buNone/>
            </a:pPr>
            <a:r>
              <a:rPr lang="en-US" sz="950" dirty="0">
                <a:solidFill>
                  <a:srgbClr val="63708A"/>
                </a:solidFill>
                <a:latin typeface="Calibri" pitchFamily="34" charset="0"/>
                <a:ea typeface="Calibri" pitchFamily="34" charset="-122"/>
                <a:cs typeface="Calibri" pitchFamily="34" charset="-120"/>
              </a:rPr>
              <a:t>no failed inferences during the session</a:t>
            </a:r>
            <a:endParaRPr lang="en-US" sz="950" dirty="0"/>
          </a:p>
        </p:txBody>
      </p:sp>
      <p:sp>
        <p:nvSpPr>
          <p:cNvPr id="20" name="Shape 16"/>
          <p:cNvSpPr/>
          <p:nvPr/>
        </p:nvSpPr>
        <p:spPr>
          <a:xfrm>
            <a:off x="9052560" y="4297680"/>
            <a:ext cx="2651760" cy="1783080"/>
          </a:xfrm>
          <a:prstGeom prst="roundRect">
            <a:avLst>
              <a:gd name="adj" fmla="val 3590"/>
            </a:avLst>
          </a:prstGeom>
          <a:solidFill>
            <a:srgbClr val="F0F4FB"/>
          </a:solidFill>
          <a:ln w="9525">
            <a:solidFill>
              <a:srgbClr val="DCE4F2"/>
            </a:solidFill>
            <a:prstDash val="solid"/>
          </a:ln>
        </p:spPr>
      </p:sp>
      <p:sp>
        <p:nvSpPr>
          <p:cNvPr id="21" name="Text 17"/>
          <p:cNvSpPr/>
          <p:nvPr/>
        </p:nvSpPr>
        <p:spPr>
          <a:xfrm>
            <a:off x="9217152" y="4443984"/>
            <a:ext cx="2286000" cy="685800"/>
          </a:xfrm>
          <a:prstGeom prst="rect">
            <a:avLst/>
          </a:prstGeom>
          <a:noFill/>
          <a:ln/>
        </p:spPr>
        <p:txBody>
          <a:bodyPr wrap="square" lIns="0" tIns="0" rIns="0" bIns="0" rtlCol="0" anchor="ctr"/>
          <a:lstStyle/>
          <a:p>
            <a:pPr indent="0" marL="0">
              <a:buNone/>
            </a:pPr>
            <a:r>
              <a:rPr lang="en-US" sz="3600" b="1" dirty="0">
                <a:solidFill>
                  <a:srgbClr val="2C7A3D"/>
                </a:solidFill>
                <a:latin typeface="Cambria" pitchFamily="34" charset="0"/>
                <a:ea typeface="Cambria" pitchFamily="34" charset="-122"/>
                <a:cs typeface="Cambria" pitchFamily="34" charset="-120"/>
              </a:rPr>
              <a:t>100%</a:t>
            </a:r>
            <a:endParaRPr lang="en-US" sz="3600" dirty="0"/>
          </a:p>
        </p:txBody>
      </p:sp>
      <p:sp>
        <p:nvSpPr>
          <p:cNvPr id="22" name="Text 18"/>
          <p:cNvSpPr/>
          <p:nvPr/>
        </p:nvSpPr>
        <p:spPr>
          <a:xfrm>
            <a:off x="9217152" y="5157216"/>
            <a:ext cx="2331720" cy="274320"/>
          </a:xfrm>
          <a:prstGeom prst="rect">
            <a:avLst/>
          </a:prstGeom>
          <a:noFill/>
          <a:ln/>
        </p:spPr>
        <p:txBody>
          <a:bodyPr wrap="square" lIns="0" tIns="0" rIns="0" bIns="0" rtlCol="0" anchor="ctr"/>
          <a:lstStyle/>
          <a:p>
            <a:pPr indent="0" marL="0">
              <a:buNone/>
            </a:pPr>
            <a:r>
              <a:rPr lang="en-US" sz="1100" b="1" dirty="0">
                <a:solidFill>
                  <a:srgbClr val="273044"/>
                </a:solidFill>
                <a:latin typeface="Courier New" pitchFamily="34" charset="0"/>
                <a:ea typeface="Courier New" pitchFamily="34" charset="-122"/>
                <a:cs typeface="Courier New" pitchFamily="34" charset="-120"/>
              </a:rPr>
              <a:t>scrape uptime</a:t>
            </a:r>
            <a:endParaRPr lang="en-US" sz="1100" dirty="0"/>
          </a:p>
        </p:txBody>
      </p:sp>
      <p:sp>
        <p:nvSpPr>
          <p:cNvPr id="23" name="Text 19"/>
          <p:cNvSpPr/>
          <p:nvPr/>
        </p:nvSpPr>
        <p:spPr>
          <a:xfrm>
            <a:off x="9217152" y="5458968"/>
            <a:ext cx="2331720" cy="502920"/>
          </a:xfrm>
          <a:prstGeom prst="rect">
            <a:avLst/>
          </a:prstGeom>
          <a:noFill/>
          <a:ln/>
        </p:spPr>
        <p:txBody>
          <a:bodyPr wrap="square" lIns="0" tIns="0" rIns="0" bIns="0" rtlCol="0" anchor="t"/>
          <a:lstStyle/>
          <a:p>
            <a:pPr indent="0" marL="0">
              <a:buNone/>
            </a:pPr>
            <a:r>
              <a:rPr lang="en-US" sz="950" dirty="0">
                <a:solidFill>
                  <a:srgbClr val="63708A"/>
                </a:solidFill>
                <a:latin typeface="Calibri" pitchFamily="34" charset="0"/>
                <a:ea typeface="Calibri" pitchFamily="34" charset="-122"/>
                <a:cs typeface="Calibri" pitchFamily="34" charset="-120"/>
              </a:rPr>
              <a:t>ServiceMonitor → target healthy</a:t>
            </a:r>
            <a:endParaRPr lang="en-US" sz="950" dirty="0"/>
          </a:p>
        </p:txBody>
      </p:sp>
      <p:sp>
        <p:nvSpPr>
          <p:cNvPr id="24" name="Text 20"/>
          <p:cNvSpPr/>
          <p:nvPr/>
        </p:nvSpPr>
        <p:spPr>
          <a:xfrm>
            <a:off x="548640" y="6263640"/>
            <a:ext cx="10972800" cy="274320"/>
          </a:xfrm>
          <a:prstGeom prst="rect">
            <a:avLst/>
          </a:prstGeom>
          <a:noFill/>
          <a:ln/>
        </p:spPr>
        <p:txBody>
          <a:bodyPr wrap="square" lIns="0" tIns="0" rIns="0" bIns="0" rtlCol="0" anchor="ctr"/>
          <a:lstStyle/>
          <a:p>
            <a:pPr indent="0" marL="0">
              <a:buNone/>
            </a:pPr>
            <a:r>
              <a:rPr lang="en-US" sz="1000" i="1" dirty="0">
                <a:solidFill>
                  <a:srgbClr val="63708A"/>
                </a:solidFill>
                <a:latin typeface="Calibri" pitchFamily="34" charset="0"/>
                <a:ea typeface="Calibri" pitchFamily="34" charset="-122"/>
                <a:cs typeface="Calibri" pitchFamily="34" charset="-120"/>
              </a:rPr>
              <a:t>Values recorded from the live Grafana board during the drift experiment; charts re-plotted for legibility.</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STAGE 3 · ALERTING</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Six rules: ops SLOs and model health, same pager</a:t>
            </a:r>
            <a:endParaRPr lang="en-US" sz="2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201400" cy="914400"/>
        </p:xfrm>
        <a:graphic>
          <a:graphicData uri="http://schemas.openxmlformats.org/drawingml/2006/table">
            <a:tbl>
              <a:tblPr/>
              <a:tblGrid>
                <a:gridCol w="2286000"/>
                <a:gridCol w="3108960"/>
                <a:gridCol w="1051560"/>
                <a:gridCol w="4754880"/>
              </a:tblGrid>
              <a:tr h="56692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Alert</a:t>
                      </a:r>
                      <a:endParaRPr lang="en-US" sz="11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Condition (PromQL, abridged)</a:t>
                      </a:r>
                      <a:endParaRPr lang="en-US" sz="11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Severity</a:t>
                      </a:r>
                      <a:endParaRPr lang="en-US" sz="11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1E276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Meaning</a:t>
                      </a:r>
                      <a:endParaRPr lang="en-US" sz="11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1E2761"/>
                    </a:solidFill>
                  </a:tcPr>
                </a:tc>
              </a:tr>
              <a:tr h="56692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HighInferenceLatency</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273044"/>
                          </a:solidFill>
                          <a:latin typeface="Courier New" pitchFamily="34" charset="0"/>
                          <a:ea typeface="Courier New" pitchFamily="34" charset="-122"/>
                          <a:cs typeface="Courier New" pitchFamily="34" charset="-120"/>
                        </a:rPr>
                        <a:t>p95 latency &gt; 1 s for 10 m</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E8590C"/>
                          </a:solidFill>
                          <a:latin typeface="Calibri" pitchFamily="34" charset="0"/>
                          <a:ea typeface="Calibri" pitchFamily="34" charset="-122"/>
                          <a:cs typeface="Calibri" pitchFamily="34" charset="-120"/>
                        </a:rPr>
                        <a:t>warning</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Serving is degrading — scale or investigate</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HighErrorRate</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273044"/>
                          </a:solidFill>
                          <a:latin typeface="Courier New" pitchFamily="34" charset="0"/>
                          <a:ea typeface="Courier New" pitchFamily="34" charset="-122"/>
                          <a:cs typeface="Courier New" pitchFamily="34" charset="-120"/>
                        </a:rPr>
                        <a:t>error share &gt; 5% for 5 m</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B3261E"/>
                          </a:solidFill>
                          <a:latin typeface="Calibri" pitchFamily="34" charset="0"/>
                          <a:ea typeface="Calibri" pitchFamily="34" charset="-122"/>
                          <a:cs typeface="Calibri" pitchFamily="34" charset="-120"/>
                        </a:rPr>
                        <a:t>critical</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Inference is failing on live traffic</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r>
              <a:tr h="56692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ServingDown</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273044"/>
                          </a:solidFill>
                          <a:latin typeface="Courier New" pitchFamily="34" charset="0"/>
                          <a:ea typeface="Courier New" pitchFamily="34" charset="-122"/>
                          <a:cs typeface="Courier New" pitchFamily="34" charset="-120"/>
                        </a:rPr>
                        <a:t>scrape target down 2 m</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B3261E"/>
                          </a:solidFill>
                          <a:latin typeface="Calibri" pitchFamily="34" charset="0"/>
                          <a:ea typeface="Calibri" pitchFamily="34" charset="-122"/>
                          <a:cs typeface="Calibri" pitchFamily="34" charset="-120"/>
                        </a:rPr>
                        <a:t>critical</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The model endpoint is gone</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r>
              <a:tr h="56692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DataDriftDetected</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273044"/>
                          </a:solidFill>
                          <a:latin typeface="Courier New" pitchFamily="34" charset="0"/>
                          <a:ea typeface="Courier New" pitchFamily="34" charset="-122"/>
                          <a:cs typeface="Courier New" pitchFamily="34" charset="-120"/>
                        </a:rPr>
                        <a:t>dataset_drift_detected == 1</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E8590C"/>
                          </a:solidFill>
                          <a:latin typeface="Calibri" pitchFamily="34" charset="0"/>
                          <a:ea typeface="Calibri" pitchFamily="34" charset="-122"/>
                          <a:cs typeface="Calibri" pitchFamily="34" charset="-120"/>
                        </a:rPr>
                        <a:t>warning</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b="1" dirty="0">
                          <a:solidFill>
                            <a:srgbClr val="273044"/>
                          </a:solidFill>
                          <a:latin typeface="Calibri" pitchFamily="34" charset="0"/>
                          <a:ea typeface="Calibri" pitchFamily="34" charset="-122"/>
                          <a:cs typeface="Calibri" pitchFamily="34" charset="-120"/>
                        </a:rPr>
                        <a:t>Input distribution shifted vs reference → FIRED ✓</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EAF4EC"/>
                    </a:solidFill>
                  </a:tcPr>
                </a:tc>
              </a:tr>
              <a:tr h="56692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DriftShareHigh</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273044"/>
                          </a:solidFill>
                          <a:latin typeface="Courier New" pitchFamily="34" charset="0"/>
                          <a:ea typeface="Courier New" pitchFamily="34" charset="-122"/>
                          <a:cs typeface="Courier New" pitchFamily="34" charset="-120"/>
                        </a:rPr>
                        <a:t>drift_share &gt; 0.5</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dirty="0">
                          <a:solidFill>
                            <a:srgbClr val="B3261E"/>
                          </a:solidFill>
                          <a:latin typeface="Calibri" pitchFamily="34" charset="0"/>
                          <a:ea typeface="Calibri" pitchFamily="34" charset="-122"/>
                          <a:cs typeface="Calibri" pitchFamily="34" charset="-120"/>
                        </a:rPr>
                        <a:t>critical</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FFFFF"/>
                    </a:solidFill>
                  </a:tcPr>
                </a:tc>
                <a:tc>
                  <a:txBody>
                    <a:bodyPr/>
                    <a:lstStyle/>
                    <a:p>
                      <a:pPr indent="0" marL="0">
                        <a:buNone/>
                      </a:pPr>
                      <a:r>
                        <a:rPr lang="en-US" sz="1050" b="1" dirty="0">
                          <a:solidFill>
                            <a:srgbClr val="273044"/>
                          </a:solidFill>
                          <a:latin typeface="Calibri" pitchFamily="34" charset="0"/>
                          <a:ea typeface="Calibri" pitchFamily="34" charset="-122"/>
                          <a:cs typeface="Calibri" pitchFamily="34" charset="-120"/>
                        </a:rPr>
                        <a:t>Majority of features drifting → retrain now → FIRED ✓</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EAF4EC"/>
                    </a:solidFill>
                  </a:tcPr>
                </a:tc>
              </a:tr>
              <a:tr h="566928">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ConfidenceCollapse</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273044"/>
                          </a:solidFill>
                          <a:latin typeface="Courier New" pitchFamily="34" charset="0"/>
                          <a:ea typeface="Courier New" pitchFamily="34" charset="-122"/>
                          <a:cs typeface="Courier New" pitchFamily="34" charset="-120"/>
                        </a:rPr>
                        <a:t>median confidence &lt; 0.45 for 30 m</a:t>
                      </a:r>
                      <a:endParaRPr lang="en-US" sz="1050" dirty="0">
                        <a:latin typeface="Courier New" charset="0"/>
                        <a:ea typeface="Courier New" charset="0"/>
                        <a:cs typeface="Courier New"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E8590C"/>
                          </a:solidFill>
                          <a:latin typeface="Calibri" pitchFamily="34" charset="0"/>
                          <a:ea typeface="Calibri" pitchFamily="34" charset="-122"/>
                          <a:cs typeface="Calibri" pitchFamily="34" charset="-120"/>
                        </a:rPr>
                        <a:t>warning</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c>
                  <a:txBody>
                    <a:bodyPr/>
                    <a:lstStyle/>
                    <a:p>
                      <a:pPr indent="0" marL="0">
                        <a:buNone/>
                      </a:pPr>
                      <a:r>
                        <a:rPr lang="en-US" sz="1050" dirty="0">
                          <a:solidFill>
                            <a:srgbClr val="273044"/>
                          </a:solidFill>
                          <a:latin typeface="Calibri" pitchFamily="34" charset="0"/>
                          <a:ea typeface="Calibri" pitchFamily="34" charset="-122"/>
                          <a:cs typeface="Calibri" pitchFamily="34" charset="-120"/>
                        </a:rPr>
                        <a:t>Silent decay: model unsure about what it sees</a:t>
                      </a:r>
                      <a:endParaRPr lang="en-US" sz="1050" dirty="0">
                        <a:latin typeface="Calibri" charset="0"/>
                        <a:ea typeface="Calibri" charset="0"/>
                        <a:cs typeface="Calibri" charset="0"/>
                      </a:endParaRPr>
                    </a:p>
                  </a:txBody>
                  <a:tcPr marL="91440" marR="91440" marT="45720" marB="45720" anchor="ctr">
                    <a:lnL w="6350" cap="flat" cmpd="sng" algn="ctr">
                      <a:solidFill>
                        <a:srgbClr val="DCE4F2"/>
                      </a:solidFill>
                      <a:prstDash val="solid"/>
                      <a:round/>
                      <a:headEnd type="none" w="med" len="med"/>
                      <a:tailEnd type="none" w="med" len="med"/>
                    </a:lnL>
                    <a:lnR w="6350" cap="flat" cmpd="sng" algn="ctr">
                      <a:solidFill>
                        <a:srgbClr val="DCE4F2"/>
                      </a:solidFill>
                      <a:prstDash val="solid"/>
                      <a:round/>
                      <a:headEnd type="none" w="med" len="med"/>
                      <a:tailEnd type="none" w="med" len="med"/>
                    </a:lnR>
                    <a:lnT w="6350" cap="flat" cmpd="sng" algn="ctr">
                      <a:solidFill>
                        <a:srgbClr val="DCE4F2"/>
                      </a:solidFill>
                      <a:prstDash val="solid"/>
                      <a:round/>
                      <a:headEnd type="none" w="med" len="med"/>
                      <a:tailEnd type="none" w="med" len="med"/>
                    </a:lnT>
                    <a:lnB w="6350" cap="flat" cmpd="sng" algn="ctr">
                      <a:solidFill>
                        <a:srgbClr val="DCE4F2"/>
                      </a:solidFill>
                      <a:prstDash val="solid"/>
                      <a:round/>
                      <a:headEnd type="none" w="med" len="med"/>
                      <a:tailEnd type="none" w="med" len="med"/>
                    </a:lnB>
                    <a:solidFill>
                      <a:srgbClr val="F0F4FB"/>
                    </a:solidFill>
                  </a:tcPr>
                </a:tc>
              </a:tr>
            </a:tbl>
          </a:graphicData>
        </a:graphic>
      </p:graphicFrame>
      <p:sp>
        <p:nvSpPr>
          <p:cNvPr id="5" name="Text 2"/>
          <p:cNvSpPr/>
          <p:nvPr/>
        </p:nvSpPr>
        <p:spPr>
          <a:xfrm>
            <a:off x="502920" y="5943600"/>
            <a:ext cx="11155680" cy="502920"/>
          </a:xfrm>
          <a:prstGeom prst="rect">
            <a:avLst/>
          </a:prstGeom>
          <a:noFill/>
          <a:ln/>
        </p:spPr>
        <p:txBody>
          <a:bodyPr wrap="square" lIns="0" tIns="0" rIns="0" bIns="0" rtlCol="0" anchor="ctr"/>
          <a:lstStyle/>
          <a:p>
            <a:pPr indent="0" marL="0">
              <a:buNone/>
            </a:pPr>
            <a:r>
              <a:rPr lang="en-US" sz="1200" i="1" dirty="0">
                <a:solidFill>
                  <a:srgbClr val="63708A"/>
                </a:solidFill>
                <a:latin typeface="Calibri" pitchFamily="34" charset="0"/>
                <a:ea typeface="Calibri" pitchFamily="34" charset="-122"/>
                <a:cs typeface="Calibri" pitchFamily="34" charset="-120"/>
              </a:rPr>
              <a:t>The two drift rules fired during the experiment (next slides) and are visible in Alertmanager — model health pages exactly like an outage does.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STAGE 4 · MAINTAIN</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Drift detection: statistics on live features, alerts on the shared plane</a:t>
            </a:r>
            <a:endParaRPr lang="en-US" sz="2700" dirty="0"/>
          </a:p>
        </p:txBody>
      </p:sp>
      <p:sp>
        <p:nvSpPr>
          <p:cNvPr id="4" name="Shape 2"/>
          <p:cNvSpPr/>
          <p:nvPr/>
        </p:nvSpPr>
        <p:spPr>
          <a:xfrm>
            <a:off x="548640" y="1463040"/>
            <a:ext cx="1920240" cy="1280160"/>
          </a:xfrm>
          <a:prstGeom prst="roundRect">
            <a:avLst>
              <a:gd name="adj" fmla="val 5000"/>
            </a:avLst>
          </a:prstGeom>
          <a:solidFill>
            <a:srgbClr val="FFFFFF"/>
          </a:solidFill>
          <a:ln w="9525">
            <a:solidFill>
              <a:srgbClr val="DCE4F2"/>
            </a:solidFill>
            <a:prstDash val="solid"/>
          </a:ln>
        </p:spPr>
      </p:sp>
      <p:pic>
        <p:nvPicPr>
          <p:cNvPr id="5" name="Image 0" descr="deck-assets/fastapi.png">    </p:cNvPr>
          <p:cNvPicPr>
            <a:picLocks noChangeAspect="1"/>
          </p:cNvPicPr>
          <p:nvPr/>
        </p:nvPicPr>
        <p:blipFill>
          <a:blip r:embed="rId1"/>
          <a:stretch>
            <a:fillRect/>
          </a:stretch>
        </p:blipFill>
        <p:spPr>
          <a:xfrm>
            <a:off x="1316736" y="1572768"/>
            <a:ext cx="384048" cy="384048"/>
          </a:xfrm>
          <a:prstGeom prst="rect">
            <a:avLst/>
          </a:prstGeom>
        </p:spPr>
      </p:pic>
      <p:sp>
        <p:nvSpPr>
          <p:cNvPr id="6" name="Text 3"/>
          <p:cNvSpPr/>
          <p:nvPr/>
        </p:nvSpPr>
        <p:spPr>
          <a:xfrm>
            <a:off x="585216"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Serving logs features</a:t>
            </a:r>
            <a:endParaRPr lang="en-US" sz="1100" dirty="0"/>
          </a:p>
        </p:txBody>
      </p:sp>
      <p:sp>
        <p:nvSpPr>
          <p:cNvPr id="7" name="Text 4"/>
          <p:cNvSpPr/>
          <p:nvPr/>
        </p:nvSpPr>
        <p:spPr>
          <a:xfrm>
            <a:off x="585216"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JSONL per request → EBS volume</a:t>
            </a:r>
            <a:endParaRPr lang="en-US" sz="850" dirty="0"/>
          </a:p>
        </p:txBody>
      </p:sp>
      <p:sp>
        <p:nvSpPr>
          <p:cNvPr id="8" name="Shape 5"/>
          <p:cNvSpPr/>
          <p:nvPr/>
        </p:nvSpPr>
        <p:spPr>
          <a:xfrm>
            <a:off x="2468880" y="2103120"/>
            <a:ext cx="384048" cy="0"/>
          </a:xfrm>
          <a:prstGeom prst="line">
            <a:avLst/>
          </a:prstGeom>
          <a:noFill/>
          <a:ln w="22225">
            <a:solidFill>
              <a:srgbClr val="63708A"/>
            </a:solidFill>
            <a:prstDash val="solid"/>
            <a:tailEnd type="triangle"/>
          </a:ln>
        </p:spPr>
      </p:sp>
      <p:sp>
        <p:nvSpPr>
          <p:cNvPr id="9" name="Shape 6"/>
          <p:cNvSpPr/>
          <p:nvPr/>
        </p:nvSpPr>
        <p:spPr>
          <a:xfrm>
            <a:off x="2852928" y="1463040"/>
            <a:ext cx="1920240" cy="1280160"/>
          </a:xfrm>
          <a:prstGeom prst="roundRect">
            <a:avLst>
              <a:gd name="adj" fmla="val 5000"/>
            </a:avLst>
          </a:prstGeom>
          <a:solidFill>
            <a:srgbClr val="FFFFFF"/>
          </a:solidFill>
          <a:ln w="9525">
            <a:solidFill>
              <a:srgbClr val="DCE4F2"/>
            </a:solidFill>
            <a:prstDash val="solid"/>
          </a:ln>
        </p:spPr>
      </p:sp>
      <p:pic>
        <p:nvPicPr>
          <p:cNvPr id="10" name="Image 1" descr="deck-assets/python.png">    </p:cNvPr>
          <p:cNvPicPr>
            <a:picLocks noChangeAspect="1"/>
          </p:cNvPicPr>
          <p:nvPr/>
        </p:nvPicPr>
        <p:blipFill>
          <a:blip r:embed="rId2"/>
          <a:stretch>
            <a:fillRect/>
          </a:stretch>
        </p:blipFill>
        <p:spPr>
          <a:xfrm>
            <a:off x="3621024" y="1572768"/>
            <a:ext cx="384048" cy="384048"/>
          </a:xfrm>
          <a:prstGeom prst="rect">
            <a:avLst/>
          </a:prstGeom>
        </p:spPr>
      </p:pic>
      <p:sp>
        <p:nvSpPr>
          <p:cNvPr id="11" name="Text 7"/>
          <p:cNvSpPr/>
          <p:nvPr/>
        </p:nvSpPr>
        <p:spPr>
          <a:xfrm>
            <a:off x="2889504"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Evidently CronJob (hourly)</a:t>
            </a:r>
            <a:endParaRPr lang="en-US" sz="1100" dirty="0"/>
          </a:p>
        </p:txBody>
      </p:sp>
      <p:sp>
        <p:nvSpPr>
          <p:cNvPr id="12" name="Text 8"/>
          <p:cNvSpPr/>
          <p:nvPr/>
        </p:nvSpPr>
        <p:spPr>
          <a:xfrm>
            <a:off x="2889504"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current window vs reference window</a:t>
            </a:r>
            <a:endParaRPr lang="en-US" sz="850" dirty="0"/>
          </a:p>
        </p:txBody>
      </p:sp>
      <p:sp>
        <p:nvSpPr>
          <p:cNvPr id="13" name="Shape 9"/>
          <p:cNvSpPr/>
          <p:nvPr/>
        </p:nvSpPr>
        <p:spPr>
          <a:xfrm>
            <a:off x="4773168" y="2103120"/>
            <a:ext cx="384048" cy="0"/>
          </a:xfrm>
          <a:prstGeom prst="line">
            <a:avLst/>
          </a:prstGeom>
          <a:noFill/>
          <a:ln w="22225">
            <a:solidFill>
              <a:srgbClr val="63708A"/>
            </a:solidFill>
            <a:prstDash val="solid"/>
            <a:tailEnd type="triangle"/>
          </a:ln>
        </p:spPr>
      </p:sp>
      <p:sp>
        <p:nvSpPr>
          <p:cNvPr id="14" name="Shape 10"/>
          <p:cNvSpPr/>
          <p:nvPr/>
        </p:nvSpPr>
        <p:spPr>
          <a:xfrm>
            <a:off x="5157216" y="1463040"/>
            <a:ext cx="1920240" cy="1280160"/>
          </a:xfrm>
          <a:prstGeom prst="roundRect">
            <a:avLst>
              <a:gd name="adj" fmla="val 5000"/>
            </a:avLst>
          </a:prstGeom>
          <a:solidFill>
            <a:srgbClr val="FFFFFF"/>
          </a:solidFill>
          <a:ln w="9525">
            <a:solidFill>
              <a:srgbClr val="DCE4F2"/>
            </a:solidFill>
            <a:prstDash val="solid"/>
          </a:ln>
        </p:spPr>
      </p:sp>
      <p:pic>
        <p:nvPicPr>
          <p:cNvPr id="15" name="Image 2" descr="deck-assets/gear.png">    </p:cNvPr>
          <p:cNvPicPr>
            <a:picLocks noChangeAspect="1"/>
          </p:cNvPicPr>
          <p:nvPr/>
        </p:nvPicPr>
        <p:blipFill>
          <a:blip r:embed="rId3"/>
          <a:stretch>
            <a:fillRect/>
          </a:stretch>
        </p:blipFill>
        <p:spPr>
          <a:xfrm>
            <a:off x="5925312" y="1572768"/>
            <a:ext cx="384048" cy="384048"/>
          </a:xfrm>
          <a:prstGeom prst="rect">
            <a:avLst/>
          </a:prstGeom>
        </p:spPr>
      </p:pic>
      <p:sp>
        <p:nvSpPr>
          <p:cNvPr id="16" name="Text 11"/>
          <p:cNvSpPr/>
          <p:nvPr/>
        </p:nvSpPr>
        <p:spPr>
          <a:xfrm>
            <a:off x="5193792"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Statistical tests per feature</a:t>
            </a:r>
            <a:endParaRPr lang="en-US" sz="1100" dirty="0"/>
          </a:p>
        </p:txBody>
      </p:sp>
      <p:sp>
        <p:nvSpPr>
          <p:cNvPr id="17" name="Text 12"/>
          <p:cNvSpPr/>
          <p:nvPr/>
        </p:nvSpPr>
        <p:spPr>
          <a:xfrm>
            <a:off x="5193792"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drift score · dataset-level verdict</a:t>
            </a:r>
            <a:endParaRPr lang="en-US" sz="850" dirty="0"/>
          </a:p>
        </p:txBody>
      </p:sp>
      <p:sp>
        <p:nvSpPr>
          <p:cNvPr id="18" name="Shape 13"/>
          <p:cNvSpPr/>
          <p:nvPr/>
        </p:nvSpPr>
        <p:spPr>
          <a:xfrm>
            <a:off x="7077456" y="2103120"/>
            <a:ext cx="384048" cy="0"/>
          </a:xfrm>
          <a:prstGeom prst="line">
            <a:avLst/>
          </a:prstGeom>
          <a:noFill/>
          <a:ln w="22225">
            <a:solidFill>
              <a:srgbClr val="63708A"/>
            </a:solidFill>
            <a:prstDash val="solid"/>
            <a:tailEnd type="triangle"/>
          </a:ln>
        </p:spPr>
      </p:sp>
      <p:sp>
        <p:nvSpPr>
          <p:cNvPr id="19" name="Shape 14"/>
          <p:cNvSpPr/>
          <p:nvPr/>
        </p:nvSpPr>
        <p:spPr>
          <a:xfrm>
            <a:off x="7461504" y="1463040"/>
            <a:ext cx="1920240" cy="1280160"/>
          </a:xfrm>
          <a:prstGeom prst="roundRect">
            <a:avLst>
              <a:gd name="adj" fmla="val 5000"/>
            </a:avLst>
          </a:prstGeom>
          <a:solidFill>
            <a:srgbClr val="FFFFFF"/>
          </a:solidFill>
          <a:ln w="9525">
            <a:solidFill>
              <a:srgbClr val="DCE4F2"/>
            </a:solidFill>
            <a:prstDash val="solid"/>
          </a:ln>
        </p:spPr>
      </p:sp>
      <p:pic>
        <p:nvPicPr>
          <p:cNvPr id="20" name="Image 3" descr="deck-assets/prometheus.png">    </p:cNvPr>
          <p:cNvPicPr>
            <a:picLocks noChangeAspect="1"/>
          </p:cNvPicPr>
          <p:nvPr/>
        </p:nvPicPr>
        <p:blipFill>
          <a:blip r:embed="rId4"/>
          <a:stretch>
            <a:fillRect/>
          </a:stretch>
        </p:blipFill>
        <p:spPr>
          <a:xfrm>
            <a:off x="8229600" y="1572768"/>
            <a:ext cx="384048" cy="384048"/>
          </a:xfrm>
          <a:prstGeom prst="rect">
            <a:avLst/>
          </a:prstGeom>
        </p:spPr>
      </p:pic>
      <p:sp>
        <p:nvSpPr>
          <p:cNvPr id="21" name="Text 15"/>
          <p:cNvSpPr/>
          <p:nvPr/>
        </p:nvSpPr>
        <p:spPr>
          <a:xfrm>
            <a:off x="7498080"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Pushgateway → Prometheus</a:t>
            </a:r>
            <a:endParaRPr lang="en-US" sz="1100" dirty="0"/>
          </a:p>
        </p:txBody>
      </p:sp>
      <p:sp>
        <p:nvSpPr>
          <p:cNvPr id="22" name="Text 16"/>
          <p:cNvSpPr/>
          <p:nvPr/>
        </p:nvSpPr>
        <p:spPr>
          <a:xfrm>
            <a:off x="7498080"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drift_share · per-feature scores</a:t>
            </a:r>
            <a:endParaRPr lang="en-US" sz="850" dirty="0"/>
          </a:p>
        </p:txBody>
      </p:sp>
      <p:sp>
        <p:nvSpPr>
          <p:cNvPr id="23" name="Shape 17"/>
          <p:cNvSpPr/>
          <p:nvPr/>
        </p:nvSpPr>
        <p:spPr>
          <a:xfrm>
            <a:off x="9381744" y="2103120"/>
            <a:ext cx="384048" cy="0"/>
          </a:xfrm>
          <a:prstGeom prst="line">
            <a:avLst/>
          </a:prstGeom>
          <a:noFill/>
          <a:ln w="22225">
            <a:solidFill>
              <a:srgbClr val="63708A"/>
            </a:solidFill>
            <a:prstDash val="solid"/>
            <a:tailEnd type="triangle"/>
          </a:ln>
        </p:spPr>
      </p:sp>
      <p:sp>
        <p:nvSpPr>
          <p:cNvPr id="24" name="Shape 18"/>
          <p:cNvSpPr/>
          <p:nvPr/>
        </p:nvSpPr>
        <p:spPr>
          <a:xfrm>
            <a:off x="9765792" y="1463040"/>
            <a:ext cx="1920240" cy="1280160"/>
          </a:xfrm>
          <a:prstGeom prst="roundRect">
            <a:avLst>
              <a:gd name="adj" fmla="val 5000"/>
            </a:avLst>
          </a:prstGeom>
          <a:solidFill>
            <a:srgbClr val="FFFFFF"/>
          </a:solidFill>
          <a:ln w="9525">
            <a:solidFill>
              <a:srgbClr val="DCE4F2"/>
            </a:solidFill>
            <a:prstDash val="solid"/>
          </a:ln>
        </p:spPr>
      </p:sp>
      <p:pic>
        <p:nvPicPr>
          <p:cNvPr id="25" name="Image 4" descr="deck-assets/alert.png">    </p:cNvPr>
          <p:cNvPicPr>
            <a:picLocks noChangeAspect="1"/>
          </p:cNvPicPr>
          <p:nvPr/>
        </p:nvPicPr>
        <p:blipFill>
          <a:blip r:embed="rId5"/>
          <a:stretch>
            <a:fillRect/>
          </a:stretch>
        </p:blipFill>
        <p:spPr>
          <a:xfrm>
            <a:off x="10533888" y="1572768"/>
            <a:ext cx="384048" cy="384048"/>
          </a:xfrm>
          <a:prstGeom prst="rect">
            <a:avLst/>
          </a:prstGeom>
        </p:spPr>
      </p:pic>
      <p:sp>
        <p:nvSpPr>
          <p:cNvPr id="26" name="Text 19"/>
          <p:cNvSpPr/>
          <p:nvPr/>
        </p:nvSpPr>
        <p:spPr>
          <a:xfrm>
            <a:off x="9802368" y="1975104"/>
            <a:ext cx="1847088" cy="310896"/>
          </a:xfrm>
          <a:prstGeom prst="rect">
            <a:avLst/>
          </a:prstGeom>
          <a:noFill/>
          <a:ln/>
        </p:spPr>
        <p:txBody>
          <a:bodyPr wrap="square" lIns="0" tIns="0" rIns="0" bIns="0" rtlCol="0" anchor="ctr"/>
          <a:lstStyle/>
          <a:p>
            <a:pPr algn="ctr" indent="0" marL="0">
              <a:buNone/>
            </a:pPr>
            <a:r>
              <a:rPr lang="en-US" sz="1100" b="1" dirty="0">
                <a:solidFill>
                  <a:srgbClr val="273044"/>
                </a:solidFill>
                <a:latin typeface="Calibri" pitchFamily="34" charset="0"/>
                <a:ea typeface="Calibri" pitchFamily="34" charset="-122"/>
                <a:cs typeface="Calibri" pitchFamily="34" charset="-120"/>
              </a:rPr>
              <a:t>Alertmanager fires</a:t>
            </a:r>
            <a:endParaRPr lang="en-US" sz="1100" dirty="0"/>
          </a:p>
        </p:txBody>
      </p:sp>
      <p:sp>
        <p:nvSpPr>
          <p:cNvPr id="27" name="Text 20"/>
          <p:cNvSpPr/>
          <p:nvPr/>
        </p:nvSpPr>
        <p:spPr>
          <a:xfrm>
            <a:off x="9802368" y="2249424"/>
            <a:ext cx="1847088" cy="274320"/>
          </a:xfrm>
          <a:prstGeom prst="rect">
            <a:avLst/>
          </a:prstGeom>
          <a:noFill/>
          <a:ln/>
        </p:spPr>
        <p:txBody>
          <a:bodyPr wrap="square" lIns="0" tIns="0" rIns="0" bIns="0" rtlCol="0" anchor="ctr"/>
          <a:lstStyle/>
          <a:p>
            <a:pPr algn="ctr" indent="0" marL="0">
              <a:buNone/>
            </a:pPr>
            <a:r>
              <a:rPr lang="en-US" sz="850" dirty="0">
                <a:solidFill>
                  <a:srgbClr val="63708A"/>
                </a:solidFill>
                <a:latin typeface="Calibri" pitchFamily="34" charset="0"/>
                <a:ea typeface="Calibri" pitchFamily="34" charset="-122"/>
                <a:cs typeface="Calibri" pitchFamily="34" charset="-120"/>
              </a:rPr>
              <a:t>→ human review → make retrain</a:t>
            </a:r>
            <a:endParaRPr lang="en-US" sz="850" dirty="0"/>
          </a:p>
        </p:txBody>
      </p:sp>
      <p:sp>
        <p:nvSpPr>
          <p:cNvPr id="28" name="Shape 21"/>
          <p:cNvSpPr/>
          <p:nvPr/>
        </p:nvSpPr>
        <p:spPr>
          <a:xfrm>
            <a:off x="548640" y="3108960"/>
            <a:ext cx="5394960" cy="3017520"/>
          </a:xfrm>
          <a:prstGeom prst="roundRect">
            <a:avLst>
              <a:gd name="adj" fmla="val 2121"/>
            </a:avLst>
          </a:prstGeom>
          <a:solidFill>
            <a:srgbClr val="F0F4FB"/>
          </a:solidFill>
          <a:ln w="9525">
            <a:solidFill>
              <a:srgbClr val="DCE4F2"/>
            </a:solidFill>
            <a:prstDash val="solid"/>
          </a:ln>
        </p:spPr>
      </p:sp>
      <p:sp>
        <p:nvSpPr>
          <p:cNvPr id="29" name="Text 22"/>
          <p:cNvSpPr/>
          <p:nvPr/>
        </p:nvSpPr>
        <p:spPr>
          <a:xfrm>
            <a:off x="777240" y="3273552"/>
            <a:ext cx="493776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Features monitored (cheap, model-agnostic)</a:t>
            </a:r>
            <a:endParaRPr lang="en-US" sz="1350" dirty="0"/>
          </a:p>
        </p:txBody>
      </p:sp>
      <p:sp>
        <p:nvSpPr>
          <p:cNvPr id="30" name="Text 23"/>
          <p:cNvSpPr/>
          <p:nvPr/>
        </p:nvSpPr>
        <p:spPr>
          <a:xfrm>
            <a:off x="777240" y="3657600"/>
            <a:ext cx="4983480" cy="2377440"/>
          </a:xfrm>
          <a:prstGeom prst="rect">
            <a:avLst/>
          </a:prstGeom>
          <a:noFill/>
          <a:ln/>
        </p:spPr>
        <p:txBody>
          <a:bodyPr wrap="square" lIns="0" tIns="0" rIns="0" bIns="0" rtlCol="0" anchor="t"/>
          <a:lstStyle/>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Input-side: image brightness, contrast, resolution — catches camera/lighting/pipeline changes before accuracy visibly drops</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Prediction-side: detections per image, mean confidence, top class — catches model-behavior shifts even when inputs look similar</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Reference window bootstraps from the first healthy traffic; re-baseline after every promoted retrain</a:t>
            </a:r>
            <a:endParaRPr lang="en-US" sz="1100" dirty="0"/>
          </a:p>
        </p:txBody>
      </p:sp>
      <p:sp>
        <p:nvSpPr>
          <p:cNvPr id="31" name="Shape 24"/>
          <p:cNvSpPr/>
          <p:nvPr/>
        </p:nvSpPr>
        <p:spPr>
          <a:xfrm>
            <a:off x="6172200" y="3108960"/>
            <a:ext cx="5532120" cy="3017520"/>
          </a:xfrm>
          <a:prstGeom prst="roundRect">
            <a:avLst>
              <a:gd name="adj" fmla="val 2121"/>
            </a:avLst>
          </a:prstGeom>
          <a:solidFill>
            <a:srgbClr val="FFFFFF"/>
          </a:solidFill>
          <a:ln w="9525">
            <a:solidFill>
              <a:srgbClr val="DCE4F2"/>
            </a:solidFill>
            <a:prstDash val="solid"/>
          </a:ln>
        </p:spPr>
      </p:sp>
      <p:sp>
        <p:nvSpPr>
          <p:cNvPr id="32" name="Text 25"/>
          <p:cNvSpPr/>
          <p:nvPr/>
        </p:nvSpPr>
        <p:spPr>
          <a:xfrm>
            <a:off x="6400800" y="3273552"/>
            <a:ext cx="5029200" cy="32004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Design choices</a:t>
            </a:r>
            <a:endParaRPr lang="en-US" sz="1350" dirty="0"/>
          </a:p>
        </p:txBody>
      </p:sp>
      <p:sp>
        <p:nvSpPr>
          <p:cNvPr id="33" name="Text 26"/>
          <p:cNvSpPr/>
          <p:nvPr/>
        </p:nvSpPr>
        <p:spPr>
          <a:xfrm>
            <a:off x="6400800" y="3657600"/>
            <a:ext cx="5074920" cy="2377440"/>
          </a:xfrm>
          <a:prstGeom prst="rect">
            <a:avLst/>
          </a:prstGeom>
          <a:noFill/>
          <a:ln/>
        </p:spPr>
        <p:txBody>
          <a:bodyPr wrap="square" lIns="0" tIns="0" rIns="0" bIns="0" rtlCol="0" anchor="t"/>
          <a:lstStyle/>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No ground-truth labels needed in production — drift is measured on inputs and outputs, which is what you actually have</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CronJob + Pushgateway because batch jobs can’t be scraped reliably — push, then let Prometheus own retention and alerting</a:t>
            </a:r>
            <a:endParaRPr lang="en-US" sz="1100" dirty="0"/>
          </a:p>
          <a:p>
            <a:pPr marL="127000" indent="-127000">
              <a:spcAft>
                <a:spcPts val="800"/>
              </a:spcAft>
              <a:buSzPct val="100000"/>
              <a:buChar char="•"/>
            </a:pPr>
            <a:r>
              <a:rPr lang="en-US" sz="1100" dirty="0">
                <a:solidFill>
                  <a:srgbClr val="273044"/>
                </a:solidFill>
                <a:latin typeface="Calibri" pitchFamily="34" charset="0"/>
                <a:ea typeface="Calibri" pitchFamily="34" charset="-122"/>
                <a:cs typeface="Calibri" pitchFamily="34" charset="-120"/>
              </a:rPr>
              <a:t>Retraining stays human-triggered (workflow_dispatch) until the gate has earned trust — automation is the last step, not the first</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STAGE 4 · THE EXPERIMENT</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Inject drift, watch the system catch it</a:t>
            </a:r>
            <a:endParaRPr lang="en-US" sz="2700" dirty="0"/>
          </a:p>
        </p:txBody>
      </p:sp>
      <p:sp>
        <p:nvSpPr>
          <p:cNvPr id="4" name="Shape 2"/>
          <p:cNvSpPr/>
          <p:nvPr/>
        </p:nvSpPr>
        <p:spPr>
          <a:xfrm>
            <a:off x="548640" y="1371600"/>
            <a:ext cx="5394960" cy="2377440"/>
          </a:xfrm>
          <a:prstGeom prst="roundRect">
            <a:avLst>
              <a:gd name="adj" fmla="val 2692"/>
            </a:avLst>
          </a:prstGeom>
          <a:solidFill>
            <a:srgbClr val="F0F4FB"/>
          </a:solidFill>
          <a:ln w="9525">
            <a:solidFill>
              <a:srgbClr val="DCE4F2"/>
            </a:solidFill>
            <a:prstDash val="solid"/>
          </a:ln>
        </p:spPr>
      </p:sp>
      <p:sp>
        <p:nvSpPr>
          <p:cNvPr id="5" name="Text 3"/>
          <p:cNvSpPr/>
          <p:nvPr/>
        </p:nvSpPr>
        <p:spPr>
          <a:xfrm>
            <a:off x="777240" y="1536192"/>
            <a:ext cx="4846320" cy="256032"/>
          </a:xfrm>
          <a:prstGeom prst="rect">
            <a:avLst/>
          </a:prstGeom>
          <a:noFill/>
          <a:ln/>
        </p:spPr>
        <p:txBody>
          <a:bodyPr wrap="square" lIns="0" tIns="0" rIns="0" bIns="0" rtlCol="0" anchor="ctr"/>
          <a:lstStyle/>
          <a:p>
            <a:pPr indent="0" marL="0">
              <a:buNone/>
            </a:pPr>
            <a:r>
              <a:rPr lang="en-US" sz="1050" b="1" spc="150" kern="0" dirty="0">
                <a:solidFill>
                  <a:srgbClr val="63708A"/>
                </a:solidFill>
                <a:latin typeface="Calibri" pitchFamily="34" charset="0"/>
                <a:ea typeface="Calibri" pitchFamily="34" charset="-122"/>
                <a:cs typeface="Calibri" pitchFamily="34" charset="-120"/>
              </a:rPr>
              <a:t>BASELINE WINDOW</a:t>
            </a:r>
            <a:endParaRPr lang="en-US" sz="1050" dirty="0"/>
          </a:p>
        </p:txBody>
      </p:sp>
      <p:sp>
        <p:nvSpPr>
          <p:cNvPr id="6" name="Text 4"/>
          <p:cNvSpPr/>
          <p:nvPr/>
        </p:nvSpPr>
        <p:spPr>
          <a:xfrm>
            <a:off x="777240" y="1847088"/>
            <a:ext cx="4937760" cy="1737360"/>
          </a:xfrm>
          <a:prstGeom prst="rect">
            <a:avLst/>
          </a:prstGeom>
          <a:noFill/>
          <a:ln/>
        </p:spPr>
        <p:txBody>
          <a:bodyPr wrap="square" lIns="0" tIns="0" rIns="0" bIns="0" rtlCol="0" anchor="t"/>
          <a:lstStyle/>
          <a:p>
            <a:pPr marL="127000" indent="-127000">
              <a:spcAft>
                <a:spcPts val="800"/>
              </a:spcAft>
              <a:buSzPct val="100000"/>
              <a:buChar char="•"/>
            </a:pPr>
            <a:r>
              <a:rPr lang="en-US" sz="1150" dirty="0">
                <a:solidFill>
                  <a:srgbClr val="273044"/>
                </a:solidFill>
                <a:latin typeface="Calibri" pitchFamily="34" charset="0"/>
                <a:ea typeface="Calibri" pitchFamily="34" charset="-122"/>
                <a:cs typeface="Calibri" pitchFamily="34" charset="-120"/>
              </a:rPr>
              <a:t>31 requests with a normal street photo (the classic Ultralytics bus scene)</a:t>
            </a:r>
            <a:endParaRPr lang="en-US" sz="1150" dirty="0"/>
          </a:p>
          <a:p>
            <a:pPr marL="127000" indent="-127000">
              <a:spcAft>
                <a:spcPts val="800"/>
              </a:spcAft>
              <a:buSzPct val="100000"/>
              <a:buChar char="•"/>
            </a:pPr>
            <a:r>
              <a:rPr lang="en-US" sz="1150" dirty="0">
                <a:solidFill>
                  <a:srgbClr val="273044"/>
                </a:solidFill>
                <a:latin typeface="Calibri" pitchFamily="34" charset="0"/>
                <a:ea typeface="Calibri" pitchFamily="34" charset="-122"/>
                <a:cs typeface="Calibri" pitchFamily="34" charset="-120"/>
              </a:rPr>
              <a:t>Drift job run #1: “Bootstrapped reference window with 31 records” — this traffic becomes the definition of normal</a:t>
            </a:r>
            <a:endParaRPr lang="en-US" sz="1150" dirty="0"/>
          </a:p>
        </p:txBody>
      </p:sp>
      <p:sp>
        <p:nvSpPr>
          <p:cNvPr id="7" name="Shape 5"/>
          <p:cNvSpPr/>
          <p:nvPr/>
        </p:nvSpPr>
        <p:spPr>
          <a:xfrm>
            <a:off x="6263640" y="1371600"/>
            <a:ext cx="5440680" cy="2377440"/>
          </a:xfrm>
          <a:prstGeom prst="roundRect">
            <a:avLst>
              <a:gd name="adj" fmla="val 2692"/>
            </a:avLst>
          </a:prstGeom>
          <a:solidFill>
            <a:srgbClr val="FFF4EC"/>
          </a:solidFill>
          <a:ln w="9525">
            <a:solidFill>
              <a:srgbClr val="E8590C"/>
            </a:solidFill>
            <a:prstDash val="solid"/>
          </a:ln>
        </p:spPr>
      </p:sp>
      <p:sp>
        <p:nvSpPr>
          <p:cNvPr id="8" name="Text 6"/>
          <p:cNvSpPr/>
          <p:nvPr/>
        </p:nvSpPr>
        <p:spPr>
          <a:xfrm>
            <a:off x="6492240" y="1536192"/>
            <a:ext cx="4846320" cy="256032"/>
          </a:xfrm>
          <a:prstGeom prst="rect">
            <a:avLst/>
          </a:prstGeom>
          <a:noFill/>
          <a:ln/>
        </p:spPr>
        <p:txBody>
          <a:bodyPr wrap="square" lIns="0" tIns="0" rIns="0" bIns="0" rtlCol="0" anchor="ctr"/>
          <a:lstStyle/>
          <a:p>
            <a:pPr indent="0" marL="0">
              <a:buNone/>
            </a:pPr>
            <a:r>
              <a:rPr lang="en-US" sz="1050" b="1" spc="150" kern="0" dirty="0">
                <a:solidFill>
                  <a:srgbClr val="E8590C"/>
                </a:solidFill>
                <a:latin typeface="Calibri" pitchFamily="34" charset="0"/>
                <a:ea typeface="Calibri" pitchFamily="34" charset="-122"/>
                <a:cs typeface="Calibri" pitchFamily="34" charset="-120"/>
              </a:rPr>
              <a:t>DRIFTED WINDOW</a:t>
            </a:r>
            <a:endParaRPr lang="en-US" sz="1050" dirty="0"/>
          </a:p>
        </p:txBody>
      </p:sp>
      <p:sp>
        <p:nvSpPr>
          <p:cNvPr id="9" name="Text 7"/>
          <p:cNvSpPr/>
          <p:nvPr/>
        </p:nvSpPr>
        <p:spPr>
          <a:xfrm>
            <a:off x="6492240" y="1847088"/>
            <a:ext cx="4983480" cy="1737360"/>
          </a:xfrm>
          <a:prstGeom prst="rect">
            <a:avLst/>
          </a:prstGeom>
          <a:noFill/>
          <a:ln/>
        </p:spPr>
        <p:txBody>
          <a:bodyPr wrap="square" lIns="0" tIns="0" rIns="0" bIns="0" rtlCol="0" anchor="t"/>
          <a:lstStyle/>
          <a:p>
            <a:pPr marL="127000" indent="-127000">
              <a:spcAft>
                <a:spcPts val="800"/>
              </a:spcAft>
              <a:buSzPct val="100000"/>
              <a:buChar char="•"/>
            </a:pPr>
            <a:r>
              <a:rPr lang="en-US" sz="1150" dirty="0">
                <a:solidFill>
                  <a:srgbClr val="273044"/>
                </a:solidFill>
                <a:latin typeface="Calibri" pitchFamily="34" charset="0"/>
                <a:ea typeface="Calibri" pitchFamily="34" charset="-122"/>
                <a:cs typeface="Calibri" pitchFamily="34" charset="-120"/>
              </a:rPr>
              <a:t>Same image, corrupted: brightness × 0.25 + Gaussian blur σ=4 — simulating night / defocused / degraded camera input</a:t>
            </a:r>
            <a:endParaRPr lang="en-US" sz="1150" dirty="0"/>
          </a:p>
          <a:p>
            <a:pPr marL="127000" indent="-127000">
              <a:spcAft>
                <a:spcPts val="800"/>
              </a:spcAft>
              <a:buSzPct val="100000"/>
              <a:buChar char="•"/>
            </a:pPr>
            <a:r>
              <a:rPr lang="en-US" sz="1150" dirty="0">
                <a:solidFill>
                  <a:srgbClr val="273044"/>
                </a:solidFill>
                <a:latin typeface="Calibri" pitchFamily="34" charset="0"/>
                <a:ea typeface="Calibri" pitchFamily="34" charset="-122"/>
                <a:cs typeface="Calibri" pitchFamily="34" charset="-120"/>
              </a:rPr>
              <a:t>30 requests sent through the live endpoint; drift job run #2 compares against the reference</a:t>
            </a:r>
            <a:endParaRPr lang="en-US" sz="1150" dirty="0"/>
          </a:p>
        </p:txBody>
      </p:sp>
      <p:sp>
        <p:nvSpPr>
          <p:cNvPr id="10" name="Shape 8"/>
          <p:cNvSpPr/>
          <p:nvPr/>
        </p:nvSpPr>
        <p:spPr>
          <a:xfrm>
            <a:off x="548640" y="3977640"/>
            <a:ext cx="11155680" cy="2148840"/>
          </a:xfrm>
          <a:prstGeom prst="roundRect">
            <a:avLst>
              <a:gd name="adj" fmla="val 2979"/>
            </a:avLst>
          </a:prstGeom>
          <a:solidFill>
            <a:srgbClr val="1E2761"/>
          </a:solidFill>
          <a:ln w="9525">
            <a:solidFill>
              <a:srgbClr val="DCE4F2"/>
            </a:solidFill>
            <a:prstDash val="solid"/>
          </a:ln>
        </p:spPr>
      </p:sp>
      <p:sp>
        <p:nvSpPr>
          <p:cNvPr id="11" name="Text 9"/>
          <p:cNvSpPr/>
          <p:nvPr/>
        </p:nvSpPr>
        <p:spPr>
          <a:xfrm>
            <a:off x="822960" y="4160520"/>
            <a:ext cx="2743200" cy="274320"/>
          </a:xfrm>
          <a:prstGeom prst="rect">
            <a:avLst/>
          </a:prstGeom>
          <a:noFill/>
          <a:ln/>
        </p:spPr>
        <p:txBody>
          <a:bodyPr wrap="square" lIns="0" tIns="0" rIns="0" bIns="0" rtlCol="0" anchor="ctr"/>
          <a:lstStyle/>
          <a:p>
            <a:pPr indent="0" marL="0">
              <a:buNone/>
            </a:pPr>
            <a:r>
              <a:rPr lang="en-US" sz="1100" b="1" spc="200" kern="0" dirty="0">
                <a:solidFill>
                  <a:srgbClr val="CADCFC"/>
                </a:solidFill>
                <a:latin typeface="Calibri" pitchFamily="34" charset="0"/>
                <a:ea typeface="Calibri" pitchFamily="34" charset="-122"/>
                <a:cs typeface="Calibri" pitchFamily="34" charset="-120"/>
              </a:rPr>
              <a:t>RESULT</a:t>
            </a:r>
            <a:endParaRPr lang="en-US" sz="1100" dirty="0"/>
          </a:p>
        </p:txBody>
      </p:sp>
      <p:sp>
        <p:nvSpPr>
          <p:cNvPr id="12" name="Text 10"/>
          <p:cNvSpPr/>
          <p:nvPr/>
        </p:nvSpPr>
        <p:spPr>
          <a:xfrm>
            <a:off x="822960" y="4526280"/>
            <a:ext cx="260604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drift_share = 0.800</a:t>
            </a:r>
            <a:endParaRPr lang="en-US" sz="1600" dirty="0"/>
          </a:p>
        </p:txBody>
      </p:sp>
      <p:sp>
        <p:nvSpPr>
          <p:cNvPr id="13" name="Text 11"/>
          <p:cNvSpPr/>
          <p:nvPr/>
        </p:nvSpPr>
        <p:spPr>
          <a:xfrm>
            <a:off x="822960" y="4956048"/>
            <a:ext cx="2606040" cy="548640"/>
          </a:xfrm>
          <a:prstGeom prst="rect">
            <a:avLst/>
          </a:prstGeom>
          <a:noFill/>
          <a:ln/>
        </p:spPr>
        <p:txBody>
          <a:bodyPr wrap="square" lIns="0" tIns="0" rIns="0" bIns="0" rtlCol="0" anchor="t"/>
          <a:lstStyle/>
          <a:p>
            <a:pPr indent="0" marL="0">
              <a:buNone/>
            </a:pPr>
            <a:r>
              <a:rPr lang="en-US" sz="1050" dirty="0">
                <a:solidFill>
                  <a:srgbClr val="AFC2E8"/>
                </a:solidFill>
                <a:latin typeface="Calibri" pitchFamily="34" charset="0"/>
                <a:ea typeface="Calibri" pitchFamily="34" charset="-122"/>
                <a:cs typeface="Calibri" pitchFamily="34" charset="-120"/>
              </a:rPr>
              <a:t>4 of 5 features drifted</a:t>
            </a:r>
            <a:endParaRPr lang="en-US" sz="1050" dirty="0"/>
          </a:p>
        </p:txBody>
      </p:sp>
      <p:sp>
        <p:nvSpPr>
          <p:cNvPr id="14" name="Text 12"/>
          <p:cNvSpPr/>
          <p:nvPr/>
        </p:nvSpPr>
        <p:spPr>
          <a:xfrm>
            <a:off x="3566160" y="4526280"/>
            <a:ext cx="260604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dataset_drift = 1</a:t>
            </a:r>
            <a:endParaRPr lang="en-US" sz="1600" dirty="0"/>
          </a:p>
        </p:txBody>
      </p:sp>
      <p:sp>
        <p:nvSpPr>
          <p:cNvPr id="15" name="Text 13"/>
          <p:cNvSpPr/>
          <p:nvPr/>
        </p:nvSpPr>
        <p:spPr>
          <a:xfrm>
            <a:off x="3566160" y="4956048"/>
            <a:ext cx="2606040" cy="548640"/>
          </a:xfrm>
          <a:prstGeom prst="rect">
            <a:avLst/>
          </a:prstGeom>
          <a:noFill/>
          <a:ln/>
        </p:spPr>
        <p:txBody>
          <a:bodyPr wrap="square" lIns="0" tIns="0" rIns="0" bIns="0" rtlCol="0" anchor="t"/>
          <a:lstStyle/>
          <a:p>
            <a:pPr indent="0" marL="0">
              <a:buNone/>
            </a:pPr>
            <a:r>
              <a:rPr lang="en-US" sz="1050" dirty="0">
                <a:solidFill>
                  <a:srgbClr val="AFC2E8"/>
                </a:solidFill>
                <a:latin typeface="Calibri" pitchFamily="34" charset="0"/>
                <a:ea typeface="Calibri" pitchFamily="34" charset="-122"/>
                <a:cs typeface="Calibri" pitchFamily="34" charset="-120"/>
              </a:rPr>
              <a:t>Evidently dataset-level verdict</a:t>
            </a:r>
            <a:endParaRPr lang="en-US" sz="1050" dirty="0"/>
          </a:p>
        </p:txBody>
      </p:sp>
      <p:sp>
        <p:nvSpPr>
          <p:cNvPr id="16" name="Text 14"/>
          <p:cNvSpPr/>
          <p:nvPr/>
        </p:nvSpPr>
        <p:spPr>
          <a:xfrm>
            <a:off x="6309360" y="4526280"/>
            <a:ext cx="260604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 alerts FIRING</a:t>
            </a:r>
            <a:endParaRPr lang="en-US" sz="1600" dirty="0"/>
          </a:p>
        </p:txBody>
      </p:sp>
      <p:sp>
        <p:nvSpPr>
          <p:cNvPr id="17" name="Text 15"/>
          <p:cNvSpPr/>
          <p:nvPr/>
        </p:nvSpPr>
        <p:spPr>
          <a:xfrm>
            <a:off x="6309360" y="4956048"/>
            <a:ext cx="2606040" cy="548640"/>
          </a:xfrm>
          <a:prstGeom prst="rect">
            <a:avLst/>
          </a:prstGeom>
          <a:noFill/>
          <a:ln/>
        </p:spPr>
        <p:txBody>
          <a:bodyPr wrap="square" lIns="0" tIns="0" rIns="0" bIns="0" rtlCol="0" anchor="t"/>
          <a:lstStyle/>
          <a:p>
            <a:pPr indent="0" marL="0">
              <a:buNone/>
            </a:pPr>
            <a:r>
              <a:rPr lang="en-US" sz="1050" dirty="0">
                <a:solidFill>
                  <a:srgbClr val="AFC2E8"/>
                </a:solidFill>
                <a:latin typeface="Calibri" pitchFamily="34" charset="0"/>
                <a:ea typeface="Calibri" pitchFamily="34" charset="-122"/>
                <a:cs typeface="Calibri" pitchFamily="34" charset="-120"/>
              </a:rPr>
              <a:t>DataDriftDetected · DriftShareHigh</a:t>
            </a:r>
            <a:endParaRPr lang="en-US" sz="1050" dirty="0"/>
          </a:p>
        </p:txBody>
      </p:sp>
      <p:sp>
        <p:nvSpPr>
          <p:cNvPr id="18" name="Text 16"/>
          <p:cNvSpPr/>
          <p:nvPr/>
        </p:nvSpPr>
        <p:spPr>
          <a:xfrm>
            <a:off x="9052560" y="4526280"/>
            <a:ext cx="2606040" cy="4114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0 humans polling</a:t>
            </a:r>
            <a:endParaRPr lang="en-US" sz="1600" dirty="0"/>
          </a:p>
        </p:txBody>
      </p:sp>
      <p:sp>
        <p:nvSpPr>
          <p:cNvPr id="19" name="Text 17"/>
          <p:cNvSpPr/>
          <p:nvPr/>
        </p:nvSpPr>
        <p:spPr>
          <a:xfrm>
            <a:off x="9052560" y="4956048"/>
            <a:ext cx="2606040" cy="548640"/>
          </a:xfrm>
          <a:prstGeom prst="rect">
            <a:avLst/>
          </a:prstGeom>
          <a:noFill/>
          <a:ln/>
        </p:spPr>
        <p:txBody>
          <a:bodyPr wrap="square" lIns="0" tIns="0" rIns="0" bIns="0" rtlCol="0" anchor="t"/>
          <a:lstStyle/>
          <a:p>
            <a:pPr indent="0" marL="0">
              <a:buNone/>
            </a:pPr>
            <a:r>
              <a:rPr lang="en-US" sz="1050" dirty="0">
                <a:solidFill>
                  <a:srgbClr val="AFC2E8"/>
                </a:solidFill>
                <a:latin typeface="Calibri" pitchFamily="34" charset="0"/>
                <a:ea typeface="Calibri" pitchFamily="34" charset="-122"/>
                <a:cs typeface="Calibri" pitchFamily="34" charset="-120"/>
              </a:rPr>
              <a:t>the system raised its own hand</a:t>
            </a:r>
            <a:endParaRPr lang="en-US" sz="1050" dirty="0"/>
          </a:p>
        </p:txBody>
      </p:sp>
      <p:sp>
        <p:nvSpPr>
          <p:cNvPr id="20" name="Text 18"/>
          <p:cNvSpPr/>
          <p:nvPr/>
        </p:nvSpPr>
        <p:spPr>
          <a:xfrm>
            <a:off x="822960" y="5577840"/>
            <a:ext cx="10607040" cy="457200"/>
          </a:xfrm>
          <a:prstGeom prst="rect">
            <a:avLst/>
          </a:prstGeom>
          <a:noFill/>
          <a:ln/>
        </p:spPr>
        <p:txBody>
          <a:bodyPr wrap="square" lIns="0" tIns="0" rIns="0" bIns="0" rtlCol="0" anchor="ctr"/>
          <a:lstStyle/>
          <a:p>
            <a:pPr indent="0" marL="0">
              <a:buNone/>
            </a:pPr>
            <a:r>
              <a:rPr lang="en-US" sz="1100" i="1" dirty="0">
                <a:solidFill>
                  <a:srgbClr val="CADCFC"/>
                </a:solidFill>
                <a:latin typeface="Calibri" pitchFamily="34" charset="0"/>
                <a:ea typeface="Calibri" pitchFamily="34" charset="-122"/>
                <a:cs typeface="Calibri" pitchFamily="34" charset="-120"/>
              </a:rPr>
              <a:t>Detection-side effects were visible too: person-detection collapsed on dark/blurred frames while spurious classes appeared — exactly the silent failure mode drift monitoring exists to expose.</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FIELD NOTES</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Nothing worked first try — and each failure taught the right lesson</a:t>
            </a:r>
            <a:endParaRPr lang="en-US" sz="2700" dirty="0"/>
          </a:p>
        </p:txBody>
      </p:sp>
      <p:sp>
        <p:nvSpPr>
          <p:cNvPr id="4" name="Shape 2"/>
          <p:cNvSpPr/>
          <p:nvPr/>
        </p:nvSpPr>
        <p:spPr>
          <a:xfrm>
            <a:off x="548640" y="1371600"/>
            <a:ext cx="512064" cy="512064"/>
          </a:xfrm>
          <a:prstGeom prst="ellipse">
            <a:avLst/>
          </a:prstGeom>
          <a:solidFill>
            <a:srgbClr val="FFFFFF"/>
          </a:solidFill>
          <a:ln w="9525">
            <a:solidFill>
              <a:srgbClr val="DCE4F2"/>
            </a:solidFill>
            <a:prstDash val="solid"/>
          </a:ln>
        </p:spPr>
      </p:sp>
      <p:pic>
        <p:nvPicPr>
          <p:cNvPr id="5" name="Image 0" descr="deck-assets/kubernetes.png">    </p:cNvPr>
          <p:cNvPicPr>
            <a:picLocks noChangeAspect="1"/>
          </p:cNvPicPr>
          <p:nvPr/>
        </p:nvPicPr>
        <p:blipFill>
          <a:blip r:embed="rId1"/>
          <a:stretch>
            <a:fillRect/>
          </a:stretch>
        </p:blipFill>
        <p:spPr>
          <a:xfrm>
            <a:off x="645932" y="1468892"/>
            <a:ext cx="317480" cy="317480"/>
          </a:xfrm>
          <a:prstGeom prst="rect">
            <a:avLst/>
          </a:prstGeom>
        </p:spPr>
      </p:pic>
      <p:sp>
        <p:nvSpPr>
          <p:cNvPr id="6" name="Text 3"/>
          <p:cNvSpPr/>
          <p:nvPr/>
        </p:nvSpPr>
        <p:spPr>
          <a:xfrm>
            <a:off x="1280160" y="1325880"/>
            <a:ext cx="103327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PVCs stuck Pending forever</a:t>
            </a:r>
            <a:endParaRPr lang="en-US" sz="1350" dirty="0"/>
          </a:p>
        </p:txBody>
      </p:sp>
      <p:sp>
        <p:nvSpPr>
          <p:cNvPr id="7" name="Text 4"/>
          <p:cNvSpPr/>
          <p:nvPr/>
        </p:nvSpPr>
        <p:spPr>
          <a:xfrm>
            <a:off x="1280160" y="1618488"/>
            <a:ext cx="10332720" cy="640080"/>
          </a:xfrm>
          <a:prstGeom prst="rect">
            <a:avLst/>
          </a:prstGeom>
          <a:noFill/>
          <a:ln/>
        </p:spPr>
        <p:txBody>
          <a:bodyPr wrap="square" lIns="0" tIns="0" rIns="0" bIns="0" rtlCol="0" anchor="t"/>
          <a:lstStyle/>
          <a:p>
            <a:pPr indent="0" marL="0">
              <a:buNone/>
            </a:pPr>
            <a:r>
              <a:rPr lang="en-US" sz="1050" dirty="0">
                <a:solidFill>
                  <a:srgbClr val="63708A"/>
                </a:solidFill>
                <a:latin typeface="Calibri" pitchFamily="34" charset="0"/>
                <a:ea typeface="Calibri" pitchFamily="34" charset="-122"/>
                <a:cs typeface="Calibri" pitchFamily="34" charset="-120"/>
              </a:rPr>
              <a:t>This EKS version ships no default StorageClass. Fix: create a gp3 class (ebs.csi.aws.com), mark it default, recreate claims. Lesson: storage is the first thing to verify on any new cluster.</a:t>
            </a:r>
            <a:endParaRPr lang="en-US" sz="1050" dirty="0"/>
          </a:p>
        </p:txBody>
      </p:sp>
      <p:sp>
        <p:nvSpPr>
          <p:cNvPr id="8" name="Shape 5"/>
          <p:cNvSpPr/>
          <p:nvPr/>
        </p:nvSpPr>
        <p:spPr>
          <a:xfrm>
            <a:off x="548640" y="2359152"/>
            <a:ext cx="512064" cy="512064"/>
          </a:xfrm>
          <a:prstGeom prst="ellipse">
            <a:avLst/>
          </a:prstGeom>
          <a:solidFill>
            <a:srgbClr val="FFFFFF"/>
          </a:solidFill>
          <a:ln w="9525">
            <a:solidFill>
              <a:srgbClr val="DCE4F2"/>
            </a:solidFill>
            <a:prstDash val="solid"/>
          </a:ln>
        </p:spPr>
      </p:sp>
      <p:pic>
        <p:nvPicPr>
          <p:cNvPr id="9" name="Image 1" descr="deck-assets/mlflow.png">    </p:cNvPr>
          <p:cNvPicPr>
            <a:picLocks noChangeAspect="1"/>
          </p:cNvPicPr>
          <p:nvPr/>
        </p:nvPicPr>
        <p:blipFill>
          <a:blip r:embed="rId2"/>
          <a:stretch>
            <a:fillRect/>
          </a:stretch>
        </p:blipFill>
        <p:spPr>
          <a:xfrm>
            <a:off x="645932" y="2456444"/>
            <a:ext cx="317480" cy="317480"/>
          </a:xfrm>
          <a:prstGeom prst="rect">
            <a:avLst/>
          </a:prstGeom>
        </p:spPr>
      </p:pic>
      <p:sp>
        <p:nvSpPr>
          <p:cNvPr id="10" name="Text 6"/>
          <p:cNvSpPr/>
          <p:nvPr/>
        </p:nvSpPr>
        <p:spPr>
          <a:xfrm>
            <a:off x="1280160" y="2313432"/>
            <a:ext cx="103327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Model registration 500s, then 404s</a:t>
            </a:r>
            <a:endParaRPr lang="en-US" sz="1350" dirty="0"/>
          </a:p>
        </p:txBody>
      </p:sp>
      <p:sp>
        <p:nvSpPr>
          <p:cNvPr id="11" name="Text 7"/>
          <p:cNvSpPr/>
          <p:nvPr/>
        </p:nvSpPr>
        <p:spPr>
          <a:xfrm>
            <a:off x="1280160" y="2606040"/>
            <a:ext cx="10332720" cy="640080"/>
          </a:xfrm>
          <a:prstGeom prst="rect">
            <a:avLst/>
          </a:prstGeom>
          <a:noFill/>
          <a:ln/>
        </p:spPr>
        <p:txBody>
          <a:bodyPr wrap="square" lIns="0" tIns="0" rIns="0" bIns="0" rtlCol="0" anchor="t"/>
          <a:lstStyle/>
          <a:p>
            <a:pPr indent="0" marL="0">
              <a:buNone/>
            </a:pPr>
            <a:r>
              <a:rPr lang="en-US" sz="1050" dirty="0">
                <a:solidFill>
                  <a:srgbClr val="63708A"/>
                </a:solidFill>
                <a:latin typeface="Calibri" pitchFamily="34" charset="0"/>
                <a:ea typeface="Calibri" pitchFamily="34" charset="-122"/>
                <a:cs typeface="Calibri" pitchFamily="34" charset="-120"/>
              </a:rPr>
              <a:t>MLflow client 3.x vs server 2.x broke twice, differently (artifact proxying, then a missing registry endpoint). Lesson: pin client and server as a pair; version skew across an API boundary is a production incident waiting.</a:t>
            </a:r>
            <a:endParaRPr lang="en-US" sz="1050" dirty="0"/>
          </a:p>
        </p:txBody>
      </p:sp>
      <p:sp>
        <p:nvSpPr>
          <p:cNvPr id="12" name="Shape 8"/>
          <p:cNvSpPr/>
          <p:nvPr/>
        </p:nvSpPr>
        <p:spPr>
          <a:xfrm>
            <a:off x="548640" y="3346704"/>
            <a:ext cx="512064" cy="512064"/>
          </a:xfrm>
          <a:prstGeom prst="ellipse">
            <a:avLst/>
          </a:prstGeom>
          <a:solidFill>
            <a:srgbClr val="FFFFFF"/>
          </a:solidFill>
          <a:ln w="9525">
            <a:solidFill>
              <a:srgbClr val="DCE4F2"/>
            </a:solidFill>
            <a:prstDash val="solid"/>
          </a:ln>
        </p:spPr>
      </p:sp>
      <p:pic>
        <p:nvPicPr>
          <p:cNvPr id="13" name="Image 2" descr="deck-assets/gear.png">    </p:cNvPr>
          <p:cNvPicPr>
            <a:picLocks noChangeAspect="1"/>
          </p:cNvPicPr>
          <p:nvPr/>
        </p:nvPicPr>
        <p:blipFill>
          <a:blip r:embed="rId3"/>
          <a:stretch>
            <a:fillRect/>
          </a:stretch>
        </p:blipFill>
        <p:spPr>
          <a:xfrm>
            <a:off x="645932" y="3443996"/>
            <a:ext cx="317480" cy="317480"/>
          </a:xfrm>
          <a:prstGeom prst="rect">
            <a:avLst/>
          </a:prstGeom>
        </p:spPr>
      </p:pic>
      <p:sp>
        <p:nvSpPr>
          <p:cNvPr id="14" name="Text 9"/>
          <p:cNvSpPr/>
          <p:nvPr/>
        </p:nvSpPr>
        <p:spPr>
          <a:xfrm>
            <a:off x="1280160" y="3300984"/>
            <a:ext cx="103327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MLflow pod OOM-killed in a loop — with healthy logs</a:t>
            </a:r>
            <a:endParaRPr lang="en-US" sz="1350" dirty="0"/>
          </a:p>
        </p:txBody>
      </p:sp>
      <p:sp>
        <p:nvSpPr>
          <p:cNvPr id="15" name="Text 10"/>
          <p:cNvSpPr/>
          <p:nvPr/>
        </p:nvSpPr>
        <p:spPr>
          <a:xfrm>
            <a:off x="1280160" y="3593592"/>
            <a:ext cx="10332720" cy="640080"/>
          </a:xfrm>
          <a:prstGeom prst="rect">
            <a:avLst/>
          </a:prstGeom>
          <a:noFill/>
          <a:ln/>
        </p:spPr>
        <p:txBody>
          <a:bodyPr wrap="square" lIns="0" tIns="0" rIns="0" bIns="0" rtlCol="0" anchor="t"/>
          <a:lstStyle/>
          <a:p>
            <a:pPr indent="0" marL="0">
              <a:buNone/>
            </a:pPr>
            <a:r>
              <a:rPr lang="en-US" sz="1050" dirty="0">
                <a:solidFill>
                  <a:srgbClr val="63708A"/>
                </a:solidFill>
                <a:latin typeface="Calibri" pitchFamily="34" charset="0"/>
                <a:ea typeface="Calibri" pitchFamily="34" charset="-122"/>
                <a:cs typeface="Calibri" pitchFamily="34" charset="-120"/>
              </a:rPr>
              <a:t>Multi-worker default blew a 1 GiB (then 2 GiB) limit; the kill reason lives in pod state, not app logs. Fix: --workers=1. Lesson: read Last State/exit codes, not just logs.</a:t>
            </a:r>
            <a:endParaRPr lang="en-US" sz="1050" dirty="0"/>
          </a:p>
        </p:txBody>
      </p:sp>
      <p:sp>
        <p:nvSpPr>
          <p:cNvPr id="16" name="Shape 11"/>
          <p:cNvSpPr/>
          <p:nvPr/>
        </p:nvSpPr>
        <p:spPr>
          <a:xfrm>
            <a:off x="548640" y="4334256"/>
            <a:ext cx="512064" cy="512064"/>
          </a:xfrm>
          <a:prstGeom prst="ellipse">
            <a:avLst/>
          </a:prstGeom>
          <a:solidFill>
            <a:srgbClr val="FFFFFF"/>
          </a:solidFill>
          <a:ln w="9525">
            <a:solidFill>
              <a:srgbClr val="DCE4F2"/>
            </a:solidFill>
            <a:prstDash val="solid"/>
          </a:ln>
        </p:spPr>
      </p:sp>
      <p:pic>
        <p:nvPicPr>
          <p:cNvPr id="17" name="Image 3" descr="deck-assets/prometheus.png">    </p:cNvPr>
          <p:cNvPicPr>
            <a:picLocks noChangeAspect="1"/>
          </p:cNvPicPr>
          <p:nvPr/>
        </p:nvPicPr>
        <p:blipFill>
          <a:blip r:embed="rId4"/>
          <a:stretch>
            <a:fillRect/>
          </a:stretch>
        </p:blipFill>
        <p:spPr>
          <a:xfrm>
            <a:off x="645932" y="4431548"/>
            <a:ext cx="317480" cy="317480"/>
          </a:xfrm>
          <a:prstGeom prst="rect">
            <a:avLst/>
          </a:prstGeom>
        </p:spPr>
      </p:pic>
      <p:sp>
        <p:nvSpPr>
          <p:cNvPr id="18" name="Text 12"/>
          <p:cNvSpPr/>
          <p:nvPr/>
        </p:nvSpPr>
        <p:spPr>
          <a:xfrm>
            <a:off x="1280160" y="4288536"/>
            <a:ext cx="103327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kubectl apply failed on ServiceMonitor</a:t>
            </a:r>
            <a:endParaRPr lang="en-US" sz="1350" dirty="0"/>
          </a:p>
        </p:txBody>
      </p:sp>
      <p:sp>
        <p:nvSpPr>
          <p:cNvPr id="19" name="Text 13"/>
          <p:cNvSpPr/>
          <p:nvPr/>
        </p:nvSpPr>
        <p:spPr>
          <a:xfrm>
            <a:off x="1280160" y="4581144"/>
            <a:ext cx="10332720" cy="640080"/>
          </a:xfrm>
          <a:prstGeom prst="rect">
            <a:avLst/>
          </a:prstGeom>
          <a:noFill/>
          <a:ln/>
        </p:spPr>
        <p:txBody>
          <a:bodyPr wrap="square" lIns="0" tIns="0" rIns="0" bIns="0" rtlCol="0" anchor="t"/>
          <a:lstStyle/>
          <a:p>
            <a:pPr indent="0" marL="0">
              <a:buNone/>
            </a:pPr>
            <a:r>
              <a:rPr lang="en-US" sz="1050" dirty="0">
                <a:solidFill>
                  <a:srgbClr val="63708A"/>
                </a:solidFill>
                <a:latin typeface="Calibri" pitchFamily="34" charset="0"/>
                <a:ea typeface="Calibri" pitchFamily="34" charset="-122"/>
                <a:cs typeface="Calibri" pitchFamily="34" charset="-120"/>
              </a:rPr>
              <a:t>CRDs must exist before custom resources: monitoring stack installs before app manifests referencing its types. Lesson: deployment order is part of the architecture.</a:t>
            </a:r>
            <a:endParaRPr lang="en-US" sz="1050" dirty="0"/>
          </a:p>
        </p:txBody>
      </p:sp>
      <p:sp>
        <p:nvSpPr>
          <p:cNvPr id="20" name="Shape 14"/>
          <p:cNvSpPr/>
          <p:nvPr/>
        </p:nvSpPr>
        <p:spPr>
          <a:xfrm>
            <a:off x="548640" y="5321808"/>
            <a:ext cx="512064" cy="512064"/>
          </a:xfrm>
          <a:prstGeom prst="ellipse">
            <a:avLst/>
          </a:prstGeom>
          <a:solidFill>
            <a:srgbClr val="FFFFFF"/>
          </a:solidFill>
          <a:ln w="9525">
            <a:solidFill>
              <a:srgbClr val="DCE4F2"/>
            </a:solidFill>
            <a:prstDash val="solid"/>
          </a:ln>
        </p:spPr>
      </p:sp>
      <p:pic>
        <p:nvPicPr>
          <p:cNvPr id="21" name="Image 4" descr="deck-assets/ultralytics.png">    </p:cNvPr>
          <p:cNvPicPr>
            <a:picLocks noChangeAspect="1"/>
          </p:cNvPicPr>
          <p:nvPr/>
        </p:nvPicPr>
        <p:blipFill>
          <a:blip r:embed="rId5"/>
          <a:stretch>
            <a:fillRect/>
          </a:stretch>
        </p:blipFill>
        <p:spPr>
          <a:xfrm>
            <a:off x="645932" y="5419100"/>
            <a:ext cx="317480" cy="317480"/>
          </a:xfrm>
          <a:prstGeom prst="rect">
            <a:avLst/>
          </a:prstGeom>
        </p:spPr>
      </p:pic>
      <p:sp>
        <p:nvSpPr>
          <p:cNvPr id="22" name="Text 15"/>
          <p:cNvSpPr/>
          <p:nvPr/>
        </p:nvSpPr>
        <p:spPr>
          <a:xfrm>
            <a:off x="1280160" y="5276088"/>
            <a:ext cx="10332720" cy="274320"/>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The model called a bus an “airplane”</a:t>
            </a:r>
            <a:endParaRPr lang="en-US" sz="1350" dirty="0"/>
          </a:p>
        </p:txBody>
      </p:sp>
      <p:sp>
        <p:nvSpPr>
          <p:cNvPr id="23" name="Text 16"/>
          <p:cNvSpPr/>
          <p:nvPr/>
        </p:nvSpPr>
        <p:spPr>
          <a:xfrm>
            <a:off x="1280160" y="5568696"/>
            <a:ext cx="10332720" cy="640080"/>
          </a:xfrm>
          <a:prstGeom prst="rect">
            <a:avLst/>
          </a:prstGeom>
          <a:noFill/>
          <a:ln/>
        </p:spPr>
        <p:txBody>
          <a:bodyPr wrap="square" lIns="0" tIns="0" rIns="0" bIns="0" rtlCol="0" anchor="t"/>
          <a:lstStyle/>
          <a:p>
            <a:pPr indent="0" marL="0">
              <a:buNone/>
            </a:pPr>
            <a:r>
              <a:rPr lang="en-US" sz="1050" dirty="0">
                <a:solidFill>
                  <a:srgbClr val="63708A"/>
                </a:solidFill>
                <a:latin typeface="Calibri" pitchFamily="34" charset="0"/>
                <a:ea typeface="Calibri" pitchFamily="34" charset="-122"/>
                <a:cs typeface="Calibri" pitchFamily="34" charset="-120"/>
              </a:rPr>
              <a:t>Gate passed at mAP 0.703; a single real image exposed catastrophic forgetting. Lesson: automated gates + qualitative smoke tests, always both.</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NEXT</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Production-hardening roadmap (in priority order)</a:t>
            </a:r>
            <a:endParaRPr lang="en-US" sz="2700" dirty="0"/>
          </a:p>
        </p:txBody>
      </p:sp>
      <p:sp>
        <p:nvSpPr>
          <p:cNvPr id="4" name="Shape 2"/>
          <p:cNvSpPr/>
          <p:nvPr/>
        </p:nvSpPr>
        <p:spPr>
          <a:xfrm>
            <a:off x="548640" y="1417320"/>
            <a:ext cx="3611880" cy="2148840"/>
          </a:xfrm>
          <a:prstGeom prst="roundRect">
            <a:avLst>
              <a:gd name="adj" fmla="val 2979"/>
            </a:avLst>
          </a:prstGeom>
          <a:solidFill>
            <a:srgbClr val="FFF4EC"/>
          </a:solidFill>
          <a:ln w="9525">
            <a:solidFill>
              <a:srgbClr val="E8590C"/>
            </a:solidFill>
            <a:prstDash val="solid"/>
          </a:ln>
        </p:spPr>
      </p:sp>
      <p:sp>
        <p:nvSpPr>
          <p:cNvPr id="5" name="Shape 3"/>
          <p:cNvSpPr/>
          <p:nvPr/>
        </p:nvSpPr>
        <p:spPr>
          <a:xfrm>
            <a:off x="731520" y="1600200"/>
            <a:ext cx="502920" cy="502920"/>
          </a:xfrm>
          <a:prstGeom prst="ellipse">
            <a:avLst/>
          </a:prstGeom>
          <a:solidFill>
            <a:srgbClr val="E8590C"/>
          </a:solidFill>
          <a:ln w="12700">
            <a:solidFill>
              <a:srgbClr val="FFFFFF"/>
            </a:solidFill>
            <a:prstDash val="solid"/>
          </a:ln>
        </p:spPr>
      </p:sp>
      <p:sp>
        <p:nvSpPr>
          <p:cNvPr id="6" name="Text 4"/>
          <p:cNvSpPr/>
          <p:nvPr/>
        </p:nvSpPr>
        <p:spPr>
          <a:xfrm>
            <a:off x="731520"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389888" y="1618488"/>
            <a:ext cx="2651760" cy="68580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IRSA (IAM Roles for Service Accounts)</a:t>
            </a:r>
            <a:endParaRPr lang="en-US" sz="1250" dirty="0"/>
          </a:p>
        </p:txBody>
      </p:sp>
      <p:sp>
        <p:nvSpPr>
          <p:cNvPr id="8" name="Text 6"/>
          <p:cNvSpPr/>
          <p:nvPr/>
        </p:nvSpPr>
        <p:spPr>
          <a:xfrm>
            <a:off x="731520" y="2331720"/>
            <a:ext cx="3246120" cy="1097280"/>
          </a:xfrm>
          <a:prstGeom prst="rect">
            <a:avLst/>
          </a:prstGeom>
          <a:noFill/>
          <a:ln/>
        </p:spPr>
        <p:txBody>
          <a:bodyPr wrap="square" lIns="0" tIns="0" rIns="0" bIns="0" rtlCol="0" anchor="t"/>
          <a:lstStyle/>
          <a:p>
            <a:pPr indent="0" marL="0">
              <a:buNone/>
            </a:pPr>
            <a:r>
              <a:rPr lang="en-US" sz="1050" dirty="0">
                <a:solidFill>
                  <a:srgbClr val="63708A"/>
                </a:solidFill>
                <a:latin typeface="Calibri" pitchFamily="34" charset="0"/>
                <a:ea typeface="Calibri" pitchFamily="34" charset="-122"/>
                <a:cs typeface="Calibri" pitchFamily="34" charset="-120"/>
              </a:rPr>
              <a:t>Pods get scoped AWS identities — MLflow artifacts move to S3 properly; no credential workarounds.</a:t>
            </a:r>
            <a:endParaRPr lang="en-US" sz="1050" dirty="0"/>
          </a:p>
        </p:txBody>
      </p:sp>
      <p:sp>
        <p:nvSpPr>
          <p:cNvPr id="9" name="Shape 7"/>
          <p:cNvSpPr/>
          <p:nvPr/>
        </p:nvSpPr>
        <p:spPr>
          <a:xfrm>
            <a:off x="4370832" y="1417320"/>
            <a:ext cx="3611880" cy="2148840"/>
          </a:xfrm>
          <a:prstGeom prst="roundRect">
            <a:avLst>
              <a:gd name="adj" fmla="val 2979"/>
            </a:avLst>
          </a:prstGeom>
          <a:solidFill>
            <a:srgbClr val="FFF4EC"/>
          </a:solidFill>
          <a:ln w="9525">
            <a:solidFill>
              <a:srgbClr val="E8590C"/>
            </a:solidFill>
            <a:prstDash val="solid"/>
          </a:ln>
        </p:spPr>
      </p:sp>
      <p:sp>
        <p:nvSpPr>
          <p:cNvPr id="10" name="Shape 8"/>
          <p:cNvSpPr/>
          <p:nvPr/>
        </p:nvSpPr>
        <p:spPr>
          <a:xfrm>
            <a:off x="4553712" y="1600200"/>
            <a:ext cx="502920" cy="502920"/>
          </a:xfrm>
          <a:prstGeom prst="ellipse">
            <a:avLst/>
          </a:prstGeom>
          <a:solidFill>
            <a:srgbClr val="E8590C"/>
          </a:solidFill>
          <a:ln w="12700">
            <a:solidFill>
              <a:srgbClr val="FFFFFF"/>
            </a:solidFill>
            <a:prstDash val="solid"/>
          </a:ln>
        </p:spPr>
      </p:sp>
      <p:sp>
        <p:nvSpPr>
          <p:cNvPr id="11" name="Text 9"/>
          <p:cNvSpPr/>
          <p:nvPr/>
        </p:nvSpPr>
        <p:spPr>
          <a:xfrm>
            <a:off x="4553712"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5212080" y="1618488"/>
            <a:ext cx="2651760" cy="68580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Prediction logs → S3, then scale out</a:t>
            </a:r>
            <a:endParaRPr lang="en-US" sz="1250" dirty="0"/>
          </a:p>
        </p:txBody>
      </p:sp>
      <p:sp>
        <p:nvSpPr>
          <p:cNvPr id="13" name="Text 11"/>
          <p:cNvSpPr/>
          <p:nvPr/>
        </p:nvSpPr>
        <p:spPr>
          <a:xfrm>
            <a:off x="4553712" y="2331720"/>
            <a:ext cx="3246120" cy="1097280"/>
          </a:xfrm>
          <a:prstGeom prst="rect">
            <a:avLst/>
          </a:prstGeom>
          <a:noFill/>
          <a:ln/>
        </p:spPr>
        <p:txBody>
          <a:bodyPr wrap="square" lIns="0" tIns="0" rIns="0" bIns="0" rtlCol="0" anchor="t"/>
          <a:lstStyle/>
          <a:p>
            <a:pPr indent="0" marL="0">
              <a:buNone/>
            </a:pPr>
            <a:r>
              <a:rPr lang="en-US" sz="1050" dirty="0">
                <a:solidFill>
                  <a:srgbClr val="63708A"/>
                </a:solidFill>
                <a:latin typeface="Calibri" pitchFamily="34" charset="0"/>
                <a:ea typeface="Calibri" pitchFamily="34" charset="-122"/>
                <a:cs typeface="Calibri" pitchFamily="34" charset="-120"/>
              </a:rPr>
              <a:t>Removes the shared-EBS single-replica constraint; enables HPA on the serving deployment.</a:t>
            </a:r>
            <a:endParaRPr lang="en-US" sz="1050" dirty="0"/>
          </a:p>
        </p:txBody>
      </p:sp>
      <p:sp>
        <p:nvSpPr>
          <p:cNvPr id="14" name="Shape 12"/>
          <p:cNvSpPr/>
          <p:nvPr/>
        </p:nvSpPr>
        <p:spPr>
          <a:xfrm>
            <a:off x="8193024" y="1417320"/>
            <a:ext cx="3611880" cy="2148840"/>
          </a:xfrm>
          <a:prstGeom prst="roundRect">
            <a:avLst>
              <a:gd name="adj" fmla="val 2979"/>
            </a:avLst>
          </a:prstGeom>
          <a:solidFill>
            <a:srgbClr val="F0F4FB"/>
          </a:solidFill>
          <a:ln w="9525">
            <a:solidFill>
              <a:srgbClr val="DCE4F2"/>
            </a:solidFill>
            <a:prstDash val="solid"/>
          </a:ln>
        </p:spPr>
      </p:sp>
      <p:sp>
        <p:nvSpPr>
          <p:cNvPr id="15" name="Shape 13"/>
          <p:cNvSpPr/>
          <p:nvPr/>
        </p:nvSpPr>
        <p:spPr>
          <a:xfrm>
            <a:off x="8375904" y="1600200"/>
            <a:ext cx="502920" cy="502920"/>
          </a:xfrm>
          <a:prstGeom prst="ellipse">
            <a:avLst/>
          </a:prstGeom>
          <a:solidFill>
            <a:srgbClr val="1E2761"/>
          </a:solidFill>
          <a:ln w="12700">
            <a:solidFill>
              <a:srgbClr val="FFFFFF"/>
            </a:solidFill>
            <a:prstDash val="solid"/>
          </a:ln>
        </p:spPr>
      </p:sp>
      <p:sp>
        <p:nvSpPr>
          <p:cNvPr id="16" name="Text 14"/>
          <p:cNvSpPr/>
          <p:nvPr/>
        </p:nvSpPr>
        <p:spPr>
          <a:xfrm>
            <a:off x="8375904"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9034272" y="1618488"/>
            <a:ext cx="2651760" cy="68580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RDS-backed MLflow + ALB ingress</a:t>
            </a:r>
            <a:endParaRPr lang="en-US" sz="1250" dirty="0"/>
          </a:p>
        </p:txBody>
      </p:sp>
      <p:sp>
        <p:nvSpPr>
          <p:cNvPr id="18" name="Text 16"/>
          <p:cNvSpPr/>
          <p:nvPr/>
        </p:nvSpPr>
        <p:spPr>
          <a:xfrm>
            <a:off x="8375904" y="2331720"/>
            <a:ext cx="3246120" cy="1097280"/>
          </a:xfrm>
          <a:prstGeom prst="rect">
            <a:avLst/>
          </a:prstGeom>
          <a:noFill/>
          <a:ln/>
        </p:spPr>
        <p:txBody>
          <a:bodyPr wrap="square" lIns="0" tIns="0" rIns="0" bIns="0" rtlCol="0" anchor="t"/>
          <a:lstStyle/>
          <a:p>
            <a:pPr indent="0" marL="0">
              <a:buNone/>
            </a:pPr>
            <a:r>
              <a:rPr lang="en-US" sz="1050" dirty="0">
                <a:solidFill>
                  <a:srgbClr val="63708A"/>
                </a:solidFill>
                <a:latin typeface="Calibri" pitchFamily="34" charset="0"/>
                <a:ea typeface="Calibri" pitchFamily="34" charset="-122"/>
                <a:cs typeface="Calibri" pitchFamily="34" charset="-120"/>
              </a:rPr>
              <a:t>Multi-user registry with real auth instead of SQLite + port-forward.</a:t>
            </a:r>
            <a:endParaRPr lang="en-US" sz="1050" dirty="0"/>
          </a:p>
        </p:txBody>
      </p:sp>
      <p:sp>
        <p:nvSpPr>
          <p:cNvPr id="19" name="Shape 17"/>
          <p:cNvSpPr/>
          <p:nvPr/>
        </p:nvSpPr>
        <p:spPr>
          <a:xfrm>
            <a:off x="548640" y="3794760"/>
            <a:ext cx="3611880" cy="2148840"/>
          </a:xfrm>
          <a:prstGeom prst="roundRect">
            <a:avLst>
              <a:gd name="adj" fmla="val 2979"/>
            </a:avLst>
          </a:prstGeom>
          <a:solidFill>
            <a:srgbClr val="F0F4FB"/>
          </a:solidFill>
          <a:ln w="9525">
            <a:solidFill>
              <a:srgbClr val="DCE4F2"/>
            </a:solidFill>
            <a:prstDash val="solid"/>
          </a:ln>
        </p:spPr>
      </p:sp>
      <p:sp>
        <p:nvSpPr>
          <p:cNvPr id="20" name="Shape 18"/>
          <p:cNvSpPr/>
          <p:nvPr/>
        </p:nvSpPr>
        <p:spPr>
          <a:xfrm>
            <a:off x="731520" y="3977640"/>
            <a:ext cx="502920" cy="502920"/>
          </a:xfrm>
          <a:prstGeom prst="ellipse">
            <a:avLst/>
          </a:prstGeom>
          <a:solidFill>
            <a:srgbClr val="1E2761"/>
          </a:solidFill>
          <a:ln w="12700">
            <a:solidFill>
              <a:srgbClr val="FFFFFF"/>
            </a:solidFill>
            <a:prstDash val="solid"/>
          </a:ln>
        </p:spPr>
      </p:sp>
      <p:sp>
        <p:nvSpPr>
          <p:cNvPr id="21" name="Text 19"/>
          <p:cNvSpPr/>
          <p:nvPr/>
        </p:nvSpPr>
        <p:spPr>
          <a:xfrm>
            <a:off x="731520" y="39776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1389888" y="3995928"/>
            <a:ext cx="2651760" cy="68580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Canary rollouts</a:t>
            </a:r>
            <a:endParaRPr lang="en-US" sz="1250" dirty="0"/>
          </a:p>
        </p:txBody>
      </p:sp>
      <p:sp>
        <p:nvSpPr>
          <p:cNvPr id="23" name="Text 21"/>
          <p:cNvSpPr/>
          <p:nvPr/>
        </p:nvSpPr>
        <p:spPr>
          <a:xfrm>
            <a:off x="731520" y="4709160"/>
            <a:ext cx="3246120" cy="1097280"/>
          </a:xfrm>
          <a:prstGeom prst="rect">
            <a:avLst/>
          </a:prstGeom>
          <a:noFill/>
          <a:ln/>
        </p:spPr>
        <p:txBody>
          <a:bodyPr wrap="square" lIns="0" tIns="0" rIns="0" bIns="0" rtlCol="0" anchor="t"/>
          <a:lstStyle/>
          <a:p>
            <a:pPr indent="0" marL="0">
              <a:buNone/>
            </a:pPr>
            <a:r>
              <a:rPr lang="en-US" sz="1050" dirty="0">
                <a:solidFill>
                  <a:srgbClr val="63708A"/>
                </a:solidFill>
                <a:latin typeface="Calibri" pitchFamily="34" charset="0"/>
                <a:ea typeface="Calibri" pitchFamily="34" charset="-122"/>
                <a:cs typeface="Calibri" pitchFamily="34" charset="-120"/>
              </a:rPr>
              <a:t>Argo Rollouts or KServe: shift 10% traffic to candidate, compare live metrics, promote on evidence.</a:t>
            </a:r>
            <a:endParaRPr lang="en-US" sz="1050" dirty="0"/>
          </a:p>
        </p:txBody>
      </p:sp>
      <p:sp>
        <p:nvSpPr>
          <p:cNvPr id="24" name="Shape 22"/>
          <p:cNvSpPr/>
          <p:nvPr/>
        </p:nvSpPr>
        <p:spPr>
          <a:xfrm>
            <a:off x="4370832" y="3794760"/>
            <a:ext cx="3611880" cy="2148840"/>
          </a:xfrm>
          <a:prstGeom prst="roundRect">
            <a:avLst>
              <a:gd name="adj" fmla="val 2979"/>
            </a:avLst>
          </a:prstGeom>
          <a:solidFill>
            <a:srgbClr val="F0F4FB"/>
          </a:solidFill>
          <a:ln w="9525">
            <a:solidFill>
              <a:srgbClr val="DCE4F2"/>
            </a:solidFill>
            <a:prstDash val="solid"/>
          </a:ln>
        </p:spPr>
      </p:sp>
      <p:sp>
        <p:nvSpPr>
          <p:cNvPr id="25" name="Shape 23"/>
          <p:cNvSpPr/>
          <p:nvPr/>
        </p:nvSpPr>
        <p:spPr>
          <a:xfrm>
            <a:off x="4553712" y="3977640"/>
            <a:ext cx="502920" cy="502920"/>
          </a:xfrm>
          <a:prstGeom prst="ellipse">
            <a:avLst/>
          </a:prstGeom>
          <a:solidFill>
            <a:srgbClr val="1E2761"/>
          </a:solidFill>
          <a:ln w="12700">
            <a:solidFill>
              <a:srgbClr val="FFFFFF"/>
            </a:solidFill>
            <a:prstDash val="solid"/>
          </a:ln>
        </p:spPr>
      </p:sp>
      <p:sp>
        <p:nvSpPr>
          <p:cNvPr id="26" name="Text 24"/>
          <p:cNvSpPr/>
          <p:nvPr/>
        </p:nvSpPr>
        <p:spPr>
          <a:xfrm>
            <a:off x="4553712" y="39776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7" name="Text 25"/>
          <p:cNvSpPr/>
          <p:nvPr/>
        </p:nvSpPr>
        <p:spPr>
          <a:xfrm>
            <a:off x="5212080" y="3995928"/>
            <a:ext cx="2651760" cy="68580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Retrain on drifted data</a:t>
            </a:r>
            <a:endParaRPr lang="en-US" sz="1250" dirty="0"/>
          </a:p>
        </p:txBody>
      </p:sp>
      <p:sp>
        <p:nvSpPr>
          <p:cNvPr id="28" name="Text 26"/>
          <p:cNvSpPr/>
          <p:nvPr/>
        </p:nvSpPr>
        <p:spPr>
          <a:xfrm>
            <a:off x="4553712" y="4709160"/>
            <a:ext cx="3246120" cy="1097280"/>
          </a:xfrm>
          <a:prstGeom prst="rect">
            <a:avLst/>
          </a:prstGeom>
          <a:noFill/>
          <a:ln/>
        </p:spPr>
        <p:txBody>
          <a:bodyPr wrap="square" lIns="0" tIns="0" rIns="0" bIns="0" rtlCol="0" anchor="t"/>
          <a:lstStyle/>
          <a:p>
            <a:pPr indent="0" marL="0">
              <a:buNone/>
            </a:pPr>
            <a:r>
              <a:rPr lang="en-US" sz="1050" dirty="0">
                <a:solidFill>
                  <a:srgbClr val="63708A"/>
                </a:solidFill>
                <a:latin typeface="Calibri" pitchFamily="34" charset="0"/>
                <a:ea typeface="Calibri" pitchFamily="34" charset="-122"/>
                <a:cs typeface="Calibri" pitchFamily="34" charset="-120"/>
              </a:rPr>
              <a:t>Close the loop with substance: harvest drifted samples, label, retrain — not just re-run the same set.</a:t>
            </a:r>
            <a:endParaRPr lang="en-US" sz="1050" dirty="0"/>
          </a:p>
        </p:txBody>
      </p:sp>
      <p:sp>
        <p:nvSpPr>
          <p:cNvPr id="29" name="Shape 27"/>
          <p:cNvSpPr/>
          <p:nvPr/>
        </p:nvSpPr>
        <p:spPr>
          <a:xfrm>
            <a:off x="8193024" y="3794760"/>
            <a:ext cx="3611880" cy="2148840"/>
          </a:xfrm>
          <a:prstGeom prst="roundRect">
            <a:avLst>
              <a:gd name="adj" fmla="val 2979"/>
            </a:avLst>
          </a:prstGeom>
          <a:solidFill>
            <a:srgbClr val="F0F4FB"/>
          </a:solidFill>
          <a:ln w="9525">
            <a:solidFill>
              <a:srgbClr val="DCE4F2"/>
            </a:solidFill>
            <a:prstDash val="solid"/>
          </a:ln>
        </p:spPr>
      </p:sp>
      <p:sp>
        <p:nvSpPr>
          <p:cNvPr id="30" name="Shape 28"/>
          <p:cNvSpPr/>
          <p:nvPr/>
        </p:nvSpPr>
        <p:spPr>
          <a:xfrm>
            <a:off x="8375904" y="3977640"/>
            <a:ext cx="502920" cy="502920"/>
          </a:xfrm>
          <a:prstGeom prst="ellipse">
            <a:avLst/>
          </a:prstGeom>
          <a:solidFill>
            <a:srgbClr val="1E2761"/>
          </a:solidFill>
          <a:ln w="12700">
            <a:solidFill>
              <a:srgbClr val="FFFFFF"/>
            </a:solidFill>
            <a:prstDash val="solid"/>
          </a:ln>
        </p:spPr>
      </p:sp>
      <p:sp>
        <p:nvSpPr>
          <p:cNvPr id="31" name="Text 29"/>
          <p:cNvSpPr/>
          <p:nvPr/>
        </p:nvSpPr>
        <p:spPr>
          <a:xfrm>
            <a:off x="8375904" y="39776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2" name="Text 30"/>
          <p:cNvSpPr/>
          <p:nvPr/>
        </p:nvSpPr>
        <p:spPr>
          <a:xfrm>
            <a:off x="9034272" y="3995928"/>
            <a:ext cx="2651760" cy="685800"/>
          </a:xfrm>
          <a:prstGeom prst="rect">
            <a:avLst/>
          </a:prstGeom>
          <a:noFill/>
          <a:ln/>
        </p:spPr>
        <p:txBody>
          <a:bodyPr wrap="square" lIns="0" tIns="0" rIns="0" bIns="0" rtlCol="0" anchor="t"/>
          <a:lstStyle/>
          <a:p>
            <a:pPr indent="0" marL="0">
              <a:buNone/>
            </a:pPr>
            <a:r>
              <a:rPr lang="en-US" sz="1250" b="1" dirty="0">
                <a:solidFill>
                  <a:srgbClr val="1E2761"/>
                </a:solidFill>
                <a:latin typeface="Calibri" pitchFamily="34" charset="0"/>
                <a:ea typeface="Calibri" pitchFamily="34" charset="-122"/>
                <a:cs typeface="Calibri" pitchFamily="34" charset="-120"/>
              </a:rPr>
              <a:t>Bigger, sliced evaluation</a:t>
            </a:r>
            <a:endParaRPr lang="en-US" sz="1250" dirty="0"/>
          </a:p>
        </p:txBody>
      </p:sp>
      <p:sp>
        <p:nvSpPr>
          <p:cNvPr id="33" name="Text 31"/>
          <p:cNvSpPr/>
          <p:nvPr/>
        </p:nvSpPr>
        <p:spPr>
          <a:xfrm>
            <a:off x="8375904" y="4709160"/>
            <a:ext cx="3246120" cy="1097280"/>
          </a:xfrm>
          <a:prstGeom prst="rect">
            <a:avLst/>
          </a:prstGeom>
          <a:noFill/>
          <a:ln/>
        </p:spPr>
        <p:txBody>
          <a:bodyPr wrap="square" lIns="0" tIns="0" rIns="0" bIns="0" rtlCol="0" anchor="t"/>
          <a:lstStyle/>
          <a:p>
            <a:pPr indent="0" marL="0">
              <a:buNone/>
            </a:pPr>
            <a:r>
              <a:rPr lang="en-US" sz="1050" dirty="0">
                <a:solidFill>
                  <a:srgbClr val="63708A"/>
                </a:solidFill>
                <a:latin typeface="Calibri" pitchFamily="34" charset="0"/>
                <a:ea typeface="Calibri" pitchFamily="34" charset="-122"/>
                <a:cs typeface="Calibri" pitchFamily="34" charset="-120"/>
              </a:rPr>
              <a:t>Per-class and per-condition eval sets so the gate would have caught the airplane-bus failure.</a:t>
            </a:r>
            <a:endParaRPr lang="en-US" sz="1050" dirty="0"/>
          </a:p>
        </p:txBody>
      </p:sp>
      <p:sp>
        <p:nvSpPr>
          <p:cNvPr id="34" name="Text 32"/>
          <p:cNvSpPr/>
          <p:nvPr/>
        </p:nvSpPr>
        <p:spPr>
          <a:xfrm>
            <a:off x="548640" y="6263640"/>
            <a:ext cx="10972800" cy="274320"/>
          </a:xfrm>
          <a:prstGeom prst="rect">
            <a:avLst/>
          </a:prstGeom>
          <a:noFill/>
          <a:ln/>
        </p:spPr>
        <p:txBody>
          <a:bodyPr wrap="square" lIns="0" tIns="0" rIns="0" bIns="0" rtlCol="0" anchor="ctr"/>
          <a:lstStyle/>
          <a:p>
            <a:pPr indent="0" marL="0">
              <a:buNone/>
            </a:pPr>
            <a:r>
              <a:rPr lang="en-US" sz="1150" i="1" dirty="0">
                <a:solidFill>
                  <a:srgbClr val="63708A"/>
                </a:solidFill>
                <a:latin typeface="Calibri" pitchFamily="34" charset="0"/>
                <a:ea typeface="Calibri" pitchFamily="34" charset="-122"/>
                <a:cs typeface="Calibri" pitchFamily="34" charset="-120"/>
              </a:rPr>
              <a:t>Items 1–2 remove the two deliberate demo shortcuts; 3–6 take the pipeline from “works” to “operates”.</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1155680" cy="274320"/>
          </a:xfrm>
          <a:prstGeom prst="rect">
            <a:avLst/>
          </a:prstGeom>
          <a:noFill/>
          <a:ln/>
        </p:spPr>
        <p:txBody>
          <a:bodyPr wrap="square" lIns="0" tIns="0" rIns="0" bIns="0" rtlCol="0" anchor="ctr"/>
          <a:lstStyle/>
          <a:p>
            <a:pPr indent="0" marL="0">
              <a:buNone/>
            </a:pPr>
            <a:r>
              <a:rPr lang="en-US" sz="1150" b="1" spc="200" kern="0" dirty="0">
                <a:solidFill>
                  <a:srgbClr val="E8590C"/>
                </a:solidFill>
                <a:latin typeface="Calibri" pitchFamily="34" charset="0"/>
                <a:ea typeface="Calibri" pitchFamily="34" charset="-122"/>
                <a:cs typeface="Calibri" pitchFamily="34" charset="-120"/>
              </a:rPr>
              <a:t>TRY IT</a:t>
            </a:r>
            <a:endParaRPr lang="en-US" sz="1150" dirty="0"/>
          </a:p>
        </p:txBody>
      </p:sp>
      <p:sp>
        <p:nvSpPr>
          <p:cNvPr id="3" name="Text 1"/>
          <p:cNvSpPr/>
          <p:nvPr/>
        </p:nvSpPr>
        <p:spPr>
          <a:xfrm>
            <a:off x="502920" y="512064"/>
            <a:ext cx="11155680" cy="566928"/>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Stand it up yourself — the repo is the runbook</a:t>
            </a:r>
            <a:endParaRPr lang="en-US" sz="2700" dirty="0"/>
          </a:p>
        </p:txBody>
      </p:sp>
      <p:sp>
        <p:nvSpPr>
          <p:cNvPr id="4" name="Shape 2"/>
          <p:cNvSpPr/>
          <p:nvPr/>
        </p:nvSpPr>
        <p:spPr>
          <a:xfrm>
            <a:off x="502920" y="1371600"/>
            <a:ext cx="6766560" cy="4023360"/>
          </a:xfrm>
          <a:prstGeom prst="roundRect">
            <a:avLst>
              <a:gd name="adj" fmla="val 1591"/>
            </a:avLst>
          </a:prstGeom>
          <a:solidFill>
            <a:srgbClr val="1B2340"/>
          </a:solidFill>
          <a:ln w="9525">
            <a:solidFill>
              <a:srgbClr val="DCE4F2"/>
            </a:solidFill>
            <a:prstDash val="solid"/>
          </a:ln>
        </p:spPr>
      </p:sp>
      <p:sp>
        <p:nvSpPr>
          <p:cNvPr id="5" name="Text 3"/>
          <p:cNvSpPr/>
          <p:nvPr/>
        </p:nvSpPr>
        <p:spPr>
          <a:xfrm>
            <a:off x="731520" y="1536192"/>
            <a:ext cx="2743200" cy="256032"/>
          </a:xfrm>
          <a:prstGeom prst="rect">
            <a:avLst/>
          </a:prstGeom>
          <a:noFill/>
          <a:ln/>
        </p:spPr>
        <p:txBody>
          <a:bodyPr wrap="square" lIns="0" tIns="0" rIns="0" bIns="0" rtlCol="0" anchor="ctr"/>
          <a:lstStyle/>
          <a:p>
            <a:pPr indent="0" marL="0">
              <a:buNone/>
            </a:pPr>
            <a:r>
              <a:rPr lang="en-US" sz="1050" b="1" spc="200" kern="0" dirty="0">
                <a:solidFill>
                  <a:srgbClr val="CADCFC"/>
                </a:solidFill>
                <a:latin typeface="Calibri" pitchFamily="34" charset="0"/>
                <a:ea typeface="Calibri" pitchFamily="34" charset="-122"/>
                <a:cs typeface="Calibri" pitchFamily="34" charset="-120"/>
              </a:rPr>
              <a:t>QUICKSTART</a:t>
            </a:r>
            <a:endParaRPr lang="en-US" sz="1050" dirty="0"/>
          </a:p>
        </p:txBody>
      </p:sp>
      <p:sp>
        <p:nvSpPr>
          <p:cNvPr id="6" name="Text 4"/>
          <p:cNvSpPr/>
          <p:nvPr/>
        </p:nvSpPr>
        <p:spPr>
          <a:xfrm>
            <a:off x="731520" y="1874520"/>
            <a:ext cx="6309360" cy="3383280"/>
          </a:xfrm>
          <a:prstGeom prst="rect">
            <a:avLst/>
          </a:prstGeom>
          <a:noFill/>
          <a:ln/>
        </p:spPr>
        <p:txBody>
          <a:bodyPr wrap="square" lIns="0" tIns="0" rIns="0" bIns="0" rtlCol="0" anchor="t"/>
          <a:lstStyle/>
          <a:p>
            <a:pPr indent="0" marL="0">
              <a:lnSpc>
                <a:spcPct val="110000"/>
              </a:lnSpc>
              <a:buNone/>
            </a:pPr>
            <a:r>
              <a:rPr lang="en-US" sz="1100" dirty="0">
                <a:solidFill>
                  <a:srgbClr val="D8E2F8"/>
                </a:solidFill>
                <a:latin typeface="Courier New" pitchFamily="34" charset="0"/>
                <a:ea typeface="Courier New" pitchFamily="34" charset="-122"/>
                <a:cs typeface="Courier New" pitchFamily="34" charset="-120"/>
              </a:rPr>
              <a:t>git clone github.com/nepseli/mlops-cv-pipeline</a:t>
            </a:r>
            <a:endParaRPr lang="en-US" sz="1100" dirty="0"/>
          </a:p>
          <a:p>
            <a:pPr indent="0" marL="0">
              <a:lnSpc>
                <a:spcPct val="110000"/>
              </a:lnSpc>
              <a:buNone/>
            </a:pPr>
            <a:r>
              <a:rPr lang="en-US" sz="1100" dirty="0">
                <a:solidFill>
                  <a:srgbClr val="D8E2F8"/>
                </a:solidFill>
                <a:latin typeface="Courier New" pitchFamily="34" charset="0"/>
                <a:ea typeface="Courier New" pitchFamily="34" charset="-122"/>
                <a:cs typeface="Courier New" pitchFamily="34" charset="-120"/>
              </a:rPr>
              <a:t>cd mlops-cv-pipeline</a:t>
            </a:r>
            <a:endParaRPr lang="en-US" sz="1100" dirty="0"/>
          </a:p>
          <a:p>
            <a:pPr indent="0" marL="0">
              <a:lnSpc>
                <a:spcPct val="110000"/>
              </a:lnSpc>
              <a:buNone/>
            </a:pPr>
            <a:endParaRPr lang="en-US" sz="1100" dirty="0"/>
          </a:p>
          <a:p>
            <a:pPr indent="0" marL="0">
              <a:lnSpc>
                <a:spcPct val="110000"/>
              </a:lnSpc>
              <a:buNone/>
            </a:pPr>
            <a:r>
              <a:rPr lang="en-US" sz="1100" dirty="0">
                <a:solidFill>
                  <a:srgbClr val="D8E2F8"/>
                </a:solidFill>
                <a:latin typeface="Courier New" pitchFamily="34" charset="0"/>
                <a:ea typeface="Courier New" pitchFamily="34" charset="-122"/>
                <a:cs typeface="Courier New" pitchFamily="34" charset="-120"/>
              </a:rPr>
              <a:t>make cluster                 # ~20 min, unattended</a:t>
            </a:r>
            <a:endParaRPr lang="en-US" sz="1100" dirty="0"/>
          </a:p>
          <a:p>
            <a:pPr indent="0" marL="0">
              <a:lnSpc>
                <a:spcPct val="110000"/>
              </a:lnSpc>
              <a:buNone/>
            </a:pPr>
            <a:r>
              <a:rPr lang="en-US" sz="1100" dirty="0">
                <a:solidFill>
                  <a:srgbClr val="D8E2F8"/>
                </a:solidFill>
                <a:latin typeface="Courier New" pitchFamily="34" charset="0"/>
                <a:ea typeface="Courier New" pitchFamily="34" charset="-122"/>
                <a:cs typeface="Courier New" pitchFamily="34" charset="-120"/>
              </a:rPr>
              <a:t>./infra/bootstrap-aws.sh &lt;ACCOUNT_ID&gt;</a:t>
            </a:r>
            <a:endParaRPr lang="en-US" sz="1100" dirty="0"/>
          </a:p>
          <a:p>
            <a:pPr indent="0" marL="0">
              <a:lnSpc>
                <a:spcPct val="110000"/>
              </a:lnSpc>
              <a:buNone/>
            </a:pPr>
            <a:r>
              <a:rPr lang="en-US" sz="1100" dirty="0">
                <a:solidFill>
                  <a:srgbClr val="D8E2F8"/>
                </a:solidFill>
                <a:latin typeface="Courier New" pitchFamily="34" charset="0"/>
                <a:ea typeface="Courier New" pitchFamily="34" charset="-122"/>
                <a:cs typeface="Courier New" pitchFamily="34" charset="-120"/>
              </a:rPr>
              <a:t>cp .env.example .env         # paste printed values</a:t>
            </a:r>
            <a:endParaRPr lang="en-US" sz="1100" dirty="0"/>
          </a:p>
          <a:p>
            <a:pPr indent="0" marL="0">
              <a:lnSpc>
                <a:spcPct val="110000"/>
              </a:lnSpc>
              <a:buNone/>
            </a:pPr>
            <a:endParaRPr lang="en-US" sz="1100" dirty="0"/>
          </a:p>
          <a:p>
            <a:pPr indent="0" marL="0">
              <a:lnSpc>
                <a:spcPct val="110000"/>
              </a:lnSpc>
              <a:buNone/>
            </a:pPr>
            <a:r>
              <a:rPr lang="en-US" sz="1100" dirty="0">
                <a:solidFill>
                  <a:srgbClr val="D8E2F8"/>
                </a:solidFill>
                <a:latin typeface="Courier New" pitchFamily="34" charset="0"/>
                <a:ea typeface="Courier New" pitchFamily="34" charset="-122"/>
                <a:cs typeface="Courier New" pitchFamily="34" charset="-120"/>
              </a:rPr>
              <a:t>make deploy-core             # StorageClass, MLflow</a:t>
            </a:r>
            <a:endParaRPr lang="en-US" sz="1100" dirty="0"/>
          </a:p>
          <a:p>
            <a:pPr indent="0" marL="0">
              <a:lnSpc>
                <a:spcPct val="110000"/>
              </a:lnSpc>
              <a:buNone/>
            </a:pPr>
            <a:r>
              <a:rPr lang="en-US" sz="1100" dirty="0">
                <a:solidFill>
                  <a:srgbClr val="D8E2F8"/>
                </a:solidFill>
                <a:latin typeface="Courier New" pitchFamily="34" charset="0"/>
                <a:ea typeface="Courier New" pitchFamily="34" charset="-122"/>
                <a:cs typeface="Courier New" pitchFamily="34" charset="-120"/>
              </a:rPr>
              <a:t>make mlflow-tunnel           # separate terminal</a:t>
            </a:r>
            <a:endParaRPr lang="en-US" sz="1100" dirty="0"/>
          </a:p>
          <a:p>
            <a:pPr indent="0" marL="0">
              <a:lnSpc>
                <a:spcPct val="110000"/>
              </a:lnSpc>
              <a:buNone/>
            </a:pPr>
            <a:r>
              <a:rPr lang="en-US" sz="1100" dirty="0">
                <a:solidFill>
                  <a:srgbClr val="D8E2F8"/>
                </a:solidFill>
                <a:latin typeface="Courier New" pitchFamily="34" charset="0"/>
                <a:ea typeface="Courier New" pitchFamily="34" charset="-122"/>
                <a:cs typeface="Courier New" pitchFamily="34" charset="-120"/>
              </a:rPr>
              <a:t>make train                   # fine-tune -&gt; gate -&gt; register</a:t>
            </a:r>
            <a:endParaRPr lang="en-US" sz="1100" dirty="0"/>
          </a:p>
          <a:p>
            <a:pPr indent="0" marL="0">
              <a:lnSpc>
                <a:spcPct val="110000"/>
              </a:lnSpc>
              <a:buNone/>
            </a:pPr>
            <a:endParaRPr lang="en-US" sz="1100" dirty="0"/>
          </a:p>
          <a:p>
            <a:pPr indent="0" marL="0">
              <a:lnSpc>
                <a:spcPct val="110000"/>
              </a:lnSpc>
              <a:buNone/>
            </a:pPr>
            <a:r>
              <a:rPr lang="en-US" sz="1100" dirty="0">
                <a:solidFill>
                  <a:srgbClr val="D8E2F8"/>
                </a:solidFill>
                <a:latin typeface="Courier New" pitchFamily="34" charset="0"/>
                <a:ea typeface="Courier New" pitchFamily="34" charset="-122"/>
                <a:cs typeface="Courier New" pitchFamily="34" charset="-120"/>
              </a:rPr>
              <a:t>make fetch-model build push</a:t>
            </a:r>
            <a:endParaRPr lang="en-US" sz="1100" dirty="0"/>
          </a:p>
          <a:p>
            <a:pPr indent="0" marL="0">
              <a:lnSpc>
                <a:spcPct val="110000"/>
              </a:lnSpc>
              <a:buNone/>
            </a:pPr>
            <a:r>
              <a:rPr lang="en-US" sz="1100" dirty="0">
                <a:solidFill>
                  <a:srgbClr val="D8E2F8"/>
                </a:solidFill>
                <a:latin typeface="Courier New" pitchFamily="34" charset="0"/>
                <a:ea typeface="Courier New" pitchFamily="34" charset="-122"/>
                <a:cs typeface="Courier New" pitchFamily="34" charset="-120"/>
              </a:rPr>
              <a:t>make monitoring              # BEFORE deploy (CRDs)</a:t>
            </a:r>
            <a:endParaRPr lang="en-US" sz="1100" dirty="0"/>
          </a:p>
          <a:p>
            <a:pPr indent="0" marL="0">
              <a:lnSpc>
                <a:spcPct val="110000"/>
              </a:lnSpc>
              <a:buNone/>
            </a:pPr>
            <a:r>
              <a:rPr lang="en-US" sz="1100" dirty="0">
                <a:solidFill>
                  <a:srgbClr val="D8E2F8"/>
                </a:solidFill>
                <a:latin typeface="Courier New" pitchFamily="34" charset="0"/>
                <a:ea typeface="Courier New" pitchFamily="34" charset="-122"/>
                <a:cs typeface="Courier New" pitchFamily="34" charset="-120"/>
              </a:rPr>
              <a:t>make deploy</a:t>
            </a:r>
            <a:endParaRPr lang="en-US" sz="1100" dirty="0"/>
          </a:p>
          <a:p>
            <a:pPr indent="0" marL="0">
              <a:lnSpc>
                <a:spcPct val="110000"/>
              </a:lnSpc>
              <a:buNone/>
            </a:pPr>
            <a:r>
              <a:rPr lang="en-US" sz="1100" dirty="0">
                <a:solidFill>
                  <a:srgbClr val="D8E2F8"/>
                </a:solidFill>
                <a:latin typeface="Courier New" pitchFamily="34" charset="0"/>
                <a:ea typeface="Courier New" pitchFamily="34" charset="-122"/>
                <a:cs typeface="Courier New" pitchFamily="34" charset="-120"/>
              </a:rPr>
              <a:t>make smoke-test IMG=test.jpg</a:t>
            </a:r>
            <a:endParaRPr lang="en-US" sz="1100" dirty="0"/>
          </a:p>
          <a:p>
            <a:pPr indent="0" marL="0">
              <a:lnSpc>
                <a:spcPct val="110000"/>
              </a:lnSpc>
              <a:buNone/>
            </a:pPr>
            <a:endParaRPr lang="en-US" sz="1100" dirty="0"/>
          </a:p>
          <a:p>
            <a:pPr indent="0" marL="0">
              <a:lnSpc>
                <a:spcPct val="110000"/>
              </a:lnSpc>
              <a:buNone/>
            </a:pPr>
            <a:r>
              <a:rPr lang="en-US" sz="1100" dirty="0">
                <a:solidFill>
                  <a:srgbClr val="D8E2F8"/>
                </a:solidFill>
                <a:latin typeface="Courier New" pitchFamily="34" charset="0"/>
                <a:ea typeface="Courier New" pitchFamily="34" charset="-122"/>
                <a:cs typeface="Courier New" pitchFamily="34" charset="-120"/>
              </a:rPr>
              <a:t>make destroy                 # do not skip</a:t>
            </a:r>
            <a:endParaRPr lang="en-US" sz="1100" dirty="0"/>
          </a:p>
        </p:txBody>
      </p:sp>
      <p:sp>
        <p:nvSpPr>
          <p:cNvPr id="7" name="Shape 5"/>
          <p:cNvSpPr/>
          <p:nvPr/>
        </p:nvSpPr>
        <p:spPr>
          <a:xfrm>
            <a:off x="7498080" y="1371600"/>
            <a:ext cx="4206240" cy="1234440"/>
          </a:xfrm>
          <a:prstGeom prst="roundRect">
            <a:avLst>
              <a:gd name="adj" fmla="val 5185"/>
            </a:avLst>
          </a:prstGeom>
          <a:solidFill>
            <a:srgbClr val="F0F4FB"/>
          </a:solidFill>
          <a:ln w="9525">
            <a:solidFill>
              <a:srgbClr val="DCE4F2"/>
            </a:solidFill>
            <a:prstDash val="solid"/>
          </a:ln>
        </p:spPr>
      </p:sp>
      <p:pic>
        <p:nvPicPr>
          <p:cNvPr id="8" name="Image 0" descr="deck-assets/gear.png">    </p:cNvPr>
          <p:cNvPicPr>
            <a:picLocks noChangeAspect="1"/>
          </p:cNvPicPr>
          <p:nvPr/>
        </p:nvPicPr>
        <p:blipFill>
          <a:blip r:embed="rId1"/>
          <a:stretch>
            <a:fillRect/>
          </a:stretch>
        </p:blipFill>
        <p:spPr>
          <a:xfrm>
            <a:off x="7680960" y="1517904"/>
            <a:ext cx="347472" cy="347472"/>
          </a:xfrm>
          <a:prstGeom prst="rect">
            <a:avLst/>
          </a:prstGeom>
        </p:spPr>
      </p:pic>
      <p:sp>
        <p:nvSpPr>
          <p:cNvPr id="9" name="Text 6"/>
          <p:cNvSpPr/>
          <p:nvPr/>
        </p:nvSpPr>
        <p:spPr>
          <a:xfrm>
            <a:off x="8138160" y="1517904"/>
            <a:ext cx="3383280"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Config never leaks</a:t>
            </a:r>
            <a:endParaRPr lang="en-US" sz="1250" dirty="0"/>
          </a:p>
        </p:txBody>
      </p:sp>
      <p:sp>
        <p:nvSpPr>
          <p:cNvPr id="10" name="Text 7"/>
          <p:cNvSpPr/>
          <p:nvPr/>
        </p:nvSpPr>
        <p:spPr>
          <a:xfrm>
            <a:off x="7680960" y="1847088"/>
            <a:ext cx="3840480" cy="685800"/>
          </a:xfrm>
          <a:prstGeom prst="rect">
            <a:avLst/>
          </a:prstGeom>
          <a:noFill/>
          <a:ln/>
        </p:spPr>
        <p:txBody>
          <a:bodyPr wrap="square" lIns="0" tIns="0" rIns="0" bIns="0" rtlCol="0" anchor="t"/>
          <a:lstStyle/>
          <a:p>
            <a:pPr indent="0" marL="0">
              <a:buNone/>
            </a:pPr>
            <a:r>
              <a:rPr lang="en-US" sz="950" dirty="0">
                <a:solidFill>
                  <a:srgbClr val="63708A"/>
                </a:solidFill>
                <a:latin typeface="Calibri" pitchFamily="34" charset="0"/>
                <a:ea typeface="Calibri" pitchFamily="34" charset="-122"/>
                <a:cs typeface="Calibri" pitchFamily="34" charset="-120"/>
              </a:rPr>
              <a:t>Account values live in a gitignored .env; manifests keep ${VAR} placeholders and render to a gitignored build/ dir. No tracked file is ever rewritten.</a:t>
            </a:r>
            <a:endParaRPr lang="en-US" sz="950" dirty="0"/>
          </a:p>
        </p:txBody>
      </p:sp>
      <p:sp>
        <p:nvSpPr>
          <p:cNvPr id="11" name="Shape 8"/>
          <p:cNvSpPr/>
          <p:nvPr/>
        </p:nvSpPr>
        <p:spPr>
          <a:xfrm>
            <a:off x="7498080" y="2743200"/>
            <a:ext cx="4206240" cy="1234440"/>
          </a:xfrm>
          <a:prstGeom prst="roundRect">
            <a:avLst>
              <a:gd name="adj" fmla="val 5185"/>
            </a:avLst>
          </a:prstGeom>
          <a:solidFill>
            <a:srgbClr val="F0F4FB"/>
          </a:solidFill>
          <a:ln w="9525">
            <a:solidFill>
              <a:srgbClr val="DCE4F2"/>
            </a:solidFill>
            <a:prstDash val="solid"/>
          </a:ln>
        </p:spPr>
      </p:sp>
      <p:pic>
        <p:nvPicPr>
          <p:cNvPr id="12" name="Image 1" descr="deck-assets/aws.png">    </p:cNvPr>
          <p:cNvPicPr>
            <a:picLocks noChangeAspect="1"/>
          </p:cNvPicPr>
          <p:nvPr/>
        </p:nvPicPr>
        <p:blipFill>
          <a:blip r:embed="rId2"/>
          <a:stretch>
            <a:fillRect/>
          </a:stretch>
        </p:blipFill>
        <p:spPr>
          <a:xfrm>
            <a:off x="7680960" y="2889504"/>
            <a:ext cx="347472" cy="347472"/>
          </a:xfrm>
          <a:prstGeom prst="rect">
            <a:avLst/>
          </a:prstGeom>
        </p:spPr>
      </p:pic>
      <p:sp>
        <p:nvSpPr>
          <p:cNvPr id="13" name="Text 9"/>
          <p:cNvSpPr/>
          <p:nvPr/>
        </p:nvSpPr>
        <p:spPr>
          <a:xfrm>
            <a:off x="8138160" y="2889504"/>
            <a:ext cx="3383280"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Know the cost up front</a:t>
            </a:r>
            <a:endParaRPr lang="en-US" sz="1250" dirty="0"/>
          </a:p>
        </p:txBody>
      </p:sp>
      <p:sp>
        <p:nvSpPr>
          <p:cNvPr id="14" name="Text 10"/>
          <p:cNvSpPr/>
          <p:nvPr/>
        </p:nvSpPr>
        <p:spPr>
          <a:xfrm>
            <a:off x="7680960" y="3218688"/>
            <a:ext cx="3840480" cy="685800"/>
          </a:xfrm>
          <a:prstGeom prst="rect">
            <a:avLst/>
          </a:prstGeom>
          <a:noFill/>
          <a:ln/>
        </p:spPr>
        <p:txBody>
          <a:bodyPr wrap="square" lIns="0" tIns="0" rIns="0" bIns="0" rtlCol="0" anchor="t"/>
          <a:lstStyle/>
          <a:p>
            <a:pPr indent="0" marL="0">
              <a:buNone/>
            </a:pPr>
            <a:r>
              <a:rPr lang="en-US" sz="950" dirty="0">
                <a:solidFill>
                  <a:srgbClr val="63708A"/>
                </a:solidFill>
                <a:latin typeface="Calibri" pitchFamily="34" charset="0"/>
                <a:ea typeface="Calibri" pitchFamily="34" charset="-122"/>
                <a:cs typeface="Calibri" pitchFamily="34" charset="-120"/>
              </a:rPr>
              <a:t>~$0.35-0.50/hour of real AWS spend. A full session is a few dollars — make destroy is the last step of the runbook.</a:t>
            </a:r>
            <a:endParaRPr lang="en-US" sz="950" dirty="0"/>
          </a:p>
        </p:txBody>
      </p:sp>
      <p:sp>
        <p:nvSpPr>
          <p:cNvPr id="15" name="Shape 11"/>
          <p:cNvSpPr/>
          <p:nvPr/>
        </p:nvSpPr>
        <p:spPr>
          <a:xfrm>
            <a:off x="7498080" y="4114800"/>
            <a:ext cx="4206240" cy="1234440"/>
          </a:xfrm>
          <a:prstGeom prst="roundRect">
            <a:avLst>
              <a:gd name="adj" fmla="val 5185"/>
            </a:avLst>
          </a:prstGeom>
          <a:solidFill>
            <a:srgbClr val="F0F4FB"/>
          </a:solidFill>
          <a:ln w="9525">
            <a:solidFill>
              <a:srgbClr val="DCE4F2"/>
            </a:solidFill>
            <a:prstDash val="solid"/>
          </a:ln>
        </p:spPr>
      </p:sp>
      <p:pic>
        <p:nvPicPr>
          <p:cNvPr id="16" name="Image 2" descr="deck-assets/alert.png">    </p:cNvPr>
          <p:cNvPicPr>
            <a:picLocks noChangeAspect="1"/>
          </p:cNvPicPr>
          <p:nvPr/>
        </p:nvPicPr>
        <p:blipFill>
          <a:blip r:embed="rId3"/>
          <a:stretch>
            <a:fillRect/>
          </a:stretch>
        </p:blipFill>
        <p:spPr>
          <a:xfrm>
            <a:off x="7680960" y="4261104"/>
            <a:ext cx="347472" cy="347472"/>
          </a:xfrm>
          <a:prstGeom prst="rect">
            <a:avLst/>
          </a:prstGeom>
        </p:spPr>
      </p:pic>
      <p:sp>
        <p:nvSpPr>
          <p:cNvPr id="17" name="Text 12"/>
          <p:cNvSpPr/>
          <p:nvPr/>
        </p:nvSpPr>
        <p:spPr>
          <a:xfrm>
            <a:off x="8138160" y="4261104"/>
            <a:ext cx="3383280" cy="292608"/>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Prove the loop, don't trust it</a:t>
            </a:r>
            <a:endParaRPr lang="en-US" sz="1250" dirty="0"/>
          </a:p>
        </p:txBody>
      </p:sp>
      <p:sp>
        <p:nvSpPr>
          <p:cNvPr id="18" name="Text 13"/>
          <p:cNvSpPr/>
          <p:nvPr/>
        </p:nvSpPr>
        <p:spPr>
          <a:xfrm>
            <a:off x="7680960" y="4590288"/>
            <a:ext cx="3840480" cy="685800"/>
          </a:xfrm>
          <a:prstGeom prst="rect">
            <a:avLst/>
          </a:prstGeom>
          <a:noFill/>
          <a:ln/>
        </p:spPr>
        <p:txBody>
          <a:bodyPr wrap="square" lIns="0" tIns="0" rIns="0" bIns="0" rtlCol="0" anchor="t"/>
          <a:lstStyle/>
          <a:p>
            <a:pPr indent="0" marL="0">
              <a:buNone/>
            </a:pPr>
            <a:r>
              <a:rPr lang="en-US" sz="950" dirty="0">
                <a:solidFill>
                  <a:srgbClr val="63708A"/>
                </a:solidFill>
                <a:latin typeface="Calibri" pitchFamily="34" charset="0"/>
                <a:ea typeface="Calibri" pitchFamily="34" charset="-122"/>
                <a:cs typeface="Calibri" pitchFamily="34" charset="-120"/>
              </a:rPr>
              <a:t>The README includes a drift experiment: corrupt the inputs, run the detector, watch the alerts fire.</a:t>
            </a:r>
            <a:endParaRPr lang="en-US" sz="950" dirty="0"/>
          </a:p>
        </p:txBody>
      </p:sp>
      <p:sp>
        <p:nvSpPr>
          <p:cNvPr id="19" name="Shape 14"/>
          <p:cNvSpPr/>
          <p:nvPr/>
        </p:nvSpPr>
        <p:spPr>
          <a:xfrm>
            <a:off x="502920" y="5577840"/>
            <a:ext cx="11201400" cy="777240"/>
          </a:xfrm>
          <a:prstGeom prst="roundRect">
            <a:avLst>
              <a:gd name="adj" fmla="val 8235"/>
            </a:avLst>
          </a:prstGeom>
          <a:solidFill>
            <a:srgbClr val="FFFFFF"/>
          </a:solidFill>
          <a:ln w="9525">
            <a:solidFill>
              <a:srgbClr val="DCE4F2"/>
            </a:solidFill>
            <a:prstDash val="solid"/>
          </a:ln>
        </p:spPr>
      </p:sp>
      <p:sp>
        <p:nvSpPr>
          <p:cNvPr id="20" name="Text 15"/>
          <p:cNvSpPr/>
          <p:nvPr/>
        </p:nvSpPr>
        <p:spPr>
          <a:xfrm>
            <a:off x="731520" y="5715000"/>
            <a:ext cx="10789920" cy="594360"/>
          </a:xfrm>
          <a:prstGeom prst="rect">
            <a:avLst/>
          </a:prstGeom>
          <a:noFill/>
          <a:ln/>
        </p:spPr>
        <p:txBody>
          <a:bodyPr wrap="square" lIns="0" tIns="0" rIns="0" bIns="0" rtlCol="0" anchor="t"/>
          <a:lstStyle/>
          <a:p>
            <a:pPr indent="0" marL="0">
              <a:buNone/>
            </a:pPr>
            <a:r>
              <a:rPr lang="en-US" sz="1200" b="1" dirty="0">
                <a:solidFill>
                  <a:srgbClr val="273044"/>
                </a:solidFill>
                <a:latin typeface="Calibri" pitchFamily="34" charset="0"/>
                <a:ea typeface="Calibri" pitchFamily="34" charset="-122"/>
                <a:cs typeface="Calibri" pitchFamily="34" charset="-120"/>
              </a:rPr>
              <a:t>Also in the repo: </a:t>
            </a:r>
            <a:pPr indent="0" marL="0">
              <a:buNone/>
            </a:pPr>
            <a:r>
              <a:rPr lang="en-US" sz="1200" dirty="0">
                <a:solidFill>
                  <a:srgbClr val="273044"/>
                </a:solidFill>
                <a:latin typeface="Calibri" pitchFamily="34" charset="0"/>
                <a:ea typeface="Calibri" pitchFamily="34" charset="-122"/>
                <a:cs typeface="Calibri" pitchFamily="34" charset="-120"/>
              </a:rPr>
              <a:t>TROUBLESHOOTING.md — eight real failures with root cause and fix, so the next person debugs in minutes instead of hours.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685800"/>
            <a:ext cx="105156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half a day buys</a:t>
            </a:r>
            <a:endParaRPr lang="en-US" sz="3400" dirty="0"/>
          </a:p>
        </p:txBody>
      </p:sp>
      <p:sp>
        <p:nvSpPr>
          <p:cNvPr id="3" name="Shape 1"/>
          <p:cNvSpPr/>
          <p:nvPr/>
        </p:nvSpPr>
        <p:spPr>
          <a:xfrm>
            <a:off x="822960" y="1600200"/>
            <a:ext cx="2560320" cy="1554480"/>
          </a:xfrm>
          <a:prstGeom prst="roundRect">
            <a:avLst>
              <a:gd name="adj" fmla="val 4118"/>
            </a:avLst>
          </a:prstGeom>
          <a:solidFill>
            <a:srgbClr val="273569"/>
          </a:solidFill>
          <a:ln w="9525">
            <a:solidFill>
              <a:srgbClr val="3A4A8C"/>
            </a:solidFill>
            <a:prstDash val="solid"/>
          </a:ln>
        </p:spPr>
      </p:sp>
      <p:sp>
        <p:nvSpPr>
          <p:cNvPr id="4" name="Text 2"/>
          <p:cNvSpPr/>
          <p:nvPr/>
        </p:nvSpPr>
        <p:spPr>
          <a:xfrm>
            <a:off x="1005840" y="1783080"/>
            <a:ext cx="2194560" cy="685800"/>
          </a:xfrm>
          <a:prstGeom prst="rect">
            <a:avLst/>
          </a:prstGeom>
          <a:noFill/>
          <a:ln/>
        </p:spPr>
        <p:txBody>
          <a:bodyPr wrap="square" lIns="0" tIns="0" rIns="0" bIns="0"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~4 h</a:t>
            </a:r>
            <a:endParaRPr lang="en-US" sz="3400" dirty="0"/>
          </a:p>
        </p:txBody>
      </p:sp>
      <p:sp>
        <p:nvSpPr>
          <p:cNvPr id="5" name="Text 3"/>
          <p:cNvSpPr/>
          <p:nvPr/>
        </p:nvSpPr>
        <p:spPr>
          <a:xfrm>
            <a:off x="1005840" y="2487168"/>
            <a:ext cx="2194560" cy="548640"/>
          </a:xfrm>
          <a:prstGeom prst="rect">
            <a:avLst/>
          </a:prstGeom>
          <a:noFill/>
          <a:ln/>
        </p:spPr>
        <p:txBody>
          <a:bodyPr wrap="square" lIns="0" tIns="0" rIns="0" bIns="0" rtlCol="0" anchor="t"/>
          <a:lstStyle/>
          <a:p>
            <a:pPr indent="0" marL="0">
              <a:buNone/>
            </a:pPr>
            <a:r>
              <a:rPr lang="en-US" sz="1050" dirty="0">
                <a:solidFill>
                  <a:srgbClr val="AFC2E8"/>
                </a:solidFill>
                <a:latin typeface="Calibri" pitchFamily="34" charset="0"/>
                <a:ea typeface="Calibri" pitchFamily="34" charset="-122"/>
                <a:cs typeface="Calibri" pitchFamily="34" charset="-120"/>
              </a:rPr>
              <a:t>idea → firing drift alert, incl. debugging</a:t>
            </a:r>
            <a:endParaRPr lang="en-US" sz="1050" dirty="0"/>
          </a:p>
        </p:txBody>
      </p:sp>
      <p:sp>
        <p:nvSpPr>
          <p:cNvPr id="6" name="Shape 4"/>
          <p:cNvSpPr/>
          <p:nvPr/>
        </p:nvSpPr>
        <p:spPr>
          <a:xfrm>
            <a:off x="3566160" y="1600200"/>
            <a:ext cx="2560320" cy="1554480"/>
          </a:xfrm>
          <a:prstGeom prst="roundRect">
            <a:avLst>
              <a:gd name="adj" fmla="val 4118"/>
            </a:avLst>
          </a:prstGeom>
          <a:solidFill>
            <a:srgbClr val="273569"/>
          </a:solidFill>
          <a:ln w="9525">
            <a:solidFill>
              <a:srgbClr val="3A4A8C"/>
            </a:solidFill>
            <a:prstDash val="solid"/>
          </a:ln>
        </p:spPr>
      </p:sp>
      <p:sp>
        <p:nvSpPr>
          <p:cNvPr id="7" name="Text 5"/>
          <p:cNvSpPr/>
          <p:nvPr/>
        </p:nvSpPr>
        <p:spPr>
          <a:xfrm>
            <a:off x="3749040" y="1783080"/>
            <a:ext cx="2194560" cy="685800"/>
          </a:xfrm>
          <a:prstGeom prst="rect">
            <a:avLst/>
          </a:prstGeom>
          <a:noFill/>
          <a:ln/>
        </p:spPr>
        <p:txBody>
          <a:bodyPr wrap="square" lIns="0" tIns="0" rIns="0" bIns="0"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&lt; $3</a:t>
            </a:r>
            <a:endParaRPr lang="en-US" sz="3400" dirty="0"/>
          </a:p>
        </p:txBody>
      </p:sp>
      <p:sp>
        <p:nvSpPr>
          <p:cNvPr id="8" name="Text 6"/>
          <p:cNvSpPr/>
          <p:nvPr/>
        </p:nvSpPr>
        <p:spPr>
          <a:xfrm>
            <a:off x="3749040" y="2487168"/>
            <a:ext cx="2194560" cy="548640"/>
          </a:xfrm>
          <a:prstGeom prst="rect">
            <a:avLst/>
          </a:prstGeom>
          <a:noFill/>
          <a:ln/>
        </p:spPr>
        <p:txBody>
          <a:bodyPr wrap="square" lIns="0" tIns="0" rIns="0" bIns="0" rtlCol="0" anchor="t"/>
          <a:lstStyle/>
          <a:p>
            <a:pPr indent="0" marL="0">
              <a:buNone/>
            </a:pPr>
            <a:r>
              <a:rPr lang="en-US" sz="1050" dirty="0">
                <a:solidFill>
                  <a:srgbClr val="AFC2E8"/>
                </a:solidFill>
                <a:latin typeface="Calibri" pitchFamily="34" charset="0"/>
                <a:ea typeface="Calibri" pitchFamily="34" charset="-122"/>
                <a:cs typeface="Calibri" pitchFamily="34" charset="-120"/>
              </a:rPr>
              <a:t>total AWS compute for the session</a:t>
            </a:r>
            <a:endParaRPr lang="en-US" sz="1050" dirty="0"/>
          </a:p>
        </p:txBody>
      </p:sp>
      <p:sp>
        <p:nvSpPr>
          <p:cNvPr id="9" name="Shape 7"/>
          <p:cNvSpPr/>
          <p:nvPr/>
        </p:nvSpPr>
        <p:spPr>
          <a:xfrm>
            <a:off x="6309360" y="1600200"/>
            <a:ext cx="2560320" cy="1554480"/>
          </a:xfrm>
          <a:prstGeom prst="roundRect">
            <a:avLst>
              <a:gd name="adj" fmla="val 4118"/>
            </a:avLst>
          </a:prstGeom>
          <a:solidFill>
            <a:srgbClr val="273569"/>
          </a:solidFill>
          <a:ln w="9525">
            <a:solidFill>
              <a:srgbClr val="3A4A8C"/>
            </a:solidFill>
            <a:prstDash val="solid"/>
          </a:ln>
        </p:spPr>
      </p:sp>
      <p:sp>
        <p:nvSpPr>
          <p:cNvPr id="10" name="Text 8"/>
          <p:cNvSpPr/>
          <p:nvPr/>
        </p:nvSpPr>
        <p:spPr>
          <a:xfrm>
            <a:off x="6492240" y="1783080"/>
            <a:ext cx="2194560" cy="685800"/>
          </a:xfrm>
          <a:prstGeom prst="rect">
            <a:avLst/>
          </a:prstGeom>
          <a:noFill/>
          <a:ln/>
        </p:spPr>
        <p:txBody>
          <a:bodyPr wrap="square" lIns="0" tIns="0" rIns="0" bIns="0"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26 files</a:t>
            </a:r>
            <a:endParaRPr lang="en-US" sz="3400" dirty="0"/>
          </a:p>
        </p:txBody>
      </p:sp>
      <p:sp>
        <p:nvSpPr>
          <p:cNvPr id="11" name="Text 9"/>
          <p:cNvSpPr/>
          <p:nvPr/>
        </p:nvSpPr>
        <p:spPr>
          <a:xfrm>
            <a:off x="6492240" y="2487168"/>
            <a:ext cx="2194560" cy="548640"/>
          </a:xfrm>
          <a:prstGeom prst="rect">
            <a:avLst/>
          </a:prstGeom>
          <a:noFill/>
          <a:ln/>
        </p:spPr>
        <p:txBody>
          <a:bodyPr wrap="square" lIns="0" tIns="0" rIns="0" bIns="0" rtlCol="0" anchor="t"/>
          <a:lstStyle/>
          <a:p>
            <a:pPr indent="0" marL="0">
              <a:buNone/>
            </a:pPr>
            <a:r>
              <a:rPr lang="en-US" sz="1050" dirty="0">
                <a:solidFill>
                  <a:srgbClr val="AFC2E8"/>
                </a:solidFill>
                <a:latin typeface="Calibri" pitchFamily="34" charset="0"/>
                <a:ea typeface="Calibri" pitchFamily="34" charset="-122"/>
                <a:cs typeface="Calibri" pitchFamily="34" charset="-120"/>
              </a:rPr>
              <a:t>the whole pipeline, reproducible via make</a:t>
            </a:r>
            <a:endParaRPr lang="en-US" sz="1050" dirty="0"/>
          </a:p>
        </p:txBody>
      </p:sp>
      <p:sp>
        <p:nvSpPr>
          <p:cNvPr id="12" name="Shape 10"/>
          <p:cNvSpPr/>
          <p:nvPr/>
        </p:nvSpPr>
        <p:spPr>
          <a:xfrm>
            <a:off x="9052560" y="1600200"/>
            <a:ext cx="2560320" cy="1554480"/>
          </a:xfrm>
          <a:prstGeom prst="roundRect">
            <a:avLst>
              <a:gd name="adj" fmla="val 4118"/>
            </a:avLst>
          </a:prstGeom>
          <a:solidFill>
            <a:srgbClr val="273569"/>
          </a:solidFill>
          <a:ln w="9525">
            <a:solidFill>
              <a:srgbClr val="3A4A8C"/>
            </a:solidFill>
            <a:prstDash val="solid"/>
          </a:ln>
        </p:spPr>
      </p:sp>
      <p:sp>
        <p:nvSpPr>
          <p:cNvPr id="13" name="Text 11"/>
          <p:cNvSpPr/>
          <p:nvPr/>
        </p:nvSpPr>
        <p:spPr>
          <a:xfrm>
            <a:off x="9235440" y="1783080"/>
            <a:ext cx="2194560" cy="685800"/>
          </a:xfrm>
          <a:prstGeom prst="rect">
            <a:avLst/>
          </a:prstGeom>
          <a:noFill/>
          <a:ln/>
        </p:spPr>
        <p:txBody>
          <a:bodyPr wrap="square" lIns="0" tIns="0" rIns="0" bIns="0"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6 alerts</a:t>
            </a:r>
            <a:endParaRPr lang="en-US" sz="3400" dirty="0"/>
          </a:p>
        </p:txBody>
      </p:sp>
      <p:sp>
        <p:nvSpPr>
          <p:cNvPr id="14" name="Text 12"/>
          <p:cNvSpPr/>
          <p:nvPr/>
        </p:nvSpPr>
        <p:spPr>
          <a:xfrm>
            <a:off x="9235440" y="2487168"/>
            <a:ext cx="2194560" cy="548640"/>
          </a:xfrm>
          <a:prstGeom prst="rect">
            <a:avLst/>
          </a:prstGeom>
          <a:noFill/>
          <a:ln/>
        </p:spPr>
        <p:txBody>
          <a:bodyPr wrap="square" lIns="0" tIns="0" rIns="0" bIns="0" rtlCol="0" anchor="t"/>
          <a:lstStyle/>
          <a:p>
            <a:pPr indent="0" marL="0">
              <a:buNone/>
            </a:pPr>
            <a:r>
              <a:rPr lang="en-US" sz="1050" dirty="0">
                <a:solidFill>
                  <a:srgbClr val="AFC2E8"/>
                </a:solidFill>
                <a:latin typeface="Calibri" pitchFamily="34" charset="0"/>
                <a:ea typeface="Calibri" pitchFamily="34" charset="-122"/>
                <a:cs typeface="Calibri" pitchFamily="34" charset="-120"/>
              </a:rPr>
              <a:t>ops SLOs + model health, one pager</a:t>
            </a:r>
            <a:endParaRPr lang="en-US" sz="1050" dirty="0"/>
          </a:p>
        </p:txBody>
      </p:sp>
      <p:sp>
        <p:nvSpPr>
          <p:cNvPr id="15" name="Text 13"/>
          <p:cNvSpPr/>
          <p:nvPr/>
        </p:nvSpPr>
        <p:spPr>
          <a:xfrm>
            <a:off x="822960" y="3520440"/>
            <a:ext cx="10515600" cy="36576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Takeaways</a:t>
            </a:r>
            <a:endParaRPr lang="en-US" sz="1600" dirty="0"/>
          </a:p>
        </p:txBody>
      </p:sp>
      <p:sp>
        <p:nvSpPr>
          <p:cNvPr id="16" name="Text 14"/>
          <p:cNvSpPr/>
          <p:nvPr/>
        </p:nvSpPr>
        <p:spPr>
          <a:xfrm>
            <a:off x="822960" y="3977640"/>
            <a:ext cx="10607040" cy="2194560"/>
          </a:xfrm>
          <a:prstGeom prst="rect">
            <a:avLst/>
          </a:prstGeom>
          <a:noFill/>
          <a:ln/>
        </p:spPr>
        <p:txBody>
          <a:bodyPr wrap="square" lIns="0" tIns="0" rIns="0" bIns="0" rtlCol="0" anchor="t"/>
          <a:lstStyle/>
          <a:p>
            <a:pPr marL="127000" indent="-1270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MLOps is mostly systems engineering: the model took 5 minutes; storage classes, version skew, and memory limits took the afternoon — budget accordingly.</a:t>
            </a:r>
            <a:endParaRPr lang="en-US" sz="1300" dirty="0"/>
          </a:p>
          <a:p>
            <a:pPr marL="127000" indent="-1270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Buy the undifferentiated layers, own the instrumented ones: the drift detector only exists because the serving code logs its own features.</a:t>
            </a:r>
            <a:endParaRPr lang="en-US" sz="1300" dirty="0"/>
          </a:p>
          <a:p>
            <a:pPr marL="127000" indent="-1270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Quality gates are necessary but not sufficient — pair automated metrics with qualitative checks on real inputs.</a:t>
            </a:r>
            <a:endParaRPr lang="en-US" sz="1300" dirty="0"/>
          </a:p>
          <a:p>
            <a:pPr marL="127000" indent="-1270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Aliases as deployment contract (candidate → production) make promotion auditable and rollback instant.</a:t>
            </a:r>
            <a:endParaRPr lang="en-US" sz="1300" dirty="0"/>
          </a:p>
          <a:p>
            <a:pPr marL="127000" indent="-127000">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Everything is a make target: reproducibility is what turns an afternoon hack into a teachable reference.</a:t>
            </a:r>
            <a:endParaRPr lang="en-US" sz="1300" dirty="0"/>
          </a:p>
        </p:txBody>
      </p:sp>
      <p:sp>
        <p:nvSpPr>
          <p:cNvPr id="17" name="Text 15"/>
          <p:cNvSpPr/>
          <p:nvPr/>
        </p:nvSpPr>
        <p:spPr>
          <a:xfrm>
            <a:off x="822960" y="6355080"/>
            <a:ext cx="10607040" cy="320040"/>
          </a:xfrm>
          <a:prstGeom prst="rect">
            <a:avLst/>
          </a:prstGeom>
          <a:noFill/>
          <a:ln/>
        </p:spPr>
        <p:txBody>
          <a:bodyPr wrap="square" lIns="0" tIns="0" rIns="0" bIns="0" rtlCol="0" anchor="ctr"/>
          <a:lstStyle/>
          <a:p>
            <a:pPr indent="0" marL="0">
              <a:buNone/>
            </a:pPr>
            <a:r>
              <a:rPr lang="en-US" sz="1150" i="1" dirty="0">
                <a:solidFill>
                  <a:srgbClr val="8FA3D0"/>
                </a:solidFill>
                <a:latin typeface="Calibri" pitchFamily="34" charset="0"/>
                <a:ea typeface="Calibri" pitchFamily="34" charset="-122"/>
                <a:cs typeface="Calibri" pitchFamily="34" charset="-120"/>
              </a:rPr>
              <a:t>github.com/nepseli/mlops-cv-pipeline  ·  MIT  ·  full runbook in README, failures in TROUBLESHOOTING.md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2026-07-31T10:38:48Z</dcterms:created>
  <dcterms:modified xsi:type="dcterms:W3CDTF">2026-07-31T10:38:48Z</dcterms:modified>
</cp:coreProperties>
</file>